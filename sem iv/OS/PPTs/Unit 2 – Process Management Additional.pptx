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48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151D8-FEBC-484E-8C49-0A9AF78E482D}" type="datetimeFigureOut">
              <a:rPr lang="en-US" smtClean="0"/>
              <a:t>2/11/2023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88207-3FA9-445A-ABAC-71F4F7062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2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21550-C27C-4B74-B85C-FEE3E3E2387F}" type="datetime1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26BE0A1-5983-442F-A025-A47C4BF56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435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67479-BCA9-443C-A830-A01116848CCF}" type="datetime1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BE0A1-5983-442F-A025-A47C4BF56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357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979F2-2144-4F3D-AEAE-800FB40F25F9}" type="datetime1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26BE0A1-5983-442F-A025-A47C4BF56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000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DB790-8EAC-4F25-9009-8117954F2A0D}" type="datetime1">
              <a:rPr lang="en-US" smtClean="0"/>
              <a:t>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26BE0A1-5983-442F-A025-A47C4BF56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91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2F3F-2127-475F-B751-69B9362A69FC}" type="datetime1">
              <a:rPr lang="en-US" smtClean="0"/>
              <a:t>2/11/2023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26BE0A1-5983-442F-A025-A47C4BF56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83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BD30-BF2F-4950-8F18-87A1F1098FFB}" type="datetime1">
              <a:rPr lang="en-US" smtClean="0"/>
              <a:t>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BE0A1-5983-442F-A025-A47C4BF56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49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54BDF-6919-4D3F-8CF4-C8AFBEB3BCF8}" type="datetime1">
              <a:rPr lang="en-US" smtClean="0"/>
              <a:t>2/11/2023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BE0A1-5983-442F-A025-A47C4BF56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26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2CB9-AAD2-40C4-A1E3-C34869CAADD7}" type="datetime1">
              <a:rPr lang="en-US" smtClean="0"/>
              <a:t>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BE0A1-5983-442F-A025-A47C4BF56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54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94BA2-6342-4741-9DEF-D7EF5C24C6BD}" type="datetime1">
              <a:rPr lang="en-US" smtClean="0"/>
              <a:t>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26BE0A1-5983-442F-A025-A47C4BF56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0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59501-B704-4F23-9D2D-7F3A02E427B0}" type="datetime1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26BE0A1-5983-442F-A025-A47C4BF56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72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86E3C-172A-4C98-9623-43082AED00F4}" type="datetime1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26BE0A1-5983-442F-A025-A47C4BF562E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62550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024-B81B-4091-9085-72B1D2A68805}" type="datetime1">
              <a:rPr lang="en-US" smtClean="0"/>
              <a:t>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26BE0A1-5983-442F-A025-A47C4BF56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67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38C21-95AE-415B-9BD7-18F552BEEA38}" type="datetime1">
              <a:rPr lang="en-US" smtClean="0"/>
              <a:t>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26BE0A1-5983-442F-A025-A47C4BF562E6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95081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7351F-184D-49B7-891B-D5270C55AE86}" type="datetime1">
              <a:rPr lang="en-US" smtClean="0"/>
              <a:t>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26BE0A1-5983-442F-A025-A47C4BF56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14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2C1A-7796-4681-956C-C36FD1BDBCA6}" type="datetime1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BE0A1-5983-442F-A025-A47C4BF56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54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60B20-D118-40AA-A987-A20CB44FC0BA}" type="datetime1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BE0A1-5983-442F-A025-A47C4BF56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325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618CD-761B-4459-87F7-F716FDCECC73}" type="datetime1">
              <a:rPr lang="en-US" smtClean="0"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- Prepared by: Rishav Acharya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26BE0A1-5983-442F-A025-A47C4BF56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06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39D54-EA63-4A59-87A7-124158069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914" y="2869439"/>
            <a:ext cx="10030654" cy="2262781"/>
          </a:xfrm>
        </p:spPr>
        <p:txBody>
          <a:bodyPr/>
          <a:lstStyle/>
          <a:p>
            <a:pPr algn="ctr"/>
            <a:r>
              <a:rPr lang="en-US" dirty="0"/>
              <a:t>Unit 2 – Process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7F025-4FD5-4AC1-8C86-72929A5D7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6253" y="5132220"/>
            <a:ext cx="8915399" cy="1126283"/>
          </a:xfrm>
        </p:spPr>
        <p:txBody>
          <a:bodyPr/>
          <a:lstStyle/>
          <a:p>
            <a:r>
              <a:rPr lang="en-US" dirty="0"/>
              <a:t>Additional Contents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00A365-F119-F06E-D5A9-99EDA8CCA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1467336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EE072-CA1E-4182-BAB8-AA22A0399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Concept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5E2E9-5D2B-4567-8DA8-8F625F16D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Program is </a:t>
            </a:r>
            <a:r>
              <a:rPr lang="en-US" altLang="en-US" b="1" i="1" dirty="0"/>
              <a:t>passive</a:t>
            </a:r>
            <a:r>
              <a:rPr lang="en-US" altLang="en-US" dirty="0"/>
              <a:t> entity stored on disk (</a:t>
            </a:r>
            <a:r>
              <a:rPr lang="en-US" altLang="en-US" b="1" dirty="0">
                <a:solidFill>
                  <a:srgbClr val="3366FF"/>
                </a:solidFill>
              </a:rPr>
              <a:t>executable file</a:t>
            </a:r>
            <a:r>
              <a:rPr lang="en-US" altLang="en-US" dirty="0"/>
              <a:t>), process is </a:t>
            </a:r>
            <a:r>
              <a:rPr lang="en-US" altLang="en-US" b="1" i="1" dirty="0"/>
              <a:t>active </a:t>
            </a:r>
          </a:p>
          <a:p>
            <a:pPr lvl="1"/>
            <a:r>
              <a:rPr lang="en-US" altLang="en-US" dirty="0"/>
              <a:t>Program becomes process when executable file loaded into memory</a:t>
            </a:r>
          </a:p>
          <a:p>
            <a:r>
              <a:rPr lang="en-US" altLang="en-US" dirty="0"/>
              <a:t>Execution of program started via GUI mouse clicks, command line entry of its name, </a:t>
            </a:r>
            <a:r>
              <a:rPr lang="en-US" altLang="en-US" dirty="0" err="1"/>
              <a:t>etc</a:t>
            </a:r>
            <a:endParaRPr lang="en-US" altLang="en-US" dirty="0"/>
          </a:p>
          <a:p>
            <a:r>
              <a:rPr lang="en-US" altLang="en-US" dirty="0"/>
              <a:t>One program can be several processes</a:t>
            </a:r>
          </a:p>
          <a:p>
            <a:pPr lvl="1"/>
            <a:r>
              <a:rPr lang="en-US" altLang="en-US" dirty="0"/>
              <a:t>Consider multiple users executing the same program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B6765-F158-5530-B6BE-48EB5B6C5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1818653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E584-305C-49B9-8C51-3D5336D3D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Concept (contd.)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3628511-1356-4C04-8364-9D780A9534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243" y="1905000"/>
            <a:ext cx="2391513" cy="377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3F19E8-2060-0F6E-EE85-015BCE01C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733381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51A54-D790-4D29-8BBD-21EB87D3C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59D09-D2EC-45C1-8201-9DC9ECDF2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405719"/>
            <a:ext cx="8915400" cy="5322627"/>
          </a:xfrm>
        </p:spPr>
        <p:txBody>
          <a:bodyPr>
            <a:normAutofit/>
          </a:bodyPr>
          <a:lstStyle/>
          <a:p>
            <a:r>
              <a:rPr lang="en-US" altLang="en-US" sz="1600" b="1" dirty="0">
                <a:solidFill>
                  <a:srgbClr val="3366FF"/>
                </a:solidFill>
              </a:rPr>
              <a:t>Short-term scheduler  </a:t>
            </a:r>
            <a:r>
              <a:rPr lang="en-US" altLang="en-US" sz="1600" dirty="0"/>
              <a:t>(or </a:t>
            </a:r>
            <a:r>
              <a:rPr lang="en-US" altLang="en-US" sz="1600" b="1" dirty="0">
                <a:solidFill>
                  <a:srgbClr val="3366FF"/>
                </a:solidFill>
              </a:rPr>
              <a:t>CPU scheduler</a:t>
            </a:r>
            <a:r>
              <a:rPr lang="en-US" altLang="en-US" sz="1600" dirty="0"/>
              <a:t>) – selects which process should be executed next and allocates CPU</a:t>
            </a:r>
          </a:p>
          <a:p>
            <a:pPr lvl="1"/>
            <a:r>
              <a:rPr lang="en-US" altLang="en-US" sz="1600" dirty="0"/>
              <a:t>Sometimes the only scheduler in a system</a:t>
            </a:r>
          </a:p>
          <a:p>
            <a:pPr lvl="1"/>
            <a:r>
              <a:rPr lang="en-US" altLang="en-US" sz="1600" dirty="0"/>
              <a:t>Short-term scheduler is invoked frequently (milliseconds) </a:t>
            </a:r>
            <a:r>
              <a:rPr lang="en-US" altLang="en-US" sz="1600" dirty="0">
                <a:sym typeface="Symbol" panose="05050102010706020507" pitchFamily="18" charset="2"/>
              </a:rPr>
              <a:t> (must be fast)</a:t>
            </a:r>
            <a:endParaRPr lang="en-US" altLang="en-US" sz="800" dirty="0">
              <a:sym typeface="Symbol" panose="05050102010706020507" pitchFamily="18" charset="2"/>
            </a:endParaRPr>
          </a:p>
          <a:p>
            <a:r>
              <a:rPr lang="en-US" altLang="en-US" sz="1600" b="1" dirty="0">
                <a:solidFill>
                  <a:srgbClr val="3366FF"/>
                </a:solidFill>
              </a:rPr>
              <a:t>Long-term scheduler  </a:t>
            </a:r>
            <a:r>
              <a:rPr lang="en-US" altLang="en-US" sz="1600" dirty="0"/>
              <a:t>(or </a:t>
            </a:r>
            <a:r>
              <a:rPr lang="en-US" altLang="en-US" sz="1600" b="1" dirty="0">
                <a:solidFill>
                  <a:srgbClr val="3366FF"/>
                </a:solidFill>
              </a:rPr>
              <a:t>job scheduler</a:t>
            </a:r>
            <a:r>
              <a:rPr lang="en-US" altLang="en-US" sz="1600" dirty="0"/>
              <a:t>) – selects which processes should be brought into the ready queue</a:t>
            </a:r>
          </a:p>
          <a:p>
            <a:pPr lvl="1"/>
            <a:r>
              <a:rPr lang="en-US" altLang="en-US" sz="1600" dirty="0">
                <a:sym typeface="Symbol" panose="05050102010706020507" pitchFamily="18" charset="2"/>
              </a:rPr>
              <a:t>Long-term scheduler is invoked  infrequently (seconds, minutes)  (may be slow)</a:t>
            </a:r>
            <a:endParaRPr lang="en-US" altLang="en-US" sz="800" dirty="0">
              <a:sym typeface="Symbol" panose="05050102010706020507" pitchFamily="18" charset="2"/>
            </a:endParaRPr>
          </a:p>
          <a:p>
            <a:pPr lvl="1"/>
            <a:r>
              <a:rPr lang="en-US" altLang="en-US" sz="1600" dirty="0">
                <a:sym typeface="Symbol" panose="05050102010706020507" pitchFamily="18" charset="2"/>
              </a:rPr>
              <a:t>The long-term scheduler controls the </a:t>
            </a:r>
            <a:r>
              <a:rPr lang="en-US" altLang="en-US" sz="1600" b="1" dirty="0">
                <a:solidFill>
                  <a:srgbClr val="3366FF"/>
                </a:solidFill>
                <a:sym typeface="Symbol" panose="05050102010706020507" pitchFamily="18" charset="2"/>
              </a:rPr>
              <a:t>degree of multiprogramming</a:t>
            </a:r>
            <a:endParaRPr lang="en-US" altLang="en-US" sz="800" i="1" dirty="0">
              <a:sym typeface="Symbol" panose="05050102010706020507" pitchFamily="18" charset="2"/>
            </a:endParaRPr>
          </a:p>
          <a:p>
            <a:r>
              <a:rPr lang="en-US" altLang="en-US" sz="1600" dirty="0">
                <a:sym typeface="Symbol" panose="05050102010706020507" pitchFamily="18" charset="2"/>
              </a:rPr>
              <a:t>Processes can be described as either:</a:t>
            </a:r>
          </a:p>
          <a:p>
            <a:pPr lvl="1"/>
            <a:r>
              <a:rPr lang="en-US" altLang="en-US" sz="1600" b="1" dirty="0">
                <a:solidFill>
                  <a:srgbClr val="3366FF"/>
                </a:solidFill>
                <a:sym typeface="Symbol" panose="05050102010706020507" pitchFamily="18" charset="2"/>
              </a:rPr>
              <a:t>I/O-bound process</a:t>
            </a:r>
            <a:r>
              <a:rPr lang="en-US" altLang="en-US" sz="16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1600" dirty="0">
                <a:sym typeface="Symbol" panose="05050102010706020507" pitchFamily="18" charset="2"/>
              </a:rPr>
              <a:t>– spends more time doing I/O than computations, many short CPU bursts</a:t>
            </a:r>
          </a:p>
          <a:p>
            <a:pPr lvl="1"/>
            <a:r>
              <a:rPr lang="en-US" altLang="en-US" sz="1600" b="1" dirty="0">
                <a:solidFill>
                  <a:srgbClr val="3366FF"/>
                </a:solidFill>
                <a:sym typeface="Symbol" panose="05050102010706020507" pitchFamily="18" charset="2"/>
              </a:rPr>
              <a:t>CPU-bound process </a:t>
            </a:r>
            <a:r>
              <a:rPr lang="en-US" altLang="en-US" sz="1600" dirty="0">
                <a:sym typeface="Symbol" panose="05050102010706020507" pitchFamily="18" charset="2"/>
              </a:rPr>
              <a:t>– spends more time doing computations; few very long CPU bursts</a:t>
            </a:r>
          </a:p>
          <a:p>
            <a:r>
              <a:rPr lang="en-US" altLang="en-US" sz="1600" dirty="0">
                <a:sym typeface="Symbol" panose="05050102010706020507" pitchFamily="18" charset="2"/>
              </a:rPr>
              <a:t>Long-term scheduler strives for good </a:t>
            </a:r>
            <a:r>
              <a:rPr lang="en-US" altLang="en-US" sz="1600" b="1" i="1" dirty="0">
                <a:sym typeface="Symbol" panose="05050102010706020507" pitchFamily="18" charset="2"/>
              </a:rPr>
              <a:t>process mix</a:t>
            </a:r>
            <a:endParaRPr lang="en-US" altLang="en-US" sz="1600" dirty="0">
              <a:sym typeface="Symbol" panose="05050102010706020507" pitchFamily="18" charset="2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4B7E8F-AEC3-3851-2FC6-2EE14A26B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307995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51A54-D790-4D29-8BBD-21EB87D3C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Schedulers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59D09-D2EC-45C1-8201-9DC9ECDF2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405719"/>
            <a:ext cx="8915400" cy="5322627"/>
          </a:xfrm>
        </p:spPr>
        <p:txBody>
          <a:bodyPr>
            <a:normAutofit/>
          </a:bodyPr>
          <a:lstStyle/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Medium-term scheduler  </a:t>
            </a:r>
            <a:r>
              <a:rPr kumimoji="1" lang="en-US" altLang="en-US" dirty="0">
                <a:latin typeface="Helvetica" panose="020B0604020202020204" pitchFamily="34" charset="0"/>
              </a:rPr>
              <a:t>can be added if degree of multiple programming needs to decrease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dirty="0">
                <a:latin typeface="Helvetica" panose="020B0604020202020204" pitchFamily="34" charset="0"/>
              </a:rPr>
              <a:t>Remove process from memory, store on disk, bring back in from disk to continue execution: 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swapping</a:t>
            </a: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16591AEF-825C-4122-A72C-67B80AE89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153" y="2983967"/>
            <a:ext cx="7327900" cy="266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FFACD-11DB-CA77-D8BF-0A2CC724E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2747361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7B8FA-2799-4E88-9B57-B17FD87CE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Creation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44D6C-C1F8-480A-8AE1-13B75E802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10436"/>
            <a:ext cx="8915400" cy="5022376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Parent</a:t>
            </a:r>
            <a:r>
              <a:rPr lang="en-US" altLang="en-US" b="1" dirty="0"/>
              <a:t> </a:t>
            </a:r>
            <a:r>
              <a:rPr lang="en-US" altLang="en-US" dirty="0"/>
              <a:t>process create </a:t>
            </a:r>
            <a:r>
              <a:rPr lang="en-US" altLang="en-US" b="1" dirty="0">
                <a:solidFill>
                  <a:srgbClr val="3366FF"/>
                </a:solidFill>
              </a:rPr>
              <a:t>children</a:t>
            </a:r>
            <a:r>
              <a:rPr lang="en-US" altLang="en-US" b="1" dirty="0"/>
              <a:t> </a:t>
            </a:r>
            <a:r>
              <a:rPr lang="en-US" altLang="en-US" dirty="0"/>
              <a:t>processes, which, in turn create other processes, forming a </a:t>
            </a:r>
            <a:r>
              <a:rPr lang="en-US" altLang="en-US" b="1" dirty="0">
                <a:solidFill>
                  <a:srgbClr val="3366FF"/>
                </a:solidFill>
              </a:rPr>
              <a:t>tree</a:t>
            </a:r>
            <a:r>
              <a:rPr lang="en-US" altLang="en-US" dirty="0"/>
              <a:t> of processes</a:t>
            </a:r>
            <a:endParaRPr lang="en-US" altLang="en-US" sz="800" dirty="0"/>
          </a:p>
          <a:p>
            <a:r>
              <a:rPr lang="en-US" altLang="en-US" dirty="0"/>
              <a:t>Generally, process identified and managed via a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process identifier </a:t>
            </a:r>
            <a:r>
              <a:rPr lang="en-US" altLang="en-US" dirty="0"/>
              <a:t>(</a:t>
            </a:r>
            <a:r>
              <a:rPr lang="en-US" altLang="en-US" b="1" dirty="0" err="1">
                <a:solidFill>
                  <a:srgbClr val="3366FF"/>
                </a:solidFill>
              </a:rPr>
              <a:t>pid</a:t>
            </a:r>
            <a:r>
              <a:rPr lang="en-US" altLang="en-US" dirty="0"/>
              <a:t>)</a:t>
            </a:r>
            <a:endParaRPr lang="en-US" altLang="en-US" sz="800" dirty="0"/>
          </a:p>
          <a:p>
            <a:r>
              <a:rPr lang="en-US" altLang="en-US" dirty="0"/>
              <a:t>Resource sharing options</a:t>
            </a:r>
          </a:p>
          <a:p>
            <a:pPr lvl="1"/>
            <a:r>
              <a:rPr lang="en-US" altLang="en-US" dirty="0"/>
              <a:t>Parent and children share all resources</a:t>
            </a:r>
          </a:p>
          <a:p>
            <a:pPr lvl="1"/>
            <a:r>
              <a:rPr lang="en-US" altLang="en-US" dirty="0"/>
              <a:t>Children share subset of parent</a:t>
            </a:r>
            <a:r>
              <a:rPr lang="ja-JP" altLang="en-US" dirty="0"/>
              <a:t>’</a:t>
            </a:r>
            <a:r>
              <a:rPr lang="en-US" altLang="ja-JP" dirty="0"/>
              <a:t>s resources</a:t>
            </a:r>
          </a:p>
          <a:p>
            <a:pPr lvl="1"/>
            <a:r>
              <a:rPr lang="en-US" altLang="en-US" dirty="0"/>
              <a:t>Parent and child share no resources</a:t>
            </a:r>
            <a:endParaRPr lang="en-US" altLang="en-US" sz="800" dirty="0"/>
          </a:p>
          <a:p>
            <a:r>
              <a:rPr lang="en-US" altLang="en-US" dirty="0"/>
              <a:t>Execution options</a:t>
            </a:r>
          </a:p>
          <a:p>
            <a:pPr lvl="1"/>
            <a:r>
              <a:rPr lang="en-US" altLang="en-US" dirty="0"/>
              <a:t>Parent and children execute concurrently</a:t>
            </a:r>
          </a:p>
          <a:p>
            <a:pPr lvl="1"/>
            <a:r>
              <a:rPr lang="en-US" altLang="en-US" dirty="0"/>
              <a:t>Parent waits until children terminate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EAE8D1-1624-E1BB-7EEA-627CE62C8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3974898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9147E-6657-4A63-95DD-B144E1F0A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tree of process</a:t>
            </a:r>
          </a:p>
        </p:txBody>
      </p:sp>
      <p:pic>
        <p:nvPicPr>
          <p:cNvPr id="4" name="Picture 1" descr="3_08.pdf">
            <a:extLst>
              <a:ext uri="{FF2B5EF4-FFF2-40B4-BE49-F238E27FC236}">
                <a16:creationId xmlns:a16="http://schemas.microsoft.com/office/drawing/2014/main" id="{1E9123AD-008A-46D0-B6D3-61E1A29DF4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160" y="1727807"/>
            <a:ext cx="9568164" cy="4506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D136A4-678E-F2EE-BDF0-9859AC989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2763354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21FA3-4700-45B6-892B-2D7FA4435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Creation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2D387-5EA6-4455-917E-44CC66D0C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37565"/>
            <a:ext cx="8915400" cy="5031474"/>
          </a:xfrm>
        </p:spPr>
        <p:txBody>
          <a:bodyPr/>
          <a:lstStyle/>
          <a:p>
            <a:r>
              <a:rPr lang="en-US" altLang="en-US" dirty="0"/>
              <a:t>Address space creation</a:t>
            </a:r>
          </a:p>
          <a:p>
            <a:pPr lvl="1"/>
            <a:r>
              <a:rPr lang="en-US" altLang="en-US" dirty="0"/>
              <a:t>Child  is a duplicate of parent</a:t>
            </a:r>
          </a:p>
          <a:p>
            <a:pPr lvl="1"/>
            <a:r>
              <a:rPr lang="en-US" altLang="en-US" dirty="0"/>
              <a:t>Child has a new program loaded into it</a:t>
            </a:r>
          </a:p>
          <a:p>
            <a:r>
              <a:rPr lang="en-US" altLang="en-US" dirty="0"/>
              <a:t>UNIX examples</a:t>
            </a:r>
          </a:p>
          <a:p>
            <a:pPr lvl="1"/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system call creates new process</a:t>
            </a:r>
          </a:p>
          <a:p>
            <a:pPr lvl="1"/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exec()</a:t>
            </a:r>
            <a:r>
              <a:rPr lang="en-US" altLang="en-US" dirty="0"/>
              <a:t> system call used after a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lang="en-US" altLang="en-US" dirty="0"/>
              <a:t> to replace the process</a:t>
            </a:r>
            <a:r>
              <a:rPr lang="ja-JP" altLang="en-US" dirty="0"/>
              <a:t>’</a:t>
            </a:r>
            <a:r>
              <a:rPr lang="en-US" altLang="ja-JP" dirty="0"/>
              <a:t> memory space with a new program</a:t>
            </a:r>
            <a:endParaRPr lang="en-US" altLang="en-US" dirty="0"/>
          </a:p>
          <a:p>
            <a:endParaRPr lang="en-US" dirty="0"/>
          </a:p>
        </p:txBody>
      </p:sp>
      <p:pic>
        <p:nvPicPr>
          <p:cNvPr id="4" name="Picture 4" descr="3">
            <a:extLst>
              <a:ext uri="{FF2B5EF4-FFF2-40B4-BE49-F238E27FC236}">
                <a16:creationId xmlns:a16="http://schemas.microsoft.com/office/drawing/2014/main" id="{E4B75572-E64C-452E-AAC0-708613FE6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4185907"/>
            <a:ext cx="8690222" cy="2187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7DBD9-FCE7-94F5-47F4-B654895F3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628580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EB23B-B655-456D-A083-7850AE885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 Program Forking Separate Process</a:t>
            </a:r>
            <a:endParaRPr lang="en-US" dirty="0"/>
          </a:p>
        </p:txBody>
      </p:sp>
      <p:pic>
        <p:nvPicPr>
          <p:cNvPr id="4" name="Picture 5" descr="Screen Shot 2012-12-04 at 11.21.10 AM.png">
            <a:extLst>
              <a:ext uri="{FF2B5EF4-FFF2-40B4-BE49-F238E27FC236}">
                <a16:creationId xmlns:a16="http://schemas.microsoft.com/office/drawing/2014/main" id="{8B5691A8-9A50-47D6-84B7-265895933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4853" y="1437563"/>
            <a:ext cx="6534221" cy="5390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811592-A951-1CFD-FC7A-FEE131B48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2701005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4AB3C-C5CD-4D70-80FB-A8093B21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Termination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2F560-339B-458A-BB08-0971B128F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01254"/>
            <a:ext cx="8915400" cy="4409968"/>
          </a:xfrm>
        </p:spPr>
        <p:txBody>
          <a:bodyPr/>
          <a:lstStyle/>
          <a:p>
            <a:r>
              <a:rPr lang="en-US" altLang="en-US" dirty="0"/>
              <a:t>Process executes last statement and then asks the operating system to delete it using the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exit()</a:t>
            </a:r>
            <a:r>
              <a:rPr lang="en-US" altLang="en-US" dirty="0">
                <a:cs typeface="Courier New" panose="02070309020205020404" pitchFamily="49" charset="0"/>
              </a:rPr>
              <a:t> system call.</a:t>
            </a:r>
            <a:endParaRPr lang="en-US" altLang="en-US" dirty="0"/>
          </a:p>
          <a:p>
            <a:pPr lvl="1"/>
            <a:r>
              <a:rPr lang="en-US" altLang="en-US" dirty="0"/>
              <a:t>Returns  status data from child to parent (via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Process</a:t>
            </a:r>
            <a:r>
              <a:rPr lang="ja-JP" altLang="en-US" dirty="0"/>
              <a:t>’</a:t>
            </a:r>
            <a:r>
              <a:rPr lang="en-US" altLang="ja-JP" dirty="0"/>
              <a:t> resources are deallocated by operating system</a:t>
            </a:r>
            <a:endParaRPr lang="en-US" altLang="en-US" dirty="0"/>
          </a:p>
          <a:p>
            <a:r>
              <a:rPr lang="en-US" altLang="en-US" dirty="0"/>
              <a:t>Parent may terminate the execution of children processes  using the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abort()</a:t>
            </a:r>
            <a:r>
              <a:rPr lang="en-US" altLang="en-US" dirty="0">
                <a:cs typeface="Courier New" panose="02070309020205020404" pitchFamily="49" charset="0"/>
              </a:rPr>
              <a:t> system call.  Some reasons for doing so:</a:t>
            </a:r>
            <a:endParaRPr lang="en-US" altLang="en-US" dirty="0"/>
          </a:p>
          <a:p>
            <a:pPr lvl="1"/>
            <a:r>
              <a:rPr lang="en-US" altLang="en-US" dirty="0"/>
              <a:t>Child has exceeded allocated resources</a:t>
            </a:r>
          </a:p>
          <a:p>
            <a:pPr lvl="1"/>
            <a:r>
              <a:rPr lang="en-US" altLang="en-US" dirty="0"/>
              <a:t>Task assigned to child is no longer required</a:t>
            </a:r>
          </a:p>
          <a:p>
            <a:pPr lvl="1"/>
            <a:r>
              <a:rPr lang="en-US" altLang="en-US" dirty="0"/>
              <a:t>The parent is exiting and the operating systems does not allow  a child to continue if its parent terminates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D4A3FC-15EA-2AA5-32A4-9A2A89F6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2779342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1132-B660-4367-921F-88E98CAB3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Termination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44C65-FC46-48CA-A9E9-FF09FE139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33015"/>
            <a:ext cx="8915400" cy="5049672"/>
          </a:xfrm>
        </p:spPr>
        <p:txBody>
          <a:bodyPr>
            <a:normAutofit/>
          </a:bodyPr>
          <a:lstStyle/>
          <a:p>
            <a:r>
              <a:rPr lang="en-US" altLang="en-US" dirty="0"/>
              <a:t>Some operating systems do not allow child to exists if its parent has terminated.  If a process terminates, then all its children must also be terminated.</a:t>
            </a:r>
          </a:p>
          <a:p>
            <a:pPr lvl="1"/>
            <a:r>
              <a:rPr lang="en-US" altLang="en-US" b="1" dirty="0"/>
              <a:t>cascading termination.  </a:t>
            </a:r>
            <a:r>
              <a:rPr lang="en-US" altLang="en-US" dirty="0"/>
              <a:t>All children, grandchildren, etc.  are  terminated.</a:t>
            </a:r>
            <a:endParaRPr lang="en-US" altLang="en-US" b="1" dirty="0"/>
          </a:p>
          <a:p>
            <a:pPr lvl="1"/>
            <a:r>
              <a:rPr lang="en-US" altLang="en-US" dirty="0"/>
              <a:t>The termination is initiated by the operating system.</a:t>
            </a:r>
            <a:endParaRPr lang="en-US" altLang="en-US" b="1" dirty="0"/>
          </a:p>
          <a:p>
            <a:r>
              <a:rPr lang="en-US" altLang="en-US" dirty="0"/>
              <a:t>The parent process may wait for termination of a child process by using the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altLang="en-US" dirty="0"/>
              <a:t>system call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US" altLang="en-US" dirty="0"/>
              <a:t>The call returns status information and the </a:t>
            </a:r>
            <a:r>
              <a:rPr lang="en-US" altLang="en-US" dirty="0" err="1"/>
              <a:t>pid</a:t>
            </a:r>
            <a:r>
              <a:rPr lang="en-US" altLang="en-US" dirty="0"/>
              <a:t> of the terminated process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wait(&amp;status); </a:t>
            </a:r>
          </a:p>
          <a:p>
            <a:r>
              <a:rPr lang="en-US" altLang="en-US" dirty="0"/>
              <a:t>If no parent waiting (did not invoke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altLang="en-US" dirty="0">
                <a:cs typeface="Courier New" panose="02070309020205020404" pitchFamily="49" charset="0"/>
              </a:rPr>
              <a:t>) </a:t>
            </a:r>
            <a:r>
              <a:rPr lang="en-US" altLang="en-US" dirty="0"/>
              <a:t>process is a </a:t>
            </a:r>
            <a:r>
              <a:rPr lang="en-US" altLang="en-US" b="1" dirty="0">
                <a:solidFill>
                  <a:srgbClr val="3366FF"/>
                </a:solidFill>
              </a:rPr>
              <a:t>zombie</a:t>
            </a:r>
          </a:p>
          <a:p>
            <a:r>
              <a:rPr lang="en-US" altLang="en-US" dirty="0"/>
              <a:t>If parent terminated without invoking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wait</a:t>
            </a:r>
            <a:r>
              <a:rPr lang="en-US" altLang="en-US" dirty="0"/>
              <a:t> , process is an </a:t>
            </a:r>
            <a:r>
              <a:rPr lang="en-US" altLang="en-US" b="1" dirty="0">
                <a:solidFill>
                  <a:srgbClr val="3366FF"/>
                </a:solidFill>
              </a:rPr>
              <a:t>orphan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B68E9-3911-E2BB-4541-D81FC1463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2857769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7E130-110F-41C6-BF3A-C459C6618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Single and Multithreaded Processes</a:t>
            </a:r>
            <a:endParaRPr lang="en-US" dirty="0"/>
          </a:p>
        </p:txBody>
      </p:sp>
      <p:pic>
        <p:nvPicPr>
          <p:cNvPr id="4" name="Picture 1" descr="4_01.pdf">
            <a:extLst>
              <a:ext uri="{FF2B5EF4-FFF2-40B4-BE49-F238E27FC236}">
                <a16:creationId xmlns:a16="http://schemas.microsoft.com/office/drawing/2014/main" id="{42A2BAD4-BA30-405F-B715-A001CAFE1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922" y="1442409"/>
            <a:ext cx="7912617" cy="513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F8312D-AEBA-8F9B-139B-8D65CB04A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3698314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12D28-CFFE-4662-A846-1EE46AFE9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Pthreads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0DF19-B753-42C2-BF0D-A4EB7F951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May be provided either as user-level or kernel-level</a:t>
            </a:r>
          </a:p>
          <a:p>
            <a:r>
              <a:rPr lang="en-US" altLang="en-US" dirty="0"/>
              <a:t>A POSIX standard (IEEE 1003.1c) API for thread creation and synchronization</a:t>
            </a:r>
          </a:p>
          <a:p>
            <a:r>
              <a:rPr lang="en-US" altLang="en-US" b="1" i="1" dirty="0"/>
              <a:t>Specification</a:t>
            </a:r>
            <a:r>
              <a:rPr lang="en-US" altLang="en-US" dirty="0"/>
              <a:t>, not </a:t>
            </a:r>
            <a:r>
              <a:rPr lang="en-US" altLang="en-US" b="1" i="1" dirty="0"/>
              <a:t>implementation</a:t>
            </a:r>
            <a:endParaRPr lang="en-US" altLang="en-US" dirty="0"/>
          </a:p>
          <a:p>
            <a:r>
              <a:rPr lang="en-US" altLang="en-US" dirty="0"/>
              <a:t>API specifies behavior of the thread library, implementation is up to development of the library</a:t>
            </a:r>
          </a:p>
          <a:p>
            <a:r>
              <a:rPr lang="en-US" altLang="en-US" dirty="0"/>
              <a:t>Common in UNIX operating systems (Solaris, Linux, Mac OS X)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65B4BD-A396-D09B-E6DA-2856487DA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3921260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9028F-4B3A-42FE-9387-FDECCFA92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- Example</a:t>
            </a:r>
            <a:endParaRPr lang="en-US" dirty="0"/>
          </a:p>
        </p:txBody>
      </p:sp>
      <p:pic>
        <p:nvPicPr>
          <p:cNvPr id="4" name="Picture 1" descr="Screen Shot 2012-12-04 at 8.50.38 PM.png">
            <a:extLst>
              <a:ext uri="{FF2B5EF4-FFF2-40B4-BE49-F238E27FC236}">
                <a16:creationId xmlns:a16="http://schemas.microsoft.com/office/drawing/2014/main" id="{FDCA64BA-A7F4-4485-8CF5-6751FFB9A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9686" y="1365027"/>
            <a:ext cx="6863037" cy="5117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550888-4F56-6C22-BC76-F01E3F636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639682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60BEA-43E4-4E83-B7E0-89F56C1C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Pthreads</a:t>
            </a:r>
            <a:r>
              <a:rPr lang="en-US" altLang="en-US" dirty="0"/>
              <a:t> Example (Cont.)</a:t>
            </a:r>
            <a:endParaRPr 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CD5D1CE6-0A9A-4BE0-ADFF-C9A4A0CB34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019" y="1264555"/>
            <a:ext cx="5795962" cy="533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A30321-967C-DCF4-9EAA-C47C88EEB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3991343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D1F28-097C-486D-9815-1E1268F78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Threads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EA40D-AA0E-48D9-B3E1-DF38B057E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Java threads are managed by the JVM</a:t>
            </a:r>
          </a:p>
          <a:p>
            <a:r>
              <a:rPr lang="en-US" altLang="en-US" dirty="0"/>
              <a:t>Typically implemented using the threads model provided by underlying OS</a:t>
            </a:r>
          </a:p>
          <a:p>
            <a:r>
              <a:rPr lang="en-US" altLang="en-US" dirty="0"/>
              <a:t>Java threads may be created by:</a:t>
            </a:r>
            <a:br>
              <a:rPr lang="en-US" altLang="en-US" dirty="0"/>
            </a:br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  <a:p>
            <a:pPr lvl="1"/>
            <a:r>
              <a:rPr lang="en-US" altLang="en-US" dirty="0"/>
              <a:t>Extending Thread class</a:t>
            </a:r>
          </a:p>
          <a:p>
            <a:pPr lvl="1"/>
            <a:r>
              <a:rPr lang="en-US" altLang="en-US" dirty="0"/>
              <a:t>Implementing the Runnable interface</a:t>
            </a:r>
            <a:br>
              <a:rPr lang="en-US" altLang="en-US" dirty="0"/>
            </a:br>
            <a:endParaRPr lang="en-US" altLang="en-US" dirty="0"/>
          </a:p>
          <a:p>
            <a:endParaRPr lang="en-US" dirty="0"/>
          </a:p>
        </p:txBody>
      </p:sp>
      <p:pic>
        <p:nvPicPr>
          <p:cNvPr id="4" name="Picture 1" descr="Screen Shot 2012-12-04 at 9.09.28 PM.png">
            <a:extLst>
              <a:ext uri="{FF2B5EF4-FFF2-40B4-BE49-F238E27FC236}">
                <a16:creationId xmlns:a16="http://schemas.microsoft.com/office/drawing/2014/main" id="{7CF8FEC9-36AD-4B09-A6BD-D2C3C7582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0180" y="3457261"/>
            <a:ext cx="3773488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416E4-9B48-60A6-7162-8084B5320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3678379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3EAE-E347-4EE8-87BA-81725BC01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146438"/>
            <a:ext cx="8911687" cy="1280890"/>
          </a:xfrm>
        </p:spPr>
        <p:txBody>
          <a:bodyPr/>
          <a:lstStyle/>
          <a:p>
            <a:r>
              <a:rPr lang="en-US" altLang="en-US" dirty="0"/>
              <a:t>Java Multithreaded Program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95B5E76-31C8-4202-B2E4-4498C1D51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297" y="786883"/>
            <a:ext cx="4432679" cy="599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9BB3E0-142F-B7AF-57F2-412860EF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1532260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1CD8-D8B4-4CC6-B47B-714A99385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Multithreaded Program (Cont.)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4D1A9CD-4B2B-4911-A2A1-DDE862F731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785" y="1126082"/>
            <a:ext cx="7456488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96BE38-4084-7AEF-6054-44498B86C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3791636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779B-BF8A-485E-96F1-59C4FD20C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Semaphore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4D659-71A8-4C50-AC85-EC64733FE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73958"/>
            <a:ext cx="8915400" cy="525438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1600" dirty="0"/>
              <a:t>Synchronization tool that provides more sophisticated ways (than Mutex locks)  for process to synchronize their activities.</a:t>
            </a:r>
            <a:endParaRPr lang="en-US" altLang="en-US" sz="1600" i="1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1600" dirty="0"/>
              <a:t>Semaphore </a:t>
            </a:r>
            <a:r>
              <a:rPr lang="en-US" altLang="en-US" sz="1600" b="1" i="1" dirty="0"/>
              <a:t>S</a:t>
            </a:r>
            <a:r>
              <a:rPr lang="en-US" altLang="en-US" sz="1600" dirty="0"/>
              <a:t> – integer variable</a:t>
            </a:r>
          </a:p>
          <a:p>
            <a:pPr>
              <a:lnSpc>
                <a:spcPct val="90000"/>
              </a:lnSpc>
            </a:pPr>
            <a:r>
              <a:rPr lang="en-US" altLang="en-US" sz="1600" dirty="0"/>
              <a:t>Can only be accessed via two indivisible (atomic) operations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sz="1600" dirty="0">
                <a:solidFill>
                  <a:srgbClr val="000000"/>
                </a:solidFill>
              </a:rPr>
              <a:t>and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signal()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Originally called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P()</a:t>
            </a:r>
            <a:r>
              <a:rPr lang="en-US" altLang="en-US" dirty="0"/>
              <a:t> </a:t>
            </a:r>
            <a:r>
              <a:rPr lang="en-US" altLang="en-US" sz="1600" dirty="0"/>
              <a:t>and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V()</a:t>
            </a:r>
          </a:p>
          <a:p>
            <a:pPr>
              <a:lnSpc>
                <a:spcPct val="90000"/>
              </a:lnSpc>
            </a:pPr>
            <a:r>
              <a:rPr lang="en-US" altLang="en-US" sz="1600" dirty="0"/>
              <a:t>Definition of  the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wait() operation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wait(S)</a:t>
            </a:r>
            <a:r>
              <a:rPr lang="en-US" alt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{ 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while (S &lt;= 0)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; // busy wait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S--;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altLang="en-US" sz="1600" dirty="0"/>
              <a:t>Definition of  the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signal() operation</a:t>
            </a:r>
            <a:endParaRPr lang="en-US" altLang="en-US" sz="1600" b="1" dirty="0">
              <a:latin typeface="Courier New" panose="02070309020205020404" pitchFamily="49" charset="0"/>
              <a:cs typeface="Courier New" panose="02070309020205020404" pitchFamily="49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signal(S)</a:t>
            </a:r>
            <a:r>
              <a:rPr lang="en-US" alt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{ 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S++;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CBD89D-EA5E-D446-6E96-E781A4FEF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2441988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BA8F3-1433-4439-858A-A38697817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Semaphore Usage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B3735-54BA-4D52-8558-EA65B4501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28549"/>
            <a:ext cx="8915400" cy="5063320"/>
          </a:xfrm>
        </p:spPr>
        <p:txBody>
          <a:bodyPr>
            <a:normAutofit/>
          </a:bodyPr>
          <a:lstStyle/>
          <a:p>
            <a:pPr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3366FF"/>
                </a:solidFill>
              </a:rPr>
              <a:t>Counting semaphore </a:t>
            </a:r>
            <a:r>
              <a:rPr lang="en-US" altLang="en-US" sz="1600" dirty="0"/>
              <a:t>– integer value can range over an unrestricted domain</a:t>
            </a:r>
          </a:p>
          <a:p>
            <a:pPr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3366FF"/>
                </a:solidFill>
              </a:rPr>
              <a:t>Binary semaphore </a:t>
            </a:r>
            <a:r>
              <a:rPr lang="en-US" altLang="en-US" sz="1600" dirty="0"/>
              <a:t>– integer value can range only between 0 and 1</a:t>
            </a:r>
          </a:p>
          <a:p>
            <a:pPr lvl="1">
              <a:tabLst>
                <a:tab pos="2001838" algn="ctr"/>
                <a:tab pos="4513263" algn="ctr"/>
              </a:tabLst>
            </a:pPr>
            <a:r>
              <a:rPr lang="en-US" altLang="en-US" sz="1600" dirty="0">
                <a:sym typeface="MT Extra" panose="05050102010205020202" pitchFamily="18" charset="2"/>
              </a:rPr>
              <a:t>Same as a </a:t>
            </a:r>
            <a:r>
              <a:rPr lang="en-US" altLang="en-US" sz="1600" b="1" dirty="0">
                <a:solidFill>
                  <a:srgbClr val="3366FF"/>
                </a:solidFill>
                <a:sym typeface="MT Extra" panose="05050102010205020202" pitchFamily="18" charset="2"/>
              </a:rPr>
              <a:t>mutex lock</a:t>
            </a:r>
            <a:endParaRPr lang="en-US" altLang="en-US" sz="1600" b="1" dirty="0">
              <a:solidFill>
                <a:srgbClr val="3366FF"/>
              </a:solidFill>
            </a:endParaRPr>
          </a:p>
          <a:p>
            <a:pPr>
              <a:tabLst>
                <a:tab pos="2001838" algn="ctr"/>
                <a:tab pos="4513263" algn="ctr"/>
              </a:tabLst>
            </a:pPr>
            <a:r>
              <a:rPr lang="en-US" altLang="en-US" sz="1600" dirty="0">
                <a:sym typeface="MT Extra" panose="05050102010205020202" pitchFamily="18" charset="2"/>
              </a:rPr>
              <a:t>Can solve various synchronization problems</a:t>
            </a:r>
          </a:p>
          <a:p>
            <a:pPr>
              <a:tabLst>
                <a:tab pos="2001838" algn="ctr"/>
                <a:tab pos="4513263" algn="ctr"/>
              </a:tabLst>
            </a:pPr>
            <a:r>
              <a:rPr lang="en-US" altLang="en-US" sz="1600" dirty="0">
                <a:sym typeface="MT Extra" panose="05050102010205020202" pitchFamily="18" charset="2"/>
              </a:rPr>
              <a:t>Consider </a:t>
            </a:r>
            <a:r>
              <a:rPr lang="en-US" altLang="en-US" sz="1600" b="1" i="1" dirty="0">
                <a:sym typeface="MT Extra" panose="05050102010205020202" pitchFamily="18" charset="2"/>
              </a:rPr>
              <a:t>P</a:t>
            </a:r>
            <a:r>
              <a:rPr lang="en-US" altLang="en-US" sz="1600" b="1" i="1" baseline="-25000" dirty="0">
                <a:sym typeface="MT Extra" panose="05050102010205020202" pitchFamily="18" charset="2"/>
              </a:rPr>
              <a:t>1</a:t>
            </a:r>
            <a:r>
              <a:rPr lang="en-US" altLang="en-US" sz="1600" b="1" i="1" dirty="0">
                <a:sym typeface="MT Extra" panose="05050102010205020202" pitchFamily="18" charset="2"/>
              </a:rPr>
              <a:t> </a:t>
            </a:r>
            <a:r>
              <a:rPr lang="en-US" altLang="en-US" sz="1600" dirty="0">
                <a:sym typeface="MT Extra" panose="05050102010205020202" pitchFamily="18" charset="2"/>
              </a:rPr>
              <a:t> and </a:t>
            </a:r>
            <a:r>
              <a:rPr lang="en-US" altLang="en-US" sz="1600" b="1" i="1" dirty="0">
                <a:sym typeface="MT Extra" panose="05050102010205020202" pitchFamily="18" charset="2"/>
              </a:rPr>
              <a:t>P</a:t>
            </a:r>
            <a:r>
              <a:rPr lang="en-US" altLang="en-US" sz="1600" b="1" i="1" baseline="-25000" dirty="0">
                <a:sym typeface="MT Extra" panose="05050102010205020202" pitchFamily="18" charset="2"/>
              </a:rPr>
              <a:t>2</a:t>
            </a:r>
            <a:r>
              <a:rPr lang="en-US" altLang="en-US" sz="1600" dirty="0">
                <a:sym typeface="MT Extra" panose="05050102010205020202" pitchFamily="18" charset="2"/>
              </a:rPr>
              <a:t> that require</a:t>
            </a:r>
            <a:r>
              <a:rPr lang="en-US" altLang="en-US" sz="1600" b="1" i="1" dirty="0">
                <a:sym typeface="MT Extra" panose="05050102010205020202" pitchFamily="18" charset="2"/>
              </a:rPr>
              <a:t> S</a:t>
            </a:r>
            <a:r>
              <a:rPr lang="en-US" altLang="en-US" sz="1600" b="1" i="1" baseline="-25000" dirty="0">
                <a:sym typeface="MT Extra" panose="05050102010205020202" pitchFamily="18" charset="2"/>
              </a:rPr>
              <a:t>1</a:t>
            </a:r>
            <a:r>
              <a:rPr lang="en-US" altLang="en-US" sz="1600" b="1" i="1" dirty="0">
                <a:sym typeface="MT Extra" panose="05050102010205020202" pitchFamily="18" charset="2"/>
              </a:rPr>
              <a:t> </a:t>
            </a:r>
            <a:r>
              <a:rPr lang="en-US" altLang="en-US" sz="1600" dirty="0">
                <a:sym typeface="MT Extra" panose="05050102010205020202" pitchFamily="18" charset="2"/>
              </a:rPr>
              <a:t>to happen before </a:t>
            </a:r>
            <a:r>
              <a:rPr lang="en-US" altLang="en-US" sz="1600" b="1" i="1" dirty="0">
                <a:sym typeface="MT Extra" panose="05050102010205020202" pitchFamily="18" charset="2"/>
              </a:rPr>
              <a:t>S</a:t>
            </a:r>
            <a:r>
              <a:rPr lang="en-US" altLang="en-US" sz="1600" b="1" i="1" baseline="-25000" dirty="0">
                <a:sym typeface="MT Extra" panose="05050102010205020202" pitchFamily="18" charset="2"/>
              </a:rPr>
              <a:t>2</a:t>
            </a:r>
          </a:p>
          <a:p>
            <a:pPr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dirty="0">
                <a:sym typeface="MT Extra" panose="05050102010205020202" pitchFamily="18" charset="2"/>
              </a:rPr>
              <a:t>       Create a semaphore “</a:t>
            </a:r>
            <a:r>
              <a:rPr lang="en-US" altLang="ja-JP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MT Extra" panose="05050102010205020202" pitchFamily="18" charset="2"/>
              </a:rPr>
              <a:t>synch</a:t>
            </a:r>
            <a:r>
              <a:rPr lang="en-US" altLang="en-US" sz="1600" dirty="0">
                <a:sym typeface="MT Extra" panose="05050102010205020202" pitchFamily="18" charset="2"/>
              </a:rPr>
              <a:t>”</a:t>
            </a:r>
            <a:r>
              <a:rPr lang="en-US" altLang="ja-JP" sz="1600" dirty="0">
                <a:sym typeface="MT Extra" panose="05050102010205020202" pitchFamily="18" charset="2"/>
              </a:rPr>
              <a:t> initialized to 0 </a:t>
            </a:r>
          </a:p>
          <a:p>
            <a:pPr lvl="1"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MT Extra" panose="05050102010205020202" pitchFamily="18" charset="2"/>
              </a:rPr>
              <a:t>P1:</a:t>
            </a:r>
          </a:p>
          <a:p>
            <a:pPr lvl="1"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MT Extra" panose="05050102010205020202" pitchFamily="18" charset="2"/>
              </a:rPr>
              <a:t>   S</a:t>
            </a:r>
            <a:r>
              <a:rPr lang="en-US" altLang="en-US" sz="1600" b="1" baseline="-25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MT Extra" panose="05050102010205020202" pitchFamily="18" charset="2"/>
              </a:rPr>
              <a:t>1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MT Extra" panose="05050102010205020202" pitchFamily="18" charset="2"/>
              </a:rPr>
              <a:t>;</a:t>
            </a:r>
          </a:p>
          <a:p>
            <a:pPr lvl="1"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MT Extra" panose="05050102010205020202" pitchFamily="18" charset="2"/>
              </a:rPr>
              <a:t>   signal(synch);</a:t>
            </a:r>
          </a:p>
          <a:p>
            <a:pPr lvl="1"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MT Extra" panose="05050102010205020202" pitchFamily="18" charset="2"/>
              </a:rPr>
              <a:t>P2:</a:t>
            </a:r>
          </a:p>
          <a:p>
            <a:pPr lvl="1"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MT Extra" panose="05050102010205020202" pitchFamily="18" charset="2"/>
              </a:rPr>
              <a:t>   wait(synch)</a:t>
            </a:r>
            <a:r>
              <a:rPr lang="en-US" altLang="en-US" sz="1400" dirty="0">
                <a:solidFill>
                  <a:srgbClr val="0000FF"/>
                </a:solidFill>
                <a:sym typeface="MT Extra" panose="05050102010205020202" pitchFamily="18" charset="2"/>
              </a:rPr>
              <a:t>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MT Extra" panose="05050102010205020202" pitchFamily="18" charset="2"/>
            </a:endParaRPr>
          </a:p>
          <a:p>
            <a:pPr lvl="1"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MT Extra" panose="05050102010205020202" pitchFamily="18" charset="2"/>
              </a:rPr>
              <a:t>   S</a:t>
            </a:r>
            <a:r>
              <a:rPr lang="en-US" altLang="en-US" sz="1600" b="1" baseline="-25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MT Extra" panose="05050102010205020202" pitchFamily="18" charset="2"/>
              </a:rPr>
              <a:t>2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MT Extra" panose="05050102010205020202" pitchFamily="18" charset="2"/>
              </a:rPr>
              <a:t>;</a:t>
            </a:r>
            <a:endParaRPr lang="en-US" altLang="en-US" sz="1600" dirty="0">
              <a:sym typeface="MT Extra" panose="05050102010205020202" pitchFamily="18" charset="2"/>
            </a:endParaRPr>
          </a:p>
          <a:p>
            <a:pPr>
              <a:tabLst>
                <a:tab pos="2001838" algn="ctr"/>
                <a:tab pos="4513263" algn="ctr"/>
              </a:tabLst>
            </a:pPr>
            <a:r>
              <a:rPr lang="en-US" altLang="en-US" sz="1600" dirty="0"/>
              <a:t>Can implement a counting semaphore </a:t>
            </a:r>
            <a:r>
              <a:rPr lang="en-US" altLang="en-US" sz="1600" b="1" i="1" dirty="0">
                <a:solidFill>
                  <a:srgbClr val="000000"/>
                </a:solidFill>
              </a:rPr>
              <a:t>S</a:t>
            </a:r>
            <a:r>
              <a:rPr lang="en-US" altLang="en-US" sz="1600" dirty="0"/>
              <a:t> as a binary semaphore</a:t>
            </a:r>
          </a:p>
          <a:p>
            <a:pPr>
              <a:tabLst>
                <a:tab pos="2001838" algn="ctr"/>
                <a:tab pos="4513263" algn="ctr"/>
              </a:tabLst>
            </a:pPr>
            <a:endParaRPr lang="en-US" altLang="en-US" sz="1600" b="1" i="1" baseline="-25000" dirty="0">
              <a:sym typeface="MT Extra" panose="05050102010205020202" pitchFamily="18" charset="2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C65B67-8C20-6131-9864-E6E90812E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1830926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C64BF-4C2B-4EE3-B1CD-7793DE778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Semaphore Implementation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E4E32-6E69-4910-B847-11992217E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7731"/>
            <a:ext cx="8915400" cy="5104263"/>
          </a:xfrm>
        </p:spPr>
        <p:txBody>
          <a:bodyPr/>
          <a:lstStyle/>
          <a:p>
            <a:r>
              <a:rPr lang="en-US" altLang="en-US" dirty="0"/>
              <a:t>Must guarantee that no two processes can execute  the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wait() </a:t>
            </a:r>
            <a:r>
              <a:rPr lang="en-US" altLang="en-US" dirty="0"/>
              <a:t>and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signal() </a:t>
            </a:r>
            <a:r>
              <a:rPr lang="en-US" altLang="en-US" dirty="0"/>
              <a:t>on the same semaphore at the same time</a:t>
            </a:r>
          </a:p>
          <a:p>
            <a:r>
              <a:rPr lang="en-US" altLang="en-US" dirty="0"/>
              <a:t>Thus, the implementation becomes the critical section problem where the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wait</a:t>
            </a:r>
            <a:r>
              <a:rPr lang="en-US" altLang="en-US" dirty="0"/>
              <a:t> and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signal</a:t>
            </a:r>
            <a:r>
              <a:rPr lang="en-US" altLang="en-US" dirty="0"/>
              <a:t> code are placed in the critical section</a:t>
            </a:r>
          </a:p>
          <a:p>
            <a:pPr lvl="1"/>
            <a:r>
              <a:rPr lang="en-US" altLang="en-US" dirty="0"/>
              <a:t>Could now have </a:t>
            </a:r>
            <a:r>
              <a:rPr lang="en-US" altLang="en-US" b="1" dirty="0">
                <a:solidFill>
                  <a:srgbClr val="3366FF"/>
                </a:solidFill>
              </a:rPr>
              <a:t>busy waiting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critical section implementation</a:t>
            </a:r>
          </a:p>
          <a:p>
            <a:pPr lvl="2"/>
            <a:r>
              <a:rPr lang="en-US" altLang="en-US" dirty="0"/>
              <a:t>But implementation code is short</a:t>
            </a:r>
          </a:p>
          <a:p>
            <a:pPr lvl="2"/>
            <a:r>
              <a:rPr lang="en-US" altLang="en-US" dirty="0"/>
              <a:t>Little busy waiting if critical section rarely occupied</a:t>
            </a:r>
          </a:p>
          <a:p>
            <a:r>
              <a:rPr lang="en-US" altLang="en-US" dirty="0"/>
              <a:t>Note that applications may spend lots of time in critical sections and therefore this is not a good solution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 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754E91-F803-0088-2B42-D32FAE186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332564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AE632-2307-46C7-9B27-5B5D7F2BF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Semaphore Implementation with no Busy waiting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F7D56-396E-4AC3-B4C7-8729FE61E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622042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With each semaphore there is an associated waiting queue</a:t>
            </a:r>
          </a:p>
          <a:p>
            <a:r>
              <a:rPr lang="en-US" altLang="en-US" dirty="0"/>
              <a:t>Each entry in a waiting queue has two data items:</a:t>
            </a:r>
          </a:p>
          <a:p>
            <a:pPr lvl="1"/>
            <a:r>
              <a:rPr lang="en-US" altLang="en-US" dirty="0"/>
              <a:t> value (of type integer)</a:t>
            </a:r>
          </a:p>
          <a:p>
            <a:pPr lvl="1"/>
            <a:r>
              <a:rPr lang="en-US" altLang="en-US" dirty="0"/>
              <a:t> pointer to next record in the list</a:t>
            </a:r>
          </a:p>
          <a:p>
            <a:r>
              <a:rPr lang="en-US" altLang="en-US" dirty="0"/>
              <a:t>Two operations: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block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place the process invoking the operation on the appropriate waiting queue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wakeup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remove one of processes in the waiting queue and place it in the ready queue</a:t>
            </a:r>
          </a:p>
          <a:p>
            <a:pPr marL="0" indent="0"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typedef struct{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int value;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struct process *list;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 semaphore; </a:t>
            </a:r>
          </a:p>
          <a:p>
            <a:endParaRPr lang="en-US" altLang="en-US" dirty="0"/>
          </a:p>
          <a:p>
            <a:pPr lvl="1"/>
            <a:endParaRPr lang="en-US" altLang="en-US" dirty="0"/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                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BA593E-A9BB-6419-46A7-FD2D398AC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37383469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6F684-4110-4B56-9E0C-EEE8105CF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Implementation with no Busy waiting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BAAB2-A813-4301-A5B7-3B038A88B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4999"/>
            <a:ext cx="8915400" cy="4782403"/>
          </a:xfrm>
        </p:spPr>
        <p:txBody>
          <a:bodyPr>
            <a:normAutofit fontScale="92500" lnSpcReduction="20000"/>
          </a:bodyPr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wait(semaphore *S) 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S-&gt;value--;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if (S-&gt;value &lt; 0) {</a:t>
            </a:r>
            <a:b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add this process to S-&gt;list;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block();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 typeface="Monotype Sorts" pitchFamily="-84" charset="2"/>
              <a:buNone/>
            </a:pPr>
            <a:endParaRPr lang="en-US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signal(semaphore *S) 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S-&gt;value++;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if (S-&gt;value &lt;= 0) {</a:t>
            </a:r>
            <a:b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remove a process P from S-&gt;list;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wakeup(P);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794416-0A62-7210-193E-86DBB8564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2360077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9E3D7-590A-405D-8B29-22AB45BC6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Dining-Philosophers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ABEC5-F53D-4D51-B6CF-AF63AC43B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365250" algn="l"/>
                <a:tab pos="1538288" algn="l"/>
              </a:tabLst>
            </a:pPr>
            <a:r>
              <a:rPr lang="en-US" altLang="en-US" sz="1600" dirty="0"/>
              <a:t>Philosophers spend their lives alternating thinking and eating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sz="1600" dirty="0"/>
              <a:t>Don’</a:t>
            </a:r>
            <a:r>
              <a:rPr lang="en-US" altLang="ja-JP" sz="1600" dirty="0"/>
              <a:t>t interact with their neighbors, occasionally try to pick up 2 chopsticks (one at a time) to eat from bowl</a:t>
            </a:r>
          </a:p>
          <a:p>
            <a:pPr lvl="1">
              <a:tabLst>
                <a:tab pos="1365250" algn="l"/>
                <a:tab pos="1538288" algn="l"/>
              </a:tabLst>
            </a:pPr>
            <a:r>
              <a:rPr lang="en-US" altLang="en-US" sz="1600" dirty="0"/>
              <a:t>Need both to eat, then release both when done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sz="1600" dirty="0"/>
              <a:t>In the case of 5 philosophers</a:t>
            </a:r>
          </a:p>
          <a:p>
            <a:pPr lvl="1">
              <a:tabLst>
                <a:tab pos="1365250" algn="l"/>
                <a:tab pos="1538288" algn="l"/>
              </a:tabLst>
            </a:pPr>
            <a:r>
              <a:rPr lang="en-US" altLang="en-US" sz="1600" dirty="0"/>
              <a:t>Shared data </a:t>
            </a:r>
          </a:p>
          <a:p>
            <a:pPr lvl="2">
              <a:tabLst>
                <a:tab pos="1365250" algn="l"/>
                <a:tab pos="1538288" algn="l"/>
              </a:tabLst>
            </a:pPr>
            <a:r>
              <a:rPr lang="en-US" altLang="en-US" sz="1600" dirty="0"/>
              <a:t>Bowl of rice (data set)</a:t>
            </a:r>
          </a:p>
          <a:p>
            <a:pPr lvl="2">
              <a:tabLst>
                <a:tab pos="1365250" algn="l"/>
                <a:tab pos="1538288" algn="l"/>
              </a:tabLst>
            </a:pPr>
            <a:r>
              <a:rPr lang="en-US" altLang="en-US" sz="1600" dirty="0"/>
              <a:t>Semaphore </a:t>
            </a:r>
            <a:r>
              <a:rPr lang="en-US" altLang="en-US" sz="1600" dirty="0">
                <a:solidFill>
                  <a:srgbClr val="FF0000"/>
                </a:solidFill>
              </a:rPr>
              <a:t>chopstick [5]</a:t>
            </a:r>
            <a:r>
              <a:rPr lang="en-US" altLang="en-US" sz="1600" dirty="0"/>
              <a:t> initialized to 1</a:t>
            </a:r>
          </a:p>
          <a:p>
            <a:endParaRPr lang="en-US" dirty="0"/>
          </a:p>
        </p:txBody>
      </p:sp>
      <p:pic>
        <p:nvPicPr>
          <p:cNvPr id="4" name="Picture 5" descr="6">
            <a:extLst>
              <a:ext uri="{FF2B5EF4-FFF2-40B4-BE49-F238E27FC236}">
                <a16:creationId xmlns:a16="http://schemas.microsoft.com/office/drawing/2014/main" id="{1D215D17-27AE-444B-83A0-90908E091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869" y="3523068"/>
            <a:ext cx="2822420" cy="2710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D8240-CDBE-4ADA-D159-4437511A6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3529992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6C38E-0723-4CA9-A67A-D18E53590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 Dining-Philosophers Problem 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0B848-AC75-4403-9168-02D9F5973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760561"/>
            <a:ext cx="8915400" cy="4817660"/>
          </a:xfrm>
        </p:spPr>
        <p:txBody>
          <a:bodyPr>
            <a:normAutofit lnSpcReduction="10000"/>
          </a:bodyPr>
          <a:lstStyle/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The structure of Philosopher</a:t>
            </a:r>
            <a:r>
              <a:rPr lang="en-US" altLang="en-US" i="1" dirty="0">
                <a:solidFill>
                  <a:srgbClr val="0000FF"/>
                </a:solidFill>
              </a:rPr>
              <a:t> i</a:t>
            </a:r>
            <a:r>
              <a:rPr lang="en-US" altLang="en-US" dirty="0"/>
              <a:t>: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do { 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wait (chopstick[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wait 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chopStick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[ 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+ 1) % 5] 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     //  eat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signal (chopstick[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signal (chopstick[ 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+ 1) % 5] 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//  think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 while (TRUE);</a:t>
            </a:r>
            <a:endParaRPr lang="en-US" altLang="en-US" sz="1600" dirty="0">
              <a:solidFill>
                <a:srgbClr val="0000FF"/>
              </a:solidFill>
            </a:endParaRPr>
          </a:p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  What is the problem with this algorithm?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dirty="0">
              <a:solidFill>
                <a:srgbClr val="0000FF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76C8E7-49C3-6B35-722C-5CD6F7DAB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3812856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E6820-BD8C-4BCE-A428-CB6DB082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Dining-Philosophers Problem Algorithm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D2227-5AE3-4CEB-A0C1-01D118362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553803"/>
          </a:xfrm>
        </p:spPr>
        <p:txBody>
          <a:bodyPr/>
          <a:lstStyle/>
          <a:p>
            <a:r>
              <a:rPr lang="en-US" altLang="en-US" dirty="0"/>
              <a:t>Deadlock handling</a:t>
            </a:r>
          </a:p>
          <a:p>
            <a:pPr lvl="1"/>
            <a:r>
              <a:rPr lang="en-US" altLang="en-US" dirty="0"/>
              <a:t> Allow at most 4 philosophers to be sitting simultaneously at  the table.</a:t>
            </a:r>
          </a:p>
          <a:p>
            <a:pPr lvl="1"/>
            <a:r>
              <a:rPr lang="en-US" altLang="en-US" dirty="0"/>
              <a:t> Allow a philosopher to pick up  the forks only if both are available (picking must be done in a critical section.</a:t>
            </a:r>
          </a:p>
          <a:p>
            <a:pPr lvl="1"/>
            <a:r>
              <a:rPr lang="en-US" altLang="en-US" dirty="0"/>
              <a:t> Use an asymmetric solution  -- an odd-numbered  philosopher picks  up first the left chopstick and then the right chopstick. Even-numbered  philosopher picks  up first the right chopstick and then the left chopstick.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AB2D29-EA89-B2FB-9D7F-C66A586A9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29903759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A68AA-9C32-4E25-A94E-98BF2EC0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Monitors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ABE48-AA54-4FF1-BE2B-19F33006B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19367"/>
            <a:ext cx="8915400" cy="5336275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sz="1600" dirty="0"/>
              <a:t>A high-level abstraction that provides a convenient and effective mechanism for process synchronization</a:t>
            </a:r>
          </a:p>
          <a:p>
            <a:pPr>
              <a:lnSpc>
                <a:spcPct val="80000"/>
              </a:lnSpc>
            </a:pPr>
            <a:r>
              <a:rPr lang="en-US" altLang="en-US" sz="1600" i="1" dirty="0"/>
              <a:t>Abstract data type</a:t>
            </a:r>
            <a:r>
              <a:rPr lang="en-US" altLang="en-US" sz="1600" dirty="0"/>
              <a:t>, internal variables only accessible by code within the procedure</a:t>
            </a:r>
          </a:p>
          <a:p>
            <a:pPr>
              <a:lnSpc>
                <a:spcPct val="80000"/>
              </a:lnSpc>
            </a:pPr>
            <a:r>
              <a:rPr lang="en-US" altLang="en-US" sz="1600" dirty="0"/>
              <a:t>Only one process may be active within the monitor at a time</a:t>
            </a:r>
          </a:p>
          <a:p>
            <a:pPr>
              <a:lnSpc>
                <a:spcPct val="80000"/>
              </a:lnSpc>
            </a:pPr>
            <a:r>
              <a:rPr lang="en-US" altLang="en-US" sz="1600" dirty="0"/>
              <a:t>But not powerful enough to model some synchronization schemes</a:t>
            </a:r>
          </a:p>
          <a:p>
            <a:pPr lvl="2">
              <a:lnSpc>
                <a:spcPct val="80000"/>
              </a:lnSpc>
              <a:buFont typeface="Webdings" panose="05030102010509060703" pitchFamily="18" charset="2"/>
              <a:buNone/>
            </a:pPr>
            <a:endParaRPr lang="en-US" altLang="en-US" sz="1400" dirty="0">
              <a:solidFill>
                <a:srgbClr val="0000FF"/>
              </a:solidFill>
            </a:endParaRPr>
          </a:p>
          <a:p>
            <a:pPr lvl="2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monitor monitor-name</a:t>
            </a:r>
          </a:p>
          <a:p>
            <a:pPr lvl="2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lvl="2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// shared variable declarations</a:t>
            </a:r>
          </a:p>
          <a:p>
            <a:pPr lvl="2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procedure P1 (…) { …. }</a:t>
            </a:r>
          </a:p>
          <a:p>
            <a:pPr lvl="2">
              <a:lnSpc>
                <a:spcPct val="80000"/>
              </a:lnSpc>
              <a:buFont typeface="Webdings" panose="05030102010509060703" pitchFamily="18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procedure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Pn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(…) {……}</a:t>
            </a:r>
          </a:p>
          <a:p>
            <a:pPr lvl="2">
              <a:lnSpc>
                <a:spcPct val="80000"/>
              </a:lnSpc>
              <a:buFont typeface="Webdings" panose="05030102010509060703" pitchFamily="18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Initialization code (…) { … }</a:t>
            </a:r>
          </a:p>
          <a:p>
            <a:pPr lvl="2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 lvl="2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F35E28-643D-386B-D430-3A78C310C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21061473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71598-CC76-4DAF-9753-AB05C3DBB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Schematic view of a Monitor</a:t>
            </a:r>
            <a:endParaRPr lang="en-US" dirty="0"/>
          </a:p>
        </p:txBody>
      </p:sp>
      <p:pic>
        <p:nvPicPr>
          <p:cNvPr id="4" name="Picture 4" descr="6">
            <a:extLst>
              <a:ext uri="{FF2B5EF4-FFF2-40B4-BE49-F238E27FC236}">
                <a16:creationId xmlns:a16="http://schemas.microsoft.com/office/drawing/2014/main" id="{E515A576-180D-430C-8490-89B1463F3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832" y="1264555"/>
            <a:ext cx="4926013" cy="468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CD439-A2E5-543B-0973-FDC5E2F30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- Prepared by: Rishav Acharya</a:t>
            </a:r>
          </a:p>
        </p:txBody>
      </p:sp>
    </p:spTree>
    <p:extLst>
      <p:ext uri="{BB962C8B-B14F-4D97-AF65-F5344CB8AC3E}">
        <p14:creationId xmlns:p14="http://schemas.microsoft.com/office/powerpoint/2010/main" val="300359491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</TotalTime>
  <Words>1605</Words>
  <Application>Microsoft Office PowerPoint</Application>
  <PresentationFormat>Widescreen</PresentationFormat>
  <Paragraphs>218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Century Gothic</vt:lpstr>
      <vt:lpstr>Courier New</vt:lpstr>
      <vt:lpstr>Helvetica</vt:lpstr>
      <vt:lpstr>Monotype Sorts</vt:lpstr>
      <vt:lpstr>Webdings</vt:lpstr>
      <vt:lpstr>Wingdings 3</vt:lpstr>
      <vt:lpstr>Wisp</vt:lpstr>
      <vt:lpstr>Unit 2 – Process Management</vt:lpstr>
      <vt:lpstr>Process Concept</vt:lpstr>
      <vt:lpstr>Process Concept (contd.)</vt:lpstr>
      <vt:lpstr>Schedulers</vt:lpstr>
      <vt:lpstr>Schedulers (contd.)</vt:lpstr>
      <vt:lpstr>Process Creation</vt:lpstr>
      <vt:lpstr>A tree of process</vt:lpstr>
      <vt:lpstr>Process Creation (Cont.)</vt:lpstr>
      <vt:lpstr>C Program Forking Separate Process</vt:lpstr>
      <vt:lpstr>Process Termination</vt:lpstr>
      <vt:lpstr>Process Termination</vt:lpstr>
      <vt:lpstr>Single and Multithreaded Processes</vt:lpstr>
      <vt:lpstr>Pthreads</vt:lpstr>
      <vt:lpstr>Pthreads - Example</vt:lpstr>
      <vt:lpstr>Pthreads Example (Cont.)</vt:lpstr>
      <vt:lpstr>Java Threads</vt:lpstr>
      <vt:lpstr>Java Multithreaded Program</vt:lpstr>
      <vt:lpstr>Java Multithreaded Program (Cont.)</vt:lpstr>
      <vt:lpstr>Semaphore</vt:lpstr>
      <vt:lpstr>Semaphore Usage</vt:lpstr>
      <vt:lpstr>Semaphore Implementation</vt:lpstr>
      <vt:lpstr>Semaphore Implementation with no Busy waiting </vt:lpstr>
      <vt:lpstr>Implementation with no Busy waiting (Cont.)</vt:lpstr>
      <vt:lpstr>Dining-Philosophers Problem</vt:lpstr>
      <vt:lpstr> Dining-Philosophers Problem Algorithm</vt:lpstr>
      <vt:lpstr>Dining-Philosophers Problem Algorithm (Cont.)</vt:lpstr>
      <vt:lpstr>Monitors</vt:lpstr>
      <vt:lpstr>Schematic view of a Monitor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-2 Process Management</dc:title>
  <dc:creator>Rishav Acharya</dc:creator>
  <cp:lastModifiedBy>Rishav</cp:lastModifiedBy>
  <cp:revision>8</cp:revision>
  <dcterms:created xsi:type="dcterms:W3CDTF">2023-02-10T11:44:57Z</dcterms:created>
  <dcterms:modified xsi:type="dcterms:W3CDTF">2023-02-11T13:14:05Z</dcterms:modified>
</cp:coreProperties>
</file>