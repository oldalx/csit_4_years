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  <p:sldId id="275" r:id="rId22"/>
    <p:sldId id="276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DA310-274C-4DA4-A241-F451B7B26425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8FB95BB-D4CF-4310-806A-C383C1F79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51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DA310-274C-4DA4-A241-F451B7B26425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95BB-D4CF-4310-806A-C383C1F79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670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DA310-274C-4DA4-A241-F451B7B26425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8FB95BB-D4CF-4310-806A-C383C1F79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059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DA310-274C-4DA4-A241-F451B7B26425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8FB95BB-D4CF-4310-806A-C383C1F79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072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DA310-274C-4DA4-A241-F451B7B26425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8FB95BB-D4CF-4310-806A-C383C1F79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270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DA310-274C-4DA4-A241-F451B7B26425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95BB-D4CF-4310-806A-C383C1F79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447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DA310-274C-4DA4-A241-F451B7B26425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95BB-D4CF-4310-806A-C383C1F79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35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DA310-274C-4DA4-A241-F451B7B26425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95BB-D4CF-4310-806A-C383C1F79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678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DA310-274C-4DA4-A241-F451B7B26425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8FB95BB-D4CF-4310-806A-C383C1F79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835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DA310-274C-4DA4-A241-F451B7B26425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8FB95BB-D4CF-4310-806A-C383C1F79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73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DA310-274C-4DA4-A241-F451B7B26425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8FB95BB-D4CF-4310-806A-C383C1F799BA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3845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DA310-274C-4DA4-A241-F451B7B26425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8FB95BB-D4CF-4310-806A-C383C1F79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7340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DA310-274C-4DA4-A241-F451B7B26425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8FB95BB-D4CF-4310-806A-C383C1F799BA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378337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DA310-274C-4DA4-A241-F451B7B26425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8FB95BB-D4CF-4310-806A-C383C1F79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5227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DA310-274C-4DA4-A241-F451B7B26425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95BB-D4CF-4310-806A-C383C1F79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162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DA310-274C-4DA4-A241-F451B7B26425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95BB-D4CF-4310-806A-C383C1F79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80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DA310-274C-4DA4-A241-F451B7B26425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8FB95BB-D4CF-4310-806A-C383C1F79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29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8D59B-BE46-455D-BDF5-52D63DFF62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6509" y="2910385"/>
            <a:ext cx="8915399" cy="2262781"/>
          </a:xfrm>
        </p:spPr>
        <p:txBody>
          <a:bodyPr/>
          <a:lstStyle/>
          <a:p>
            <a:r>
              <a:rPr lang="en-US" dirty="0"/>
              <a:t>Unit 3 - Process Deadlock</a:t>
            </a:r>
          </a:p>
        </p:txBody>
      </p:sp>
    </p:spTree>
    <p:extLst>
      <p:ext uri="{BB962C8B-B14F-4D97-AF65-F5344CB8AC3E}">
        <p14:creationId xmlns:p14="http://schemas.microsoft.com/office/powerpoint/2010/main" val="999247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E20BC-72F0-41C9-8400-71ECF7A04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5CD2B-9EE9-4C2E-B015-673F4F8BA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40189"/>
            <a:ext cx="8915400" cy="3777622"/>
          </a:xfrm>
        </p:spPr>
        <p:txBody>
          <a:bodyPr>
            <a:normAutofit/>
          </a:bodyPr>
          <a:lstStyle/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consists of resources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types 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2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2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. . ., 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2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  <a:p>
            <a:pPr lvl="2">
              <a:buFont typeface="Webdings" panose="05030102010509060703" pitchFamily="18" charset="2"/>
              <a:buNone/>
            </a:pP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 cycles, memory space, I/O devices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resource type 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2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has 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en-US" sz="2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instances.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process utilizes a resource as follows:</a:t>
            </a:r>
          </a:p>
          <a:p>
            <a:pPr lvl="1"/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 </a:t>
            </a:r>
          </a:p>
          <a:p>
            <a:pPr lvl="1"/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</a:p>
          <a:p>
            <a:pPr lvl="1"/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release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971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089D6-02EF-458E-9B3F-AE938F357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04250-94F1-4345-ABF5-2E4441BF7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540189"/>
            <a:ext cx="8915400" cy="377762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process in a multiprogramming system is said to be in dead lock if it is waiting for a particular event that will never occur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627063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automobiles trying to cross</a:t>
            </a:r>
          </a:p>
          <a:p>
            <a:pPr marL="627063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Traffic Completely stopped</a:t>
            </a:r>
          </a:p>
          <a:p>
            <a:pPr marL="627063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possible without backing some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53302B-FD12-44DD-82AE-E78286042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456" y="2444504"/>
            <a:ext cx="4381572" cy="4215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835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ED3E2-8987-41CF-8551-A0C1FFE3C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Deadlock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EC101-687A-4711-81CC-6FAC0B8B5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396621"/>
            <a:ext cx="8915400" cy="377762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process request a resource before using it, and release after using it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resource is not available when it is requested, the requesting process is force to wait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P1 holds resource R1 and needs resource R2 to continue; Process P2 holds resource R2 and needs resource R1 to continue – deadlock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36FDA2-DCEB-46C9-82E5-5D56BD708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902" y="3429000"/>
            <a:ext cx="5953125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675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60C65-E4C0-46FB-A712-EB4821AC9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Deadlock Characterization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3845C-13BC-4FD4-9657-55864379C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6132" y="1264555"/>
            <a:ext cx="8915400" cy="5390865"/>
          </a:xfrm>
        </p:spPr>
        <p:txBody>
          <a:bodyPr>
            <a:normAutofit/>
          </a:bodyPr>
          <a:lstStyle/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Deadlock can arise if four conditions hold simultaneously.</a:t>
            </a:r>
          </a:p>
          <a:p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2625">
              <a:buFont typeface="Wingdings" panose="05000000000000000000" pitchFamily="2" charset="2"/>
              <a:buChar char="Ø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exclusion: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only one process at a time can use a resource</a:t>
            </a:r>
          </a:p>
          <a:p>
            <a:pPr marL="682625"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2625">
              <a:buFont typeface="Wingdings" panose="05000000000000000000" pitchFamily="2" charset="2"/>
              <a:buChar char="Ø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Hold and wait: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 process holding at least one resource is waiting to acquire additional resources held by other processes</a:t>
            </a:r>
          </a:p>
          <a:p>
            <a:pPr marL="682625"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2625">
              <a:buFont typeface="Wingdings" panose="05000000000000000000" pitchFamily="2" charset="2"/>
              <a:buChar char="Ø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preemption: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 resource can be released only voluntarily by the process holding it, after that process has completed its task</a:t>
            </a:r>
          </a:p>
          <a:p>
            <a:pPr marL="682625">
              <a:buFont typeface="Wingdings" panose="05000000000000000000" pitchFamily="2" charset="2"/>
              <a:buChar char="Ø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2625">
              <a:buFont typeface="Wingdings" panose="05000000000000000000" pitchFamily="2" charset="2"/>
              <a:buChar char="Ø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Circular wait: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there exists a set {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n-US" altLang="en-US" sz="2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000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of waiting processes such that 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waiting for a resource that is held by 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waiting for a resource that is held by 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n-US" altLang="en-US" sz="2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00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waiting for a resource that is held by </a:t>
            </a:r>
            <a:r>
              <a:rPr lang="en-US" altLang="en-US" sz="2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000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2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000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waiting for a resource that is held by 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075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69A4B-F9A2-4386-9D41-2A9AAA7E8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Resource-Allocation Graph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8BB6C-C9B6-4F14-B6B5-370401CBD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set of vertices 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a set of edges 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is partitioned into two types:</a:t>
            </a:r>
          </a:p>
          <a:p>
            <a:pPr lvl="1"/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n-US" altLang="en-US" sz="2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00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 the set consisting of all the processes in the system</a:t>
            </a:r>
            <a:b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2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2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20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 the set consisting of all resource types in the system</a:t>
            </a:r>
          </a:p>
          <a:p>
            <a:pPr lvl="1"/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 edge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directed edge 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0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en-US" sz="2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00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endParaRPr lang="en-US" altLang="en-US" sz="200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en-US" altLang="en-US" sz="2000" i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assignment edge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directed edge </a:t>
            </a:r>
            <a:r>
              <a:rPr lang="en-US" altLang="en-US" sz="2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200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0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77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35153-42B9-4697-8240-B2BFADDAB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Resource-Allocation Graph (Cont.)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BDDBB-6433-4EF0-B45E-ED351DC10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100290"/>
          </a:xfrm>
        </p:spPr>
        <p:txBody>
          <a:bodyPr>
            <a:normAutofit/>
          </a:bodyPr>
          <a:lstStyle/>
          <a:p>
            <a:r>
              <a:rPr lang="en-US" altLang="en-US" dirty="0"/>
              <a:t>Process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Resource Type with 4 instances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endParaRPr lang="en-US" altLang="en-US" dirty="0"/>
          </a:p>
          <a:p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requests instance of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endParaRPr lang="en-US" altLang="en-US" dirty="0"/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is holding an instance of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endParaRPr lang="en-US" altLang="en-US" i="1" dirty="0"/>
          </a:p>
          <a:p>
            <a:endParaRPr lang="en-US" dirty="0"/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848FDDB8-6BB1-481F-8CD2-18185C87E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5822" y="1982538"/>
            <a:ext cx="495300" cy="495300"/>
          </a:xfrm>
          <a:prstGeom prst="ellipse">
            <a:avLst/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dirty="0"/>
          </a:p>
        </p:txBody>
      </p:sp>
      <p:grpSp>
        <p:nvGrpSpPr>
          <p:cNvPr id="5" name="Group 12">
            <a:extLst>
              <a:ext uri="{FF2B5EF4-FFF2-40B4-BE49-F238E27FC236}">
                <a16:creationId xmlns:a16="http://schemas.microsoft.com/office/drawing/2014/main" id="{181AB218-D4F8-47CB-8BFE-535161B7D93D}"/>
              </a:ext>
            </a:extLst>
          </p:cNvPr>
          <p:cNvGrpSpPr>
            <a:grpSpLocks/>
          </p:cNvGrpSpPr>
          <p:nvPr/>
        </p:nvGrpSpPr>
        <p:grpSpPr bwMode="auto">
          <a:xfrm>
            <a:off x="7635875" y="3219450"/>
            <a:ext cx="438150" cy="419100"/>
            <a:chOff x="2666" y="1966"/>
            <a:chExt cx="276" cy="264"/>
          </a:xfrm>
          <a:solidFill>
            <a:srgbClr val="CCECFF"/>
          </a:solidFill>
        </p:grpSpPr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9CD9B55F-625E-47AF-9229-A81B8887B0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6" y="1966"/>
              <a:ext cx="276" cy="26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ABA62AEA-A51E-4B3C-BD82-4E3135DF20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3180E8CC-EEDA-46CD-A90F-D583E7B15C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E13C2410-4CBB-4CCE-BC83-DEB2AB3FA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08A3674B-5388-44EC-8ECA-66A5D7F31A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FACED86-CD70-4113-9153-9DD3622A41B6}"/>
              </a:ext>
            </a:extLst>
          </p:cNvPr>
          <p:cNvGrpSpPr/>
          <p:nvPr/>
        </p:nvGrpSpPr>
        <p:grpSpPr>
          <a:xfrm>
            <a:off x="6842872" y="4286506"/>
            <a:ext cx="1238250" cy="773563"/>
            <a:chOff x="6246812" y="4301148"/>
            <a:chExt cx="1238250" cy="773563"/>
          </a:xfrm>
        </p:grpSpPr>
        <p:grpSp>
          <p:nvGrpSpPr>
            <p:cNvPr id="11" name="Group 13">
              <a:extLst>
                <a:ext uri="{FF2B5EF4-FFF2-40B4-BE49-F238E27FC236}">
                  <a16:creationId xmlns:a16="http://schemas.microsoft.com/office/drawing/2014/main" id="{84827E0E-5C24-4C8D-B63F-1EBE69104C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46912" y="4323373"/>
              <a:ext cx="438150" cy="419100"/>
              <a:chOff x="2666" y="1966"/>
              <a:chExt cx="276" cy="264"/>
            </a:xfrm>
            <a:solidFill>
              <a:srgbClr val="CCECFF"/>
            </a:solidFill>
          </p:grpSpPr>
          <p:sp>
            <p:nvSpPr>
              <p:cNvPr id="12" name="Rectangle 14">
                <a:extLst>
                  <a:ext uri="{FF2B5EF4-FFF2-40B4-BE49-F238E27FC236}">
                    <a16:creationId xmlns:a16="http://schemas.microsoft.com/office/drawing/2014/main" id="{FFF27597-10FD-4629-94BA-7ACABE667F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6" y="1966"/>
                <a:ext cx="276" cy="264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A212B9F2-028A-404F-83BB-B3B074BAE6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2026"/>
                <a:ext cx="47" cy="47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4" name="Rectangle 16">
                <a:extLst>
                  <a:ext uri="{FF2B5EF4-FFF2-40B4-BE49-F238E27FC236}">
                    <a16:creationId xmlns:a16="http://schemas.microsoft.com/office/drawing/2014/main" id="{90013570-835F-45C5-B457-6A6517FAD9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2026"/>
                <a:ext cx="47" cy="47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5" name="Rectangle 17">
                <a:extLst>
                  <a:ext uri="{FF2B5EF4-FFF2-40B4-BE49-F238E27FC236}">
                    <a16:creationId xmlns:a16="http://schemas.microsoft.com/office/drawing/2014/main" id="{664A7494-5870-4E4F-A019-CF832938A9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2108"/>
                <a:ext cx="47" cy="47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6" name="Rectangle 18">
                <a:extLst>
                  <a:ext uri="{FF2B5EF4-FFF2-40B4-BE49-F238E27FC236}">
                    <a16:creationId xmlns:a16="http://schemas.microsoft.com/office/drawing/2014/main" id="{F9EE6E86-84F8-410E-B3E6-401D0AF09C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2108"/>
                <a:ext cx="47" cy="47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sp>
          <p:nvSpPr>
            <p:cNvPr id="17" name="Line 19">
              <a:extLst>
                <a:ext uri="{FF2B5EF4-FFF2-40B4-BE49-F238E27FC236}">
                  <a16:creationId xmlns:a16="http://schemas.microsoft.com/office/drawing/2014/main" id="{F300A62C-CA29-457A-A880-870C5FBD24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2112" y="4532923"/>
              <a:ext cx="304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Oval 6">
              <a:extLst>
                <a:ext uri="{FF2B5EF4-FFF2-40B4-BE49-F238E27FC236}">
                  <a16:creationId xmlns:a16="http://schemas.microsoft.com/office/drawing/2014/main" id="{980F1946-B9B0-42E8-A498-EB0B6B8EB9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6812" y="4301148"/>
              <a:ext cx="495300" cy="495300"/>
            </a:xfrm>
            <a:prstGeom prst="ellipse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i="1" dirty="0">
                  <a:latin typeface="Helvetica" panose="020B0604020202020204" pitchFamily="34" charset="0"/>
                </a:rPr>
                <a:t>P</a:t>
              </a:r>
              <a:r>
                <a:rPr lang="en-US" altLang="en-US" i="1" baseline="-25000" dirty="0">
                  <a:latin typeface="Helvetica" panose="020B0604020202020204" pitchFamily="34" charset="0"/>
                </a:rPr>
                <a:t>i</a:t>
              </a:r>
              <a:endParaRPr lang="en-US" altLang="en-US" i="1" dirty="0">
                <a:latin typeface="Helvetica" panose="020B0604020202020204" pitchFamily="34" charset="0"/>
              </a:endParaRPr>
            </a:p>
          </p:txBody>
        </p:sp>
        <p:sp>
          <p:nvSpPr>
            <p:cNvPr id="19" name="Text Box 20">
              <a:extLst>
                <a:ext uri="{FF2B5EF4-FFF2-40B4-BE49-F238E27FC236}">
                  <a16:creationId xmlns:a16="http://schemas.microsoft.com/office/drawing/2014/main" id="{6A5BD6EF-75AD-4F6D-95F9-83384A117B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6274" y="4769911"/>
              <a:ext cx="33813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400" i="1" dirty="0" err="1">
                  <a:latin typeface="Helvetica" panose="020B0604020202020204" pitchFamily="34" charset="0"/>
                </a:rPr>
                <a:t>R</a:t>
              </a:r>
              <a:r>
                <a:rPr lang="en-US" altLang="en-US" sz="1400" i="1" baseline="-25000" dirty="0" err="1">
                  <a:latin typeface="Helvetica" panose="020B0604020202020204" pitchFamily="34" charset="0"/>
                </a:rPr>
                <a:t>j</a:t>
              </a:r>
              <a:endParaRPr lang="en-US" altLang="en-US" sz="1400" i="1" dirty="0">
                <a:latin typeface="Helvetica" panose="020B0604020202020204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94259BD-C429-4D74-9DAA-AE90117787C6}"/>
              </a:ext>
            </a:extLst>
          </p:cNvPr>
          <p:cNvGrpSpPr/>
          <p:nvPr/>
        </p:nvGrpSpPr>
        <p:grpSpPr>
          <a:xfrm>
            <a:off x="6690519" y="5553830"/>
            <a:ext cx="1389062" cy="1110231"/>
            <a:chOff x="6096000" y="5618959"/>
            <a:chExt cx="1389062" cy="1110231"/>
          </a:xfrm>
        </p:grpSpPr>
        <p:grpSp>
          <p:nvGrpSpPr>
            <p:cNvPr id="21" name="Group 21">
              <a:extLst>
                <a:ext uri="{FF2B5EF4-FFF2-40B4-BE49-F238E27FC236}">
                  <a16:creationId xmlns:a16="http://schemas.microsoft.com/office/drawing/2014/main" id="{FBC64AB0-FB38-4643-B2FA-B16E5C57E8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46912" y="5618959"/>
              <a:ext cx="438150" cy="419100"/>
              <a:chOff x="2666" y="1966"/>
              <a:chExt cx="276" cy="264"/>
            </a:xfrm>
            <a:solidFill>
              <a:srgbClr val="CCECFF"/>
            </a:solidFill>
          </p:grpSpPr>
          <p:sp>
            <p:nvSpPr>
              <p:cNvPr id="22" name="Rectangle 22">
                <a:extLst>
                  <a:ext uri="{FF2B5EF4-FFF2-40B4-BE49-F238E27FC236}">
                    <a16:creationId xmlns:a16="http://schemas.microsoft.com/office/drawing/2014/main" id="{F2EF9CFD-1CA2-4622-80FF-507D15D0B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6" y="1966"/>
                <a:ext cx="276" cy="264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23" name="Rectangle 23">
                <a:extLst>
                  <a:ext uri="{FF2B5EF4-FFF2-40B4-BE49-F238E27FC236}">
                    <a16:creationId xmlns:a16="http://schemas.microsoft.com/office/drawing/2014/main" id="{3E95AA21-BDE0-47BB-9A39-3ED86DF280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2026"/>
                <a:ext cx="47" cy="47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24" name="Rectangle 24">
                <a:extLst>
                  <a:ext uri="{FF2B5EF4-FFF2-40B4-BE49-F238E27FC236}">
                    <a16:creationId xmlns:a16="http://schemas.microsoft.com/office/drawing/2014/main" id="{F9D74D39-F3C0-40F7-B132-DF07E6455B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2026"/>
                <a:ext cx="47" cy="47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25" name="Rectangle 25">
                <a:extLst>
                  <a:ext uri="{FF2B5EF4-FFF2-40B4-BE49-F238E27FC236}">
                    <a16:creationId xmlns:a16="http://schemas.microsoft.com/office/drawing/2014/main" id="{020ABE44-693A-4BBE-BC4E-AFFF52E7D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2108"/>
                <a:ext cx="47" cy="47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26" name="Rectangle 26">
                <a:extLst>
                  <a:ext uri="{FF2B5EF4-FFF2-40B4-BE49-F238E27FC236}">
                    <a16:creationId xmlns:a16="http://schemas.microsoft.com/office/drawing/2014/main" id="{3C625993-D96E-4703-857E-0FF464CFE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2108"/>
                <a:ext cx="47" cy="47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sp>
          <p:nvSpPr>
            <p:cNvPr id="27" name="Oval 5">
              <a:extLst>
                <a:ext uri="{FF2B5EF4-FFF2-40B4-BE49-F238E27FC236}">
                  <a16:creationId xmlns:a16="http://schemas.microsoft.com/office/drawing/2014/main" id="{AF81E638-4DFA-4525-8F3F-2ACD6BBB6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6233890"/>
              <a:ext cx="495300" cy="495300"/>
            </a:xfrm>
            <a:prstGeom prst="ellipse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i="1">
                  <a:latin typeface="Helvetica" panose="020B0604020202020204" pitchFamily="34" charset="0"/>
                </a:rPr>
                <a:t>P</a:t>
              </a:r>
              <a:r>
                <a:rPr lang="en-US" altLang="en-US" i="1" baseline="-25000">
                  <a:latin typeface="Helvetica" panose="020B0604020202020204" pitchFamily="34" charset="0"/>
                </a:rPr>
                <a:t>i</a:t>
              </a:r>
              <a:endParaRPr lang="en-US" altLang="en-US">
                <a:latin typeface="Helvetica" panose="020B0604020202020204" pitchFamily="34" charset="0"/>
              </a:endParaRPr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601648E2-9202-4869-A62B-B78FCD9E48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91300" y="6113122"/>
              <a:ext cx="476250" cy="104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Text Box 28">
              <a:extLst>
                <a:ext uri="{FF2B5EF4-FFF2-40B4-BE49-F238E27FC236}">
                  <a16:creationId xmlns:a16="http://schemas.microsoft.com/office/drawing/2014/main" id="{CE76D410-05CE-4B31-8C5F-9B4EEBD74D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41368" y="6048814"/>
              <a:ext cx="33813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400" i="1">
                  <a:latin typeface="Helvetica" panose="020B0604020202020204" pitchFamily="34" charset="0"/>
                </a:rPr>
                <a:t>R</a:t>
              </a:r>
              <a:r>
                <a:rPr lang="en-US" altLang="en-US" sz="1400" i="1" baseline="-25000">
                  <a:latin typeface="Helvetica" panose="020B0604020202020204" pitchFamily="34" charset="0"/>
                </a:rPr>
                <a:t>j</a:t>
              </a:r>
              <a:endParaRPr lang="en-US" altLang="en-US" sz="1400" i="1">
                <a:latin typeface="Helvetica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0089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60421-B55E-4A17-A19E-963C79143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of a Resource Allocation Graph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1032">
            <a:extLst>
              <a:ext uri="{FF2B5EF4-FFF2-40B4-BE49-F238E27FC236}">
                <a16:creationId xmlns:a16="http://schemas.microsoft.com/office/drawing/2014/main" id="{C877B3E4-249B-4E0B-BF16-C46AC9197AE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87" t="926" r="25287" b="1532"/>
          <a:stretch>
            <a:fillRect/>
          </a:stretch>
        </p:blipFill>
        <p:spPr bwMode="auto">
          <a:xfrm>
            <a:off x="5224672" y="1696872"/>
            <a:ext cx="2552661" cy="377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0502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16A0D-31B4-4390-9FCA-49786678B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Allocation Graph With A Deadlock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193327CD-45CC-4798-BA48-8922B920D51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2039" y="1905000"/>
            <a:ext cx="2564217" cy="377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254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B4B6A-0388-4217-87C6-53993647F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Facts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04C39-843F-4691-A88B-8844B05AE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55928"/>
            <a:ext cx="8915400" cy="3777622"/>
          </a:xfrm>
        </p:spPr>
        <p:txBody>
          <a:bodyPr>
            <a:normAutofit/>
          </a:bodyPr>
          <a:lstStyle/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graph contains no cycles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no deadlock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If graph contains a cycle 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if only one instance per resource type, then deadlock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if several instances per resource type, possibility of deadlock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407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13BF6-9312-43DA-8CF8-B4BF6BE0B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 for Handling Deadlocks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99DB2-BAF2-417F-ACAB-12F8DEA6B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that the system will </a:t>
            </a:r>
            <a:r>
              <a:rPr lang="en-US" altLang="en-US" sz="2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never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enter a deadlock state: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Deadlock prevention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Deadlock avoidance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 the system to enter a deadlock state and then recover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Ignore the problem and pretend that deadlocks never occur in the system; used by most operating systems, including UNIX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291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11076-5FBA-4DAD-8378-E492978F8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Deadlock Prevention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B52ED-2960-48B5-943D-E0E22FC58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not required for sharable resources (e.g., read-only files); must hold for non-sharable resources</a:t>
            </a:r>
          </a:p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Hold and Wait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must guarantee that whenever a process requests a resource, it does not hold any other resources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 process to request and be allocated all its resources before it begins execution, or allow process to request resources only when the process has none allocated to it.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resource utilization; starvation possible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986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41DA6-EB39-4E9B-A730-35C76363B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Deadlock Prevention (contd.)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F5DA1-7B65-4C00-827C-85B55B1F0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294496"/>
          </a:xfrm>
        </p:spPr>
        <p:txBody>
          <a:bodyPr>
            <a:noAutofit/>
          </a:bodyPr>
          <a:lstStyle/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Preemption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 process that is holding some resources requests another resource that cannot be immediately allocated to it, then all resources currently being held are released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Preempted resources are added to the list of resources for which the process is waiting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will be restarted only when it can regain its old resources, as well as the new ones that it is requesting</a:t>
            </a:r>
          </a:p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Circular Wait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impose a total ordering of all resource types, and require that each process requests resources in an increasing order of enumeration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648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7A4B2-9088-4331-B7F4-A0DA815C9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Ostrich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0431C-3280-4CA7-BC97-755B7ECE7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strategy of ignoring problem on the basis that they may be exceedingly rare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“To stick one’s head in the sand and pretend there is no problem”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when it is cost-effective to allow the problem rather than its prevention </a:t>
            </a:r>
          </a:p>
        </p:txBody>
      </p:sp>
    </p:spTree>
    <p:extLst>
      <p:ext uri="{BB962C8B-B14F-4D97-AF65-F5344CB8AC3E}">
        <p14:creationId xmlns:p14="http://schemas.microsoft.com/office/powerpoint/2010/main" val="2500524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F4B23-0A51-4C82-A5B6-5DEB2DDEF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Deadlock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FEE6A-6984-4D78-B2E2-5993DDA60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does not attempt to prevent deadlocks from occurring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Instead, it lets them occur, tries to detect when this happens, and then takes some action to recover after the fact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approaches:</a:t>
            </a:r>
          </a:p>
          <a:p>
            <a:pPr marL="7366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Deadlock Detection with One Resource of Each Type</a:t>
            </a:r>
          </a:p>
          <a:p>
            <a:pPr marL="7366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Deadlock Detection with Multiple Resource of Each Type </a:t>
            </a:r>
          </a:p>
        </p:txBody>
      </p:sp>
    </p:spTree>
    <p:extLst>
      <p:ext uri="{BB962C8B-B14F-4D97-AF65-F5344CB8AC3E}">
        <p14:creationId xmlns:p14="http://schemas.microsoft.com/office/powerpoint/2010/main" val="2553465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C4103-B9D5-4E77-A47B-884F1D3DA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241973"/>
            <a:ext cx="8911687" cy="128089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Deadlock Detection with One Resource of Each Type</a:t>
            </a: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5F79F-B7D9-4E8A-9E16-5A5614689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96871"/>
            <a:ext cx="8915400" cy="5045123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resource graph consists one or more cycle then deadlock occurs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no cycle then no deadlock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Here, one resource of each type exists (one scanner, one printer, etc.)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this System Deadlocked? If so which process are involved?</a:t>
            </a:r>
          </a:p>
          <a:p>
            <a:pPr marL="573088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A holds R and wants S</a:t>
            </a:r>
          </a:p>
          <a:p>
            <a:pPr marL="573088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B holds nothing but wants T</a:t>
            </a:r>
          </a:p>
          <a:p>
            <a:pPr marL="573088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C holds nothing but wants S</a:t>
            </a:r>
          </a:p>
          <a:p>
            <a:pPr marL="573088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D holds U and wants S and T</a:t>
            </a:r>
          </a:p>
          <a:p>
            <a:pPr marL="573088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E holds T and wants V</a:t>
            </a:r>
          </a:p>
          <a:p>
            <a:pPr marL="573088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F holds W and wants S</a:t>
            </a:r>
          </a:p>
          <a:p>
            <a:pPr marL="573088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G holds V and wants U</a:t>
            </a:r>
          </a:p>
        </p:txBody>
      </p:sp>
    </p:spTree>
    <p:extLst>
      <p:ext uri="{BB962C8B-B14F-4D97-AF65-F5344CB8AC3E}">
        <p14:creationId xmlns:p14="http://schemas.microsoft.com/office/powerpoint/2010/main" val="1816556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1AC77-8795-41CD-9EE9-6409D96A5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Deadlock Detection-One Resource (contd.)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5ED3A5-A807-4816-B477-117D5A29AF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0246" y="1772342"/>
            <a:ext cx="6048829" cy="4461548"/>
          </a:xfrm>
        </p:spPr>
      </p:pic>
    </p:spTree>
    <p:extLst>
      <p:ext uri="{BB962C8B-B14F-4D97-AF65-F5344CB8AC3E}">
        <p14:creationId xmlns:p14="http://schemas.microsoft.com/office/powerpoint/2010/main" val="3444670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1AC77-8795-41CD-9EE9-6409D96A5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Deadlock Detection-One Resource (contd.)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733D7-D1BE-439A-A97C-4136A6E85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Extraction: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9B84C7-DCD3-429F-9242-CE183B151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955" y="1500959"/>
            <a:ext cx="4711869" cy="4283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684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B7ECF-DE66-4441-9D13-1B18DDB50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Deadlock Detection with Multiple Resources of Each Type</a:t>
            </a: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B423-79B0-48C0-A9CF-19F3F848A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280848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copies of resources available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matrix-based algorithm in order to detect deadlock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processes. P1 through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Pn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is the existing resource vector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be the available resource vector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arrays, C, the current allocation matrix, and R, the request matrix</a:t>
            </a:r>
          </a:p>
          <a:p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Cij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the number of instances of resource j that are held by process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Rij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the number of instances of resource j that Pi wants</a:t>
            </a:r>
          </a:p>
        </p:txBody>
      </p:sp>
    </p:spTree>
    <p:extLst>
      <p:ext uri="{BB962C8B-B14F-4D97-AF65-F5344CB8AC3E}">
        <p14:creationId xmlns:p14="http://schemas.microsoft.com/office/powerpoint/2010/main" val="40451513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98E21-C622-4466-9925-66B90A411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Deadlock Detection - Multiple Resources (contd.)</a:t>
            </a: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D31F77-220F-4BD7-B6BD-3A2816C47E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4229" y="2210132"/>
            <a:ext cx="8010525" cy="3543300"/>
          </a:xfrm>
        </p:spPr>
      </p:pic>
    </p:spTree>
    <p:extLst>
      <p:ext uri="{BB962C8B-B14F-4D97-AF65-F5344CB8AC3E}">
        <p14:creationId xmlns:p14="http://schemas.microsoft.com/office/powerpoint/2010/main" val="37355791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B7ECF-DE66-4441-9D13-1B18DDB50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Deadlock Detection - Multiple Resources (contd.)</a:t>
            </a: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FB423-79B0-48C0-A9CF-19F3F848A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710520"/>
            <a:ext cx="8915400" cy="4280848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deadlock detection algorithm can now be given, as follows. </a:t>
            </a:r>
          </a:p>
          <a:p>
            <a:pPr marL="7366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 for an unmarked process, Pi , for which the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i-th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row of R is less than or equal to A</a:t>
            </a:r>
          </a:p>
          <a:p>
            <a:pPr marL="7366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such a process is found, add the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i-th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row of C to A, mark the process, and go back to step 1</a:t>
            </a:r>
          </a:p>
          <a:p>
            <a:pPr marL="7366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no such process exists, the algorithm terminates.</a:t>
            </a:r>
          </a:p>
        </p:txBody>
      </p:sp>
    </p:spTree>
    <p:extLst>
      <p:ext uri="{BB962C8B-B14F-4D97-AF65-F5344CB8AC3E}">
        <p14:creationId xmlns:p14="http://schemas.microsoft.com/office/powerpoint/2010/main" val="42702543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104A9-C494-4E99-A30E-1F6888C38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84EA0C3-9EFC-44D4-B825-5DD17AE28A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3001224"/>
              </p:ext>
            </p:extLst>
          </p:nvPr>
        </p:nvGraphicFramePr>
        <p:xfrm>
          <a:off x="2589212" y="2133600"/>
          <a:ext cx="5394728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682">
                  <a:extLst>
                    <a:ext uri="{9D8B030D-6E8A-4147-A177-3AD203B41FA5}">
                      <a16:colId xmlns:a16="http://schemas.microsoft.com/office/drawing/2014/main" val="3028969743"/>
                    </a:ext>
                  </a:extLst>
                </a:gridCol>
                <a:gridCol w="1348682">
                  <a:extLst>
                    <a:ext uri="{9D8B030D-6E8A-4147-A177-3AD203B41FA5}">
                      <a16:colId xmlns:a16="http://schemas.microsoft.com/office/drawing/2014/main" val="3211267450"/>
                    </a:ext>
                  </a:extLst>
                </a:gridCol>
                <a:gridCol w="1348682">
                  <a:extLst>
                    <a:ext uri="{9D8B030D-6E8A-4147-A177-3AD203B41FA5}">
                      <a16:colId xmlns:a16="http://schemas.microsoft.com/office/drawing/2014/main" val="307928939"/>
                    </a:ext>
                  </a:extLst>
                </a:gridCol>
                <a:gridCol w="1348682">
                  <a:extLst>
                    <a:ext uri="{9D8B030D-6E8A-4147-A177-3AD203B41FA5}">
                      <a16:colId xmlns:a16="http://schemas.microsoft.com/office/drawing/2014/main" val="26951528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Allocated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Available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815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0 1 0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5420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2 0 0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2 0 2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0 1 0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950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3 0 3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3 1 3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565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2 1 1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1 0 0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5 2 4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15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5 2 6</a:t>
                      </a:r>
                      <a:b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7 2 6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498854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FD549B7-4222-4B59-A37B-9069884CF3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237502"/>
              </p:ext>
            </p:extLst>
          </p:nvPr>
        </p:nvGraphicFramePr>
        <p:xfrm>
          <a:off x="9030956" y="2133600"/>
          <a:ext cx="2665176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392">
                  <a:extLst>
                    <a:ext uri="{9D8B030D-6E8A-4147-A177-3AD203B41FA5}">
                      <a16:colId xmlns:a16="http://schemas.microsoft.com/office/drawing/2014/main" val="3234852971"/>
                    </a:ext>
                  </a:extLst>
                </a:gridCol>
                <a:gridCol w="888392">
                  <a:extLst>
                    <a:ext uri="{9D8B030D-6E8A-4147-A177-3AD203B41FA5}">
                      <a16:colId xmlns:a16="http://schemas.microsoft.com/office/drawing/2014/main" val="3221155264"/>
                    </a:ext>
                  </a:extLst>
                </a:gridCol>
                <a:gridCol w="888392">
                  <a:extLst>
                    <a:ext uri="{9D8B030D-6E8A-4147-A177-3AD203B41FA5}">
                      <a16:colId xmlns:a16="http://schemas.microsoft.com/office/drawing/2014/main" val="3371886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726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88148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80EC0B7-B2D1-4FDB-91F9-35D74E2A9C69}"/>
              </a:ext>
            </a:extLst>
          </p:cNvPr>
          <p:cNvSpPr txBox="1"/>
          <p:nvPr/>
        </p:nvSpPr>
        <p:spPr>
          <a:xfrm>
            <a:off x="9521588" y="3322320"/>
            <a:ext cx="2665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 = available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3D40EB-0F88-4AFB-AA40-F484983519E6}"/>
              </a:ext>
            </a:extLst>
          </p:cNvPr>
          <p:cNvCxnSpPr>
            <a:cxnSpLocks/>
          </p:cNvCxnSpPr>
          <p:nvPr/>
        </p:nvCxnSpPr>
        <p:spPr>
          <a:xfrm>
            <a:off x="6714698" y="4449170"/>
            <a:ext cx="1173707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07520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47812-B1AD-47C5-8335-98CE384A9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Recovery from Deadlock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66DBB-4649-45F2-BE0D-1EDBEEE58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1" y="2133600"/>
            <a:ext cx="9229749" cy="4294496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Recovery through Preemption </a:t>
            </a:r>
          </a:p>
          <a:p>
            <a:pPr marL="573088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Temporarily take a resource away from its current owner and give it to another process </a:t>
            </a:r>
          </a:p>
          <a:p>
            <a:pPr algn="just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Recovery through Rollback </a:t>
            </a:r>
          </a:p>
          <a:p>
            <a:pPr marL="573088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a deadlock is detected, it is easy to see which resources are needed. </a:t>
            </a:r>
          </a:p>
          <a:p>
            <a:pPr marL="573088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do the recovery, a process that owns a needed resource is rolled back to a point in time before it acquired some other resource by starting one of its earlier checkpoints.</a:t>
            </a:r>
          </a:p>
          <a:p>
            <a:pPr algn="just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Recovery through Killing Processes </a:t>
            </a:r>
          </a:p>
          <a:p>
            <a:pPr marL="627063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Kill one or more processes</a:t>
            </a:r>
          </a:p>
        </p:txBody>
      </p:sp>
    </p:spTree>
    <p:extLst>
      <p:ext uri="{BB962C8B-B14F-4D97-AF65-F5344CB8AC3E}">
        <p14:creationId xmlns:p14="http://schemas.microsoft.com/office/powerpoint/2010/main" val="1401364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CC4DA-1FB6-4D79-9FA0-FA7540486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210565"/>
            <a:ext cx="8911687" cy="128089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Deadlock Avoidance - Safe and Unsafe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8D4F7-271A-4D0D-BC77-F0CACA47A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499" y="1180432"/>
            <a:ext cx="8915400" cy="3777622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state is said to be safe if it is not deadlocked and there is a some scheduling order in which every process can run to completion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 safe state, system can guarantee that all processes will finish – no deadlock occur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an unsafe state, no such guarantee can be given – deadlock may occur.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275644-34D0-4051-A0B9-AD8906575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85" y="3429000"/>
            <a:ext cx="11617489" cy="283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3787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E8C28-2A50-4E85-AB3B-839204139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Banker’s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6CB32-F638-4756-A673-09D01C199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40189"/>
            <a:ext cx="8915400" cy="377762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to the deadlock problem anticipates a deadlock before it actually occurs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employs an algorithm to access the possibility that deadlock could occur and act accordingly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named as Banker’s algorithm because the process is analogous to that used by a banker in deciding if a loan can be safely made a not</a:t>
            </a:r>
          </a:p>
        </p:txBody>
      </p:sp>
    </p:spTree>
    <p:extLst>
      <p:ext uri="{BB962C8B-B14F-4D97-AF65-F5344CB8AC3E}">
        <p14:creationId xmlns:p14="http://schemas.microsoft.com/office/powerpoint/2010/main" val="35232188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EAEFE-2AFB-4880-8EBC-3150C109C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Banker’s Algorithm (contd.)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DB253-755F-4D7C-BD6F-C993C17D4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are the features that are to be considered for avoidance of the deadlock s per the Banker’s Algorithms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process declares maximum number of resources of each type that it may need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 the system in a safe state in which we can allocate resources to each process in some order and avoid deadlock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for the safe state by finding a safe sequence: where resources that Pi needs can be satisfied by available resources plus resources held by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Pj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where j &lt; I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allocation graph algorithm uses claim edges to check for a safe state</a:t>
            </a:r>
          </a:p>
        </p:txBody>
      </p:sp>
    </p:spTree>
    <p:extLst>
      <p:ext uri="{BB962C8B-B14F-4D97-AF65-F5344CB8AC3E}">
        <p14:creationId xmlns:p14="http://schemas.microsoft.com/office/powerpoint/2010/main" val="30112057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E8134-DA88-4D2A-BF89-74A45CDAE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Banker’s Algorithm (contd.)</a:t>
            </a: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Single Resource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BEC0C-A807-4DF0-A7DD-81D69D418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 an analogy in which 4 processes (P1, P2, P3 and P4) can be compared with the customers in a bank, resources such as printers etc. as cash available in the bank and the Operating system as the Banker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73D25F-D8F5-41D3-BFFC-3BEF99B8C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99" y="3700488"/>
            <a:ext cx="6123389" cy="25334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2E64E1-B1ED-44EF-90AC-54BCA10BA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233" y="3658894"/>
            <a:ext cx="5083109" cy="257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5057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104A9-C494-4E99-A30E-1F6888C38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Banker’s Algorithm (contd.)</a:t>
            </a: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Multiple Resource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84EA0C3-9EFC-44D4-B825-5DD17AE28A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8319469"/>
              </p:ext>
            </p:extLst>
          </p:nvPr>
        </p:nvGraphicFramePr>
        <p:xfrm>
          <a:off x="2592925" y="2529840"/>
          <a:ext cx="5394728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682">
                  <a:extLst>
                    <a:ext uri="{9D8B030D-6E8A-4147-A177-3AD203B41FA5}">
                      <a16:colId xmlns:a16="http://schemas.microsoft.com/office/drawing/2014/main" val="3028969743"/>
                    </a:ext>
                  </a:extLst>
                </a:gridCol>
                <a:gridCol w="1348682">
                  <a:extLst>
                    <a:ext uri="{9D8B030D-6E8A-4147-A177-3AD203B41FA5}">
                      <a16:colId xmlns:a16="http://schemas.microsoft.com/office/drawing/2014/main" val="3211267450"/>
                    </a:ext>
                  </a:extLst>
                </a:gridCol>
                <a:gridCol w="1348682">
                  <a:extLst>
                    <a:ext uri="{9D8B030D-6E8A-4147-A177-3AD203B41FA5}">
                      <a16:colId xmlns:a16="http://schemas.microsoft.com/office/drawing/2014/main" val="307928939"/>
                    </a:ext>
                  </a:extLst>
                </a:gridCol>
                <a:gridCol w="1348682">
                  <a:extLst>
                    <a:ext uri="{9D8B030D-6E8A-4147-A177-3AD203B41FA5}">
                      <a16:colId xmlns:a16="http://schemas.microsoft.com/office/drawing/2014/main" val="26951528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Allocated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Available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815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0 1 0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5420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2 0 0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2 0 2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0 1 0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950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3 0 3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3 1 3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565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2 1 1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1 0 0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5 2 4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15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5 2 6</a:t>
                      </a:r>
                      <a:b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7 2 6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498854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FD549B7-4222-4B59-A37B-9069884CF3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414712"/>
              </p:ext>
            </p:extLst>
          </p:nvPr>
        </p:nvGraphicFramePr>
        <p:xfrm>
          <a:off x="9071900" y="2529840"/>
          <a:ext cx="2665176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392">
                  <a:extLst>
                    <a:ext uri="{9D8B030D-6E8A-4147-A177-3AD203B41FA5}">
                      <a16:colId xmlns:a16="http://schemas.microsoft.com/office/drawing/2014/main" val="3234852971"/>
                    </a:ext>
                  </a:extLst>
                </a:gridCol>
                <a:gridCol w="888392">
                  <a:extLst>
                    <a:ext uri="{9D8B030D-6E8A-4147-A177-3AD203B41FA5}">
                      <a16:colId xmlns:a16="http://schemas.microsoft.com/office/drawing/2014/main" val="3221155264"/>
                    </a:ext>
                  </a:extLst>
                </a:gridCol>
                <a:gridCol w="888392">
                  <a:extLst>
                    <a:ext uri="{9D8B030D-6E8A-4147-A177-3AD203B41FA5}">
                      <a16:colId xmlns:a16="http://schemas.microsoft.com/office/drawing/2014/main" val="3371886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726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88148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80EC0B7-B2D1-4FDB-91F9-35D74E2A9C69}"/>
              </a:ext>
            </a:extLst>
          </p:cNvPr>
          <p:cNvSpPr txBox="1"/>
          <p:nvPr/>
        </p:nvSpPr>
        <p:spPr>
          <a:xfrm>
            <a:off x="9071900" y="4264504"/>
            <a:ext cx="2665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 = available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3D40EB-0F88-4AFB-AA40-F484983519E6}"/>
              </a:ext>
            </a:extLst>
          </p:cNvPr>
          <p:cNvCxnSpPr>
            <a:cxnSpLocks/>
          </p:cNvCxnSpPr>
          <p:nvPr/>
        </p:nvCxnSpPr>
        <p:spPr>
          <a:xfrm>
            <a:off x="6714698" y="4449170"/>
            <a:ext cx="1173707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691910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1094</TotalTime>
  <Words>1581</Words>
  <Application>Microsoft Office PowerPoint</Application>
  <PresentationFormat>Widescreen</PresentationFormat>
  <Paragraphs>206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Arial</vt:lpstr>
      <vt:lpstr>Century Gothic</vt:lpstr>
      <vt:lpstr>Helvetica</vt:lpstr>
      <vt:lpstr>Monotype Sorts</vt:lpstr>
      <vt:lpstr>Times New Roman</vt:lpstr>
      <vt:lpstr>Verdana</vt:lpstr>
      <vt:lpstr>Webdings</vt:lpstr>
      <vt:lpstr>Wingdings</vt:lpstr>
      <vt:lpstr>Wingdings 3</vt:lpstr>
      <vt:lpstr>Wisp</vt:lpstr>
      <vt:lpstr>Unit 3 - Process Deadlock</vt:lpstr>
      <vt:lpstr>Introduction</vt:lpstr>
      <vt:lpstr>Introduction (contd.)</vt:lpstr>
      <vt:lpstr>Resource Deadlock</vt:lpstr>
      <vt:lpstr>Deadlock Characterization</vt:lpstr>
      <vt:lpstr>Resource-Allocation Graph</vt:lpstr>
      <vt:lpstr>Resource-Allocation Graph (Cont.)</vt:lpstr>
      <vt:lpstr>Example of a Resource Allocation Graph</vt:lpstr>
      <vt:lpstr>Resource Allocation Graph With A Deadlock</vt:lpstr>
      <vt:lpstr>Basic Facts</vt:lpstr>
      <vt:lpstr>Methods for Handling Deadlocks</vt:lpstr>
      <vt:lpstr>Deadlock Prevention</vt:lpstr>
      <vt:lpstr>Deadlock Prevention (contd.)</vt:lpstr>
      <vt:lpstr>Ostrich Algorithm</vt:lpstr>
      <vt:lpstr>Deadlock Detection</vt:lpstr>
      <vt:lpstr>Deadlock Detection with One Resource of Each Type </vt:lpstr>
      <vt:lpstr>Deadlock Detection-One Resource (contd.)</vt:lpstr>
      <vt:lpstr>Deadlock Detection-One Resource (contd.)</vt:lpstr>
      <vt:lpstr>Deadlock Detection with Multiple Resources of Each Type </vt:lpstr>
      <vt:lpstr>Deadlock Detection - Multiple Resources (contd.) </vt:lpstr>
      <vt:lpstr>Deadlock Detection - Multiple Resources (contd.) </vt:lpstr>
      <vt:lpstr>Example</vt:lpstr>
      <vt:lpstr>Recovery from Deadlock</vt:lpstr>
      <vt:lpstr>Deadlock Avoidance - Safe and Unsafe State</vt:lpstr>
      <vt:lpstr>Banker’s Algorithm</vt:lpstr>
      <vt:lpstr>Banker’s Algorithm (contd.)</vt:lpstr>
      <vt:lpstr>Banker’s Algorithm (contd.) For Single Resource</vt:lpstr>
      <vt:lpstr>Banker’s Algorithm (contd.) For Multiple Resource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Rishav Acharya</dc:creator>
  <cp:lastModifiedBy>Rishav Acharya</cp:lastModifiedBy>
  <cp:revision>50</cp:revision>
  <dcterms:created xsi:type="dcterms:W3CDTF">2023-02-10T13:24:43Z</dcterms:created>
  <dcterms:modified xsi:type="dcterms:W3CDTF">2023-02-13T12:57:02Z</dcterms:modified>
</cp:coreProperties>
</file>