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handoutMasterIdLst>
    <p:handoutMasterId r:id="rId33"/>
  </p:handoutMasterIdLst>
  <p:sldIdLst>
    <p:sldId id="256" r:id="rId2"/>
    <p:sldId id="257" r:id="rId3"/>
    <p:sldId id="258" r:id="rId4"/>
    <p:sldId id="259" r:id="rId5"/>
    <p:sldId id="260" r:id="rId6"/>
    <p:sldId id="261" r:id="rId7"/>
    <p:sldId id="262" r:id="rId8"/>
    <p:sldId id="263" r:id="rId9"/>
    <p:sldId id="264" r:id="rId10"/>
    <p:sldId id="276" r:id="rId11"/>
    <p:sldId id="277" r:id="rId12"/>
    <p:sldId id="278" r:id="rId13"/>
    <p:sldId id="265" r:id="rId14"/>
    <p:sldId id="266" r:id="rId15"/>
    <p:sldId id="267" r:id="rId16"/>
    <p:sldId id="268" r:id="rId17"/>
    <p:sldId id="269" r:id="rId18"/>
    <p:sldId id="270" r:id="rId19"/>
    <p:sldId id="271" r:id="rId20"/>
    <p:sldId id="272" r:id="rId21"/>
    <p:sldId id="273" r:id="rId22"/>
    <p:sldId id="274" r:id="rId23"/>
    <p:sldId id="279" r:id="rId24"/>
    <p:sldId id="280" r:id="rId25"/>
    <p:sldId id="281" r:id="rId26"/>
    <p:sldId id="282" r:id="rId27"/>
    <p:sldId id="283" r:id="rId28"/>
    <p:sldId id="284" r:id="rId29"/>
    <p:sldId id="285" r:id="rId30"/>
    <p:sldId id="28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FEC7DF-3EFE-FFCA-491B-E78DE92B9A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0C7BAC-6C6C-AD37-96D8-2A977B557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9E6ADF-AD66-4067-ACAD-D81CFCDE152D}" type="datetimeFigureOut">
              <a:rPr lang="en-US" smtClean="0"/>
              <a:t>2/11/2023</a:t>
            </a:fld>
            <a:endParaRPr lang="en-US"/>
          </a:p>
        </p:txBody>
      </p:sp>
      <p:sp>
        <p:nvSpPr>
          <p:cNvPr id="4" name="Footer Placeholder 3">
            <a:extLst>
              <a:ext uri="{FF2B5EF4-FFF2-40B4-BE49-F238E27FC236}">
                <a16:creationId xmlns:a16="http://schemas.microsoft.com/office/drawing/2014/main" id="{128306B5-73AE-75A5-B3C2-940DCA92850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00F299E-5646-6F5A-D3EE-F1E91D2319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B0BB19-97B0-4D8C-B002-EDD543A34D07}" type="slidenum">
              <a:rPr lang="en-US" smtClean="0"/>
              <a:t>‹#›</a:t>
            </a:fld>
            <a:endParaRPr lang="en-US"/>
          </a:p>
        </p:txBody>
      </p:sp>
    </p:spTree>
    <p:extLst>
      <p:ext uri="{BB962C8B-B14F-4D97-AF65-F5344CB8AC3E}">
        <p14:creationId xmlns:p14="http://schemas.microsoft.com/office/powerpoint/2010/main" val="223064810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08AD08-A2E4-4876-8BB9-5856AAB39625}" type="datetimeFigureOut">
              <a:rPr lang="en-US" smtClean="0"/>
              <a:t>2/11/2023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9FEFF1-C285-41D4-98B6-B4A2D8B6340B}" type="slidenum">
              <a:rPr lang="en-US" smtClean="0"/>
              <a:t>‹#›</a:t>
            </a:fld>
            <a:endParaRPr lang="en-US"/>
          </a:p>
        </p:txBody>
      </p:sp>
    </p:spTree>
    <p:extLst>
      <p:ext uri="{BB962C8B-B14F-4D97-AF65-F5344CB8AC3E}">
        <p14:creationId xmlns:p14="http://schemas.microsoft.com/office/powerpoint/2010/main" val="46334860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BA8888-DB5B-4EFF-B448-047D88201CA4}" type="datetime1">
              <a:rPr lang="en-US" smtClean="0"/>
              <a:t>2/11/2023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2536165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B41341-EF43-490E-AE46-EA1E5D26677D}" type="datetime1">
              <a:rPr lang="en-US" smtClean="0"/>
              <a:t>2/11/2023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564008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80662F-56F5-40FC-9CC8-14E99D5F8356}" type="datetime1">
              <a:rPr lang="en-US" smtClean="0"/>
              <a:t>2/11/2023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256309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8EE62E-1D26-4B86-9031-7EA74B2D97E8}" type="datetime1">
              <a:rPr lang="en-US" smtClean="0"/>
              <a:t>2/11/2023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3079111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DB6478-F6A1-46E2-B042-26997B181A8F}" type="datetime1">
              <a:rPr lang="en-US" smtClean="0"/>
              <a:t>2/11/2023</a:t>
            </a:fld>
            <a:endParaRPr lang="en-US"/>
          </a:p>
        </p:txBody>
      </p:sp>
      <p:sp>
        <p:nvSpPr>
          <p:cNvPr id="8" name="Footer Placeholder 7"/>
          <p:cNvSpPr>
            <a:spLocks noGrp="1"/>
          </p:cNvSpPr>
          <p:nvPr>
            <p:ph type="ftr" sz="quarter" idx="11"/>
          </p:nvPr>
        </p:nvSpPr>
        <p:spPr/>
        <p:txBody>
          <a:bodyPr/>
          <a:lstStyle/>
          <a:p>
            <a:r>
              <a:rPr lang="en-US"/>
              <a:t>- Prepared by: Rishav Acharya</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296374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2CB225-B7E7-4AAA-8580-21A097FD51D4}" type="datetime1">
              <a:rPr lang="en-US" smtClean="0"/>
              <a:t>2/11/2023</a:t>
            </a:fld>
            <a:endParaRPr lang="en-US"/>
          </a:p>
        </p:txBody>
      </p:sp>
      <p:sp>
        <p:nvSpPr>
          <p:cNvPr id="4" name="Footer Placeholder 3"/>
          <p:cNvSpPr>
            <a:spLocks noGrp="1"/>
          </p:cNvSpPr>
          <p:nvPr>
            <p:ph type="ftr" sz="quarter" idx="11"/>
          </p:nvPr>
        </p:nvSpPr>
        <p:spPr/>
        <p:txBody>
          <a:bodyPr/>
          <a:lstStyle/>
          <a:p>
            <a:r>
              <a:rPr lang="en-US"/>
              <a:t>- Prepared by: Rishav Acharya</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1583788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11392-D971-4867-9E8F-D2FCDAD2FA73}" type="datetime1">
              <a:rPr lang="en-US" smtClean="0"/>
              <a:t>2/11/2023</a:t>
            </a:fld>
            <a:endParaRPr lang="en-US"/>
          </a:p>
        </p:txBody>
      </p:sp>
      <p:sp>
        <p:nvSpPr>
          <p:cNvPr id="3" name="Footer Placeholder 2"/>
          <p:cNvSpPr>
            <a:spLocks noGrp="1"/>
          </p:cNvSpPr>
          <p:nvPr>
            <p:ph type="ftr" sz="quarter" idx="11"/>
          </p:nvPr>
        </p:nvSpPr>
        <p:spPr/>
        <p:txBody>
          <a:bodyPr/>
          <a:lstStyle/>
          <a:p>
            <a:r>
              <a:rPr lang="en-US"/>
              <a:t>- Prepared by: Rishav Acharya</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483953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BD1165-C9C9-421B-805C-712DA92B6F05}" type="datetime1">
              <a:rPr lang="en-US" smtClean="0"/>
              <a:t>2/11/2023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1120142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33920A-08BF-4A82-B5C3-3BDAE45C74B1}" type="datetime1">
              <a:rPr lang="en-US" smtClean="0"/>
              <a:t>2/11/2023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557818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9F4618-2E63-4046-B64A-2186CB533AC7}" type="datetime1">
              <a:rPr lang="en-US" smtClean="0"/>
              <a:t>2/11/2023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157844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1C20DD-14C1-4D2D-86FF-BA1841304411}" type="datetime1">
              <a:rPr lang="en-US" smtClean="0"/>
              <a:t>2/11/2023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768FA24-B602-44B4-B621-A23D6F956B3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54424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898DA06-B388-4F4B-9F2A-93657398160B}" type="datetime1">
              <a:rPr lang="en-US" smtClean="0"/>
              <a:t>2/11/2023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3175886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59CB22A-A419-4CE7-8832-F1FCA91A1E06}" type="datetime1">
              <a:rPr lang="en-US" smtClean="0"/>
              <a:t>2/11/2023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768FA24-B602-44B4-B621-A23D6F956B3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31029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716F542-755C-4327-B0FF-C732B99C63D5}" type="datetime1">
              <a:rPr lang="en-US" smtClean="0"/>
              <a:t>2/11/2023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36328508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1B3B39-B6EF-4A54-8879-1ECECB9998B7}" type="datetime1">
              <a:rPr lang="en-US" smtClean="0"/>
              <a:t>2/11/2023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19013129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A82AC-12BC-4A99-93EE-2BA8F7299955}" type="datetime1">
              <a:rPr lang="en-US" smtClean="0"/>
              <a:t>2/11/2023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356825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1EDB5A8-34A1-4C57-A216-4F4F59232E8F}" type="datetime1">
              <a:rPr lang="en-US" smtClean="0"/>
              <a:t>2/11/2023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 Prepared by: Rishav Acharya</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768FA24-B602-44B4-B621-A23D6F956B3B}" type="slidenum">
              <a:rPr lang="en-US" smtClean="0"/>
              <a:t>‹#›</a:t>
            </a:fld>
            <a:endParaRPr lang="en-US"/>
          </a:p>
        </p:txBody>
      </p:sp>
    </p:spTree>
    <p:extLst>
      <p:ext uri="{BB962C8B-B14F-4D97-AF65-F5344CB8AC3E}">
        <p14:creationId xmlns:p14="http://schemas.microsoft.com/office/powerpoint/2010/main" val="5084138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3A20-72ED-4C9F-A26A-E90C3F0CEDB1}"/>
              </a:ext>
            </a:extLst>
          </p:cNvPr>
          <p:cNvSpPr>
            <a:spLocks noGrp="1"/>
          </p:cNvSpPr>
          <p:nvPr>
            <p:ph type="ctrTitle"/>
          </p:nvPr>
        </p:nvSpPr>
        <p:spPr>
          <a:xfrm>
            <a:off x="2480031" y="2924032"/>
            <a:ext cx="8915399" cy="2262781"/>
          </a:xfrm>
        </p:spPr>
        <p:txBody>
          <a:bodyPr/>
          <a:lstStyle/>
          <a:p>
            <a:r>
              <a:rPr lang="en-US" b="1" dirty="0">
                <a:latin typeface="Times New Roman" panose="02020603050405020304" pitchFamily="18" charset="0"/>
                <a:cs typeface="Times New Roman" panose="02020603050405020304" pitchFamily="18" charset="0"/>
              </a:rPr>
              <a:t>Unit 1 – Overview of OS</a:t>
            </a:r>
          </a:p>
        </p:txBody>
      </p:sp>
      <p:sp>
        <p:nvSpPr>
          <p:cNvPr id="3" name="Footer Placeholder 2">
            <a:extLst>
              <a:ext uri="{FF2B5EF4-FFF2-40B4-BE49-F238E27FC236}">
                <a16:creationId xmlns:a16="http://schemas.microsoft.com/office/drawing/2014/main" id="{B11AC352-E9CD-BA2C-A7A6-3E9E7EF52BBF}"/>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584246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76DD43-D31E-4CC0-BA84-9C9637A8D35D}"/>
              </a:ext>
            </a:extLst>
          </p:cNvPr>
          <p:cNvSpPr>
            <a:spLocks noGrp="1"/>
          </p:cNvSpPr>
          <p:nvPr>
            <p:ph idx="1"/>
          </p:nvPr>
        </p:nvSpPr>
        <p:spPr>
          <a:xfrm>
            <a:off x="2589212" y="504967"/>
            <a:ext cx="8915400" cy="5406255"/>
          </a:xfrm>
        </p:spPr>
        <p:txBody>
          <a:bodyPr>
            <a:normAutofit lnSpcReduction="10000"/>
          </a:bodyPr>
          <a:lstStyle/>
          <a:p>
            <a:r>
              <a:rPr lang="en-US" sz="2600" dirty="0">
                <a:solidFill>
                  <a:schemeClr val="tx1"/>
                </a:solidFill>
                <a:latin typeface="Times New Roman" panose="02020603050405020304" pitchFamily="18" charset="0"/>
                <a:cs typeface="Times New Roman" panose="02020603050405020304" pitchFamily="18" charset="0"/>
              </a:rPr>
              <a:t>Computer System</a:t>
            </a:r>
          </a:p>
          <a:p>
            <a:r>
              <a:rPr lang="en-US" sz="2600" dirty="0">
                <a:solidFill>
                  <a:schemeClr val="tx1"/>
                </a:solidFill>
                <a:latin typeface="Times New Roman" panose="02020603050405020304" pitchFamily="18" charset="0"/>
                <a:cs typeface="Times New Roman" panose="02020603050405020304" pitchFamily="18" charset="0"/>
              </a:rPr>
              <a:t>Introduction to OS</a:t>
            </a:r>
          </a:p>
          <a:p>
            <a:r>
              <a:rPr lang="en-US" sz="2600" dirty="0">
                <a:solidFill>
                  <a:schemeClr val="tx1"/>
                </a:solidFill>
                <a:latin typeface="Times New Roman" panose="02020603050405020304" pitchFamily="18" charset="0"/>
                <a:cs typeface="Times New Roman" panose="02020603050405020304" pitchFamily="18" charset="0"/>
              </a:rPr>
              <a:t>Two Views/aspects of OS</a:t>
            </a:r>
          </a:p>
          <a:p>
            <a:r>
              <a:rPr lang="en-US" sz="2600" dirty="0">
                <a:solidFill>
                  <a:schemeClr val="tx1"/>
                </a:solidFill>
                <a:latin typeface="Times New Roman" panose="02020603050405020304" pitchFamily="18" charset="0"/>
                <a:cs typeface="Times New Roman" panose="02020603050405020304" pitchFamily="18" charset="0"/>
              </a:rPr>
              <a:t>Evolution/History of OS</a:t>
            </a:r>
          </a:p>
          <a:p>
            <a:r>
              <a:rPr lang="en-US" sz="2600" dirty="0">
                <a:solidFill>
                  <a:schemeClr val="tx1"/>
                </a:solidFill>
                <a:latin typeface="Times New Roman" panose="02020603050405020304" pitchFamily="18" charset="0"/>
                <a:cs typeface="Times New Roman" panose="02020603050405020304" pitchFamily="18" charset="0"/>
              </a:rPr>
              <a:t>Types of OS</a:t>
            </a:r>
          </a:p>
          <a:p>
            <a:r>
              <a:rPr lang="en-US" sz="2600" dirty="0">
                <a:solidFill>
                  <a:schemeClr val="tx1"/>
                </a:solidFill>
                <a:latin typeface="Times New Roman" panose="02020603050405020304" pitchFamily="18" charset="0"/>
                <a:cs typeface="Times New Roman" panose="02020603050405020304" pitchFamily="18" charset="0"/>
              </a:rPr>
              <a:t>Structure of OS</a:t>
            </a:r>
          </a:p>
          <a:p>
            <a:r>
              <a:rPr lang="en-US" sz="2600" dirty="0">
                <a:solidFill>
                  <a:schemeClr val="tx1"/>
                </a:solidFill>
                <a:latin typeface="Times New Roman" panose="02020603050405020304" pitchFamily="18" charset="0"/>
                <a:cs typeface="Times New Roman" panose="02020603050405020304" pitchFamily="18" charset="0"/>
              </a:rPr>
              <a:t>System Calls</a:t>
            </a:r>
          </a:p>
          <a:p>
            <a:r>
              <a:rPr lang="en-US" sz="2600" dirty="0">
                <a:solidFill>
                  <a:schemeClr val="tx1"/>
                </a:solidFill>
                <a:latin typeface="Times New Roman" panose="02020603050405020304" pitchFamily="18" charset="0"/>
                <a:cs typeface="Times New Roman" panose="02020603050405020304" pitchFamily="18" charset="0"/>
              </a:rPr>
              <a:t>Handling System Calls</a:t>
            </a:r>
          </a:p>
          <a:p>
            <a:r>
              <a:rPr lang="en-US" sz="2600" dirty="0">
                <a:solidFill>
                  <a:schemeClr val="tx1"/>
                </a:solidFill>
                <a:latin typeface="Times New Roman" panose="02020603050405020304" pitchFamily="18" charset="0"/>
                <a:cs typeface="Times New Roman" panose="02020603050405020304" pitchFamily="18" charset="0"/>
              </a:rPr>
              <a:t>Types of System Calls</a:t>
            </a:r>
          </a:p>
          <a:p>
            <a:r>
              <a:rPr lang="en-US" sz="2600" dirty="0">
                <a:solidFill>
                  <a:schemeClr val="tx1"/>
                </a:solidFill>
                <a:latin typeface="Times New Roman" panose="02020603050405020304" pitchFamily="18" charset="0"/>
                <a:cs typeface="Times New Roman" panose="02020603050405020304" pitchFamily="18" charset="0"/>
              </a:rPr>
              <a:t>The Shell</a:t>
            </a:r>
          </a:p>
          <a:p>
            <a:r>
              <a:rPr lang="en-US" sz="2600" dirty="0">
                <a:solidFill>
                  <a:schemeClr val="tx1"/>
                </a:solidFill>
                <a:latin typeface="Times New Roman" panose="02020603050405020304" pitchFamily="18" charset="0"/>
                <a:cs typeface="Times New Roman" panose="02020603050405020304" pitchFamily="18" charset="0"/>
              </a:rPr>
              <a:t>Open Source OS</a:t>
            </a:r>
            <a:endParaRPr lang="en-US" dirty="0"/>
          </a:p>
        </p:txBody>
      </p:sp>
      <p:sp>
        <p:nvSpPr>
          <p:cNvPr id="2" name="Footer Placeholder 1">
            <a:extLst>
              <a:ext uri="{FF2B5EF4-FFF2-40B4-BE49-F238E27FC236}">
                <a16:creationId xmlns:a16="http://schemas.microsoft.com/office/drawing/2014/main" id="{5EAAEE9E-A957-8CC5-A9A0-B1D06151F386}"/>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912169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4286A-A2BB-47CF-9B1B-2FC160CADBF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Computer System</a:t>
            </a:r>
          </a:p>
        </p:txBody>
      </p:sp>
      <p:sp>
        <p:nvSpPr>
          <p:cNvPr id="3" name="Content Placeholder 2">
            <a:extLst>
              <a:ext uri="{FF2B5EF4-FFF2-40B4-BE49-F238E27FC236}">
                <a16:creationId xmlns:a16="http://schemas.microsoft.com/office/drawing/2014/main" id="{B1777EF6-8883-4F34-AEE8-C1496D192281}"/>
              </a:ext>
            </a:extLst>
          </p:cNvPr>
          <p:cNvSpPr>
            <a:spLocks noGrp="1"/>
          </p:cNvSpPr>
          <p:nvPr>
            <p:ph idx="1"/>
          </p:nvPr>
        </p:nvSpPr>
        <p:spPr>
          <a:xfrm>
            <a:off x="2589212" y="1751461"/>
            <a:ext cx="8915400" cy="4594747"/>
          </a:xfrm>
        </p:spPr>
        <p:txBody>
          <a:bodyPr>
            <a:normAutofit/>
          </a:bodyPr>
          <a:lstStyle/>
          <a:p>
            <a:pPr marL="0" indent="0">
              <a:buNone/>
            </a:pPr>
            <a:r>
              <a:rPr lang="en-US" altLang="en-US" sz="2400" dirty="0">
                <a:solidFill>
                  <a:schemeClr val="tx1"/>
                </a:solidFill>
                <a:latin typeface="Times New Roman" panose="02020603050405020304" pitchFamily="18" charset="0"/>
                <a:cs typeface="Times New Roman" panose="02020603050405020304" pitchFamily="18" charset="0"/>
              </a:rPr>
              <a:t>Computer system can be divided into four components:</a:t>
            </a:r>
          </a:p>
          <a:p>
            <a:pPr lvl="1"/>
            <a:r>
              <a:rPr lang="en-US" altLang="en-US" sz="2000" dirty="0">
                <a:solidFill>
                  <a:schemeClr val="tx1"/>
                </a:solidFill>
                <a:latin typeface="Times New Roman" panose="02020603050405020304" pitchFamily="18" charset="0"/>
                <a:cs typeface="Times New Roman" panose="02020603050405020304" pitchFamily="18" charset="0"/>
              </a:rPr>
              <a:t>Hardware – provides basic computing resources</a:t>
            </a:r>
          </a:p>
          <a:p>
            <a:pPr lvl="2">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CPU, memory, I/O devices</a:t>
            </a:r>
          </a:p>
          <a:p>
            <a:pPr lvl="1"/>
            <a:r>
              <a:rPr lang="en-US" altLang="en-US" sz="2400" dirty="0">
                <a:solidFill>
                  <a:schemeClr val="tx1"/>
                </a:solidFill>
                <a:latin typeface="Times New Roman" panose="02020603050405020304" pitchFamily="18" charset="0"/>
                <a:cs typeface="Times New Roman" panose="02020603050405020304" pitchFamily="18" charset="0"/>
              </a:rPr>
              <a:t>Operating system</a:t>
            </a:r>
          </a:p>
          <a:p>
            <a:pPr lvl="2">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Controls and coordinates use of hardware among various applications and users</a:t>
            </a:r>
          </a:p>
          <a:p>
            <a:pPr lvl="1"/>
            <a:r>
              <a:rPr lang="en-US" altLang="en-US" sz="2400" dirty="0">
                <a:solidFill>
                  <a:schemeClr val="tx1"/>
                </a:solidFill>
                <a:latin typeface="Times New Roman" panose="02020603050405020304" pitchFamily="18" charset="0"/>
                <a:cs typeface="Times New Roman" panose="02020603050405020304" pitchFamily="18" charset="0"/>
              </a:rPr>
              <a:t>Application programs – define the ways in which the system resources are used to solve the computing problems of the users</a:t>
            </a:r>
          </a:p>
          <a:p>
            <a:pPr lvl="2">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Word processors, compilers, web browsers, database systems, video games</a:t>
            </a:r>
          </a:p>
          <a:p>
            <a:pPr lvl="1"/>
            <a:r>
              <a:rPr lang="en-US" altLang="en-US" sz="2400" dirty="0">
                <a:solidFill>
                  <a:schemeClr val="tx1"/>
                </a:solidFill>
                <a:latin typeface="Times New Roman" panose="02020603050405020304" pitchFamily="18" charset="0"/>
                <a:cs typeface="Times New Roman" panose="02020603050405020304" pitchFamily="18" charset="0"/>
              </a:rPr>
              <a:t>Users</a:t>
            </a:r>
          </a:p>
          <a:p>
            <a:pPr lvl="2">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People, machines, other computers</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B903CD2-01C0-B59D-F91A-E7154D7E93EE}"/>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405875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50EF-5E07-4E22-9C63-CF0F79AEA35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Computer System (contd.)</a:t>
            </a:r>
          </a:p>
        </p:txBody>
      </p:sp>
      <p:pic>
        <p:nvPicPr>
          <p:cNvPr id="4" name="Picture 4">
            <a:extLst>
              <a:ext uri="{FF2B5EF4-FFF2-40B4-BE49-F238E27FC236}">
                <a16:creationId xmlns:a16="http://schemas.microsoft.com/office/drawing/2014/main" id="{5ED50570-6BB9-43ED-9D63-52EE250B8F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74777" y="1683223"/>
            <a:ext cx="5842445" cy="377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48BA640-3239-4D1B-9A47-76075E836C8C}"/>
              </a:ext>
            </a:extLst>
          </p:cNvPr>
          <p:cNvSpPr txBox="1"/>
          <p:nvPr/>
        </p:nvSpPr>
        <p:spPr>
          <a:xfrm>
            <a:off x="3944203" y="5864558"/>
            <a:ext cx="5650174" cy="369332"/>
          </a:xfrm>
          <a:prstGeom prst="rect">
            <a:avLst/>
          </a:prstGeom>
          <a:noFill/>
        </p:spPr>
        <p:txBody>
          <a:bodyPr wrap="square" rtlCol="0">
            <a:spAutoFit/>
          </a:bodyPr>
          <a:lstStyle/>
          <a:p>
            <a:r>
              <a:rPr lang="en-US" u="sng" dirty="0">
                <a:latin typeface="Times New Roman" panose="02020603050405020304" pitchFamily="18" charset="0"/>
                <a:cs typeface="Times New Roman" panose="02020603050405020304" pitchFamily="18" charset="0"/>
              </a:rPr>
              <a:t>Four Components of a Computer System</a:t>
            </a:r>
          </a:p>
        </p:txBody>
      </p:sp>
      <p:sp>
        <p:nvSpPr>
          <p:cNvPr id="3" name="Footer Placeholder 2">
            <a:extLst>
              <a:ext uri="{FF2B5EF4-FFF2-40B4-BE49-F238E27FC236}">
                <a16:creationId xmlns:a16="http://schemas.microsoft.com/office/drawing/2014/main" id="{C871088E-02B3-8B6D-B116-9C0F269DD476}"/>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850528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575D1-3C9E-4712-B5F4-5CC857E12D6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Operating System</a:t>
            </a:r>
          </a:p>
        </p:txBody>
      </p:sp>
      <p:sp>
        <p:nvSpPr>
          <p:cNvPr id="3" name="Content Placeholder 2">
            <a:extLst>
              <a:ext uri="{FF2B5EF4-FFF2-40B4-BE49-F238E27FC236}">
                <a16:creationId xmlns:a16="http://schemas.microsoft.com/office/drawing/2014/main" id="{25E2DAA4-6DDD-4D15-8B16-4ABEF8E3BB52}"/>
              </a:ext>
            </a:extLst>
          </p:cNvPr>
          <p:cNvSpPr>
            <a:spLocks noGrp="1"/>
          </p:cNvSpPr>
          <p:nvPr>
            <p:ph idx="1"/>
          </p:nvPr>
        </p:nvSpPr>
        <p:spPr>
          <a:xfrm>
            <a:off x="2589212" y="1540189"/>
            <a:ext cx="8915400" cy="3777622"/>
          </a:xfrm>
        </p:spPr>
        <p:txBody>
          <a:bodyPr>
            <a:normAutofit/>
          </a:bodyPr>
          <a:lstStyle/>
          <a:p>
            <a:r>
              <a:rPr lang="en-US" altLang="en-US" sz="2400" dirty="0">
                <a:solidFill>
                  <a:schemeClr val="tx1"/>
                </a:solidFill>
                <a:latin typeface="Times New Roman" panose="02020603050405020304" pitchFamily="18" charset="0"/>
                <a:cs typeface="Times New Roman" panose="02020603050405020304" pitchFamily="18" charset="0"/>
              </a:rPr>
              <a:t>A program that acts as an intermediary between a user of a computer and the computer hardware.</a:t>
            </a:r>
          </a:p>
          <a:p>
            <a:pPr marL="0" indent="0">
              <a:buNone/>
            </a:pPr>
            <a:endParaRPr lang="en-US" altLang="en-US" sz="2400" dirty="0">
              <a:solidFill>
                <a:schemeClr val="tx1"/>
              </a:solidFill>
              <a:latin typeface="Times New Roman" panose="02020603050405020304" pitchFamily="18" charset="0"/>
              <a:cs typeface="Times New Roman" panose="02020603050405020304" pitchFamily="18" charset="0"/>
            </a:endParaRPr>
          </a:p>
          <a:p>
            <a:r>
              <a:rPr lang="en-US" altLang="en-US" sz="2400" dirty="0">
                <a:solidFill>
                  <a:schemeClr val="tx1"/>
                </a:solidFill>
                <a:latin typeface="Times New Roman" panose="02020603050405020304" pitchFamily="18" charset="0"/>
                <a:cs typeface="Times New Roman" panose="02020603050405020304" pitchFamily="18" charset="0"/>
              </a:rPr>
              <a:t>Operating system goals:</a:t>
            </a:r>
          </a:p>
          <a:p>
            <a:pPr lvl="1">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Execute user programs and make solving user problems easier</a:t>
            </a:r>
          </a:p>
          <a:p>
            <a:pPr lvl="1">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Make the computer system convenient to use</a:t>
            </a:r>
          </a:p>
          <a:p>
            <a:pPr lvl="1">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Use the computer hardware in an efficient manner</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E31F74F-BD74-9539-3887-E61EAD661B00}"/>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404760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7D7FA-F5C5-49A6-AF1C-311EF7C0E38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Aspects of OS</a:t>
            </a:r>
          </a:p>
        </p:txBody>
      </p:sp>
      <p:sp>
        <p:nvSpPr>
          <p:cNvPr id="3" name="Content Placeholder 2">
            <a:extLst>
              <a:ext uri="{FF2B5EF4-FFF2-40B4-BE49-F238E27FC236}">
                <a16:creationId xmlns:a16="http://schemas.microsoft.com/office/drawing/2014/main" id="{D46F3FD2-6DBF-4B6E-84BF-2BD93B67AD36}"/>
              </a:ext>
            </a:extLst>
          </p:cNvPr>
          <p:cNvSpPr>
            <a:spLocks noGrp="1"/>
          </p:cNvSpPr>
          <p:nvPr>
            <p:ph idx="1"/>
          </p:nvPr>
        </p:nvSpPr>
        <p:spPr>
          <a:xfrm>
            <a:off x="2411791" y="1540189"/>
            <a:ext cx="8915400" cy="3777622"/>
          </a:xfrm>
        </p:spPr>
        <p:txBody>
          <a:bodyPr>
            <a:normAutofit fontScale="92500" lnSpcReduction="10000"/>
          </a:bodyPr>
          <a:lstStyle/>
          <a:p>
            <a:r>
              <a:rPr lang="en-US" altLang="en-US" sz="2800" dirty="0">
                <a:solidFill>
                  <a:schemeClr val="tx1"/>
                </a:solidFill>
                <a:latin typeface="Times New Roman" panose="02020603050405020304" pitchFamily="18" charset="0"/>
                <a:cs typeface="Times New Roman" panose="02020603050405020304" pitchFamily="18" charset="0"/>
              </a:rPr>
              <a:t>OS is a </a:t>
            </a:r>
            <a:r>
              <a:rPr lang="en-US" altLang="en-US" sz="2800" b="1" dirty="0">
                <a:solidFill>
                  <a:srgbClr val="3366FF"/>
                </a:solidFill>
                <a:latin typeface="Times New Roman" panose="02020603050405020304" pitchFamily="18" charset="0"/>
                <a:cs typeface="Times New Roman" panose="02020603050405020304" pitchFamily="18" charset="0"/>
              </a:rPr>
              <a:t>resource manager</a:t>
            </a:r>
          </a:p>
          <a:p>
            <a:pPr lvl="1"/>
            <a:r>
              <a:rPr lang="en-US" altLang="en-US" sz="2400" dirty="0">
                <a:solidFill>
                  <a:schemeClr val="tx1"/>
                </a:solidFill>
                <a:latin typeface="Times New Roman" panose="02020603050405020304" pitchFamily="18" charset="0"/>
                <a:cs typeface="Times New Roman" panose="02020603050405020304" pitchFamily="18" charset="0"/>
              </a:rPr>
              <a:t>Manages all resources</a:t>
            </a:r>
          </a:p>
          <a:p>
            <a:pPr lvl="1"/>
            <a:r>
              <a:rPr lang="en-US" altLang="en-US" sz="2400" dirty="0">
                <a:solidFill>
                  <a:schemeClr val="tx1"/>
                </a:solidFill>
                <a:latin typeface="Times New Roman" panose="02020603050405020304" pitchFamily="18" charset="0"/>
                <a:cs typeface="Times New Roman" panose="02020603050405020304" pitchFamily="18" charset="0"/>
              </a:rPr>
              <a:t>Decides between conflicting requests for efficient and fair resource use</a:t>
            </a:r>
          </a:p>
          <a:p>
            <a:pPr marL="457200" lvl="1" indent="0">
              <a:buNone/>
            </a:pPr>
            <a:endParaRPr lang="en-US" altLang="en-US" sz="2400" dirty="0">
              <a:latin typeface="Times New Roman" panose="02020603050405020304" pitchFamily="18" charset="0"/>
              <a:cs typeface="Times New Roman" panose="02020603050405020304" pitchFamily="18" charset="0"/>
            </a:endParaRPr>
          </a:p>
          <a:p>
            <a:r>
              <a:rPr lang="en-US" altLang="en-US" sz="2800" dirty="0">
                <a:solidFill>
                  <a:schemeClr val="tx1"/>
                </a:solidFill>
                <a:latin typeface="Times New Roman" panose="02020603050405020304" pitchFamily="18" charset="0"/>
                <a:cs typeface="Times New Roman" panose="02020603050405020304" pitchFamily="18" charset="0"/>
              </a:rPr>
              <a:t>OS is a </a:t>
            </a:r>
            <a:r>
              <a:rPr lang="en-US" altLang="en-US" sz="2800" b="1" dirty="0">
                <a:solidFill>
                  <a:srgbClr val="3366FF"/>
                </a:solidFill>
                <a:latin typeface="Times New Roman" panose="02020603050405020304" pitchFamily="18" charset="0"/>
                <a:cs typeface="Times New Roman" panose="02020603050405020304" pitchFamily="18" charset="0"/>
              </a:rPr>
              <a:t>extended machine</a:t>
            </a:r>
          </a:p>
          <a:p>
            <a:pPr lvl="1"/>
            <a:r>
              <a:rPr lang="en-US" altLang="en-US" sz="2400" dirty="0">
                <a:solidFill>
                  <a:schemeClr val="tx1"/>
                </a:solidFill>
                <a:latin typeface="Times New Roman" panose="02020603050405020304" pitchFamily="18" charset="0"/>
                <a:cs typeface="Times New Roman" panose="02020603050405020304" pitchFamily="18" charset="0"/>
              </a:rPr>
              <a:t>Controls execution of programs to prevent errors and improper use of the computer.</a:t>
            </a:r>
          </a:p>
          <a:p>
            <a:pPr lvl="1"/>
            <a:r>
              <a:rPr lang="en-US" altLang="en-US" sz="2400" dirty="0">
                <a:solidFill>
                  <a:schemeClr val="tx1"/>
                </a:solidFill>
                <a:latin typeface="Times New Roman" panose="02020603050405020304" pitchFamily="18" charset="0"/>
                <a:cs typeface="Times New Roman" panose="02020603050405020304" pitchFamily="18" charset="0"/>
              </a:rPr>
              <a:t>Hides the complexity of the hardware and present simple and nice view to user.</a:t>
            </a:r>
          </a:p>
          <a:p>
            <a:endParaRPr lang="en-US" dirty="0"/>
          </a:p>
        </p:txBody>
      </p:sp>
      <p:sp>
        <p:nvSpPr>
          <p:cNvPr id="4" name="Footer Placeholder 3">
            <a:extLst>
              <a:ext uri="{FF2B5EF4-FFF2-40B4-BE49-F238E27FC236}">
                <a16:creationId xmlns:a16="http://schemas.microsoft.com/office/drawing/2014/main" id="{B08A93A6-10BE-C130-B396-CB37D3A73252}"/>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288885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6F0C-78C5-4492-8F91-6EE052C9A1E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Evolution of OS</a:t>
            </a:r>
          </a:p>
        </p:txBody>
      </p:sp>
      <p:sp>
        <p:nvSpPr>
          <p:cNvPr id="3" name="Content Placeholder 2">
            <a:extLst>
              <a:ext uri="{FF2B5EF4-FFF2-40B4-BE49-F238E27FC236}">
                <a16:creationId xmlns:a16="http://schemas.microsoft.com/office/drawing/2014/main" id="{E82BAF90-ECAE-43DA-AE8B-4E05EC18FE87}"/>
              </a:ext>
            </a:extLst>
          </p:cNvPr>
          <p:cNvSpPr>
            <a:spLocks noGrp="1"/>
          </p:cNvSpPr>
          <p:nvPr>
            <p:ph idx="1"/>
          </p:nvPr>
        </p:nvSpPr>
        <p:spPr>
          <a:xfrm>
            <a:off x="2589212" y="1540189"/>
            <a:ext cx="8915400" cy="4928850"/>
          </a:xfrm>
        </p:spPr>
        <p:txBody>
          <a:bodyPr>
            <a:normAutofit lnSpcReduction="10000"/>
          </a:bodyPr>
          <a:lstStyle/>
          <a:p>
            <a:r>
              <a:rPr lang="en-US" sz="2400" dirty="0">
                <a:solidFill>
                  <a:schemeClr val="tx1"/>
                </a:solidFill>
                <a:latin typeface="Times New Roman" panose="02020603050405020304" pitchFamily="18" charset="0"/>
                <a:cs typeface="Times New Roman" panose="02020603050405020304" pitchFamily="18" charset="0"/>
              </a:rPr>
              <a:t>First Generation Computers (1945-55)</a:t>
            </a:r>
          </a:p>
          <a:p>
            <a:pPr lvl="1"/>
            <a:r>
              <a:rPr lang="en-US" sz="2200" dirty="0">
                <a:solidFill>
                  <a:schemeClr val="tx1"/>
                </a:solidFill>
                <a:latin typeface="Times New Roman" panose="02020603050405020304" pitchFamily="18" charset="0"/>
                <a:cs typeface="Times New Roman" panose="02020603050405020304" pitchFamily="18" charset="0"/>
              </a:rPr>
              <a:t>Vacuum-tubes as building machine</a:t>
            </a:r>
          </a:p>
          <a:p>
            <a:pPr lvl="1"/>
            <a:r>
              <a:rPr lang="en-US" sz="2200" dirty="0">
                <a:solidFill>
                  <a:schemeClr val="tx1"/>
                </a:solidFill>
                <a:latin typeface="Times New Roman" panose="02020603050405020304" pitchFamily="18" charset="0"/>
                <a:cs typeface="Times New Roman" panose="02020603050405020304" pitchFamily="18" charset="0"/>
              </a:rPr>
              <a:t>Single group of people designed, built, programmed, operated and maintained each machine</a:t>
            </a:r>
          </a:p>
          <a:p>
            <a:pPr lvl="1"/>
            <a:r>
              <a:rPr lang="en-US" sz="2200" dirty="0">
                <a:solidFill>
                  <a:schemeClr val="tx1"/>
                </a:solidFill>
                <a:latin typeface="Times New Roman" panose="02020603050405020304" pitchFamily="18" charset="0"/>
                <a:cs typeface="Times New Roman" panose="02020603050405020304" pitchFamily="18" charset="0"/>
              </a:rPr>
              <a:t>Machine Code is used</a:t>
            </a:r>
          </a:p>
          <a:p>
            <a:pPr lvl="1"/>
            <a:r>
              <a:rPr lang="en-US" sz="2200" dirty="0">
                <a:solidFill>
                  <a:schemeClr val="tx1"/>
                </a:solidFill>
                <a:latin typeface="Times New Roman" panose="02020603050405020304" pitchFamily="18" charset="0"/>
                <a:cs typeface="Times New Roman" panose="02020603050405020304" pitchFamily="18" charset="0"/>
              </a:rPr>
              <a:t>OS and programming language were unknown</a:t>
            </a:r>
          </a:p>
          <a:p>
            <a:pPr lvl="1"/>
            <a:endParaRPr lang="en-US" sz="2200" dirty="0">
              <a:solidFill>
                <a:schemeClr val="tx1"/>
              </a:solidFill>
              <a:latin typeface="Times New Roman" panose="02020603050405020304" pitchFamily="18" charset="0"/>
              <a:cs typeface="Times New Roman" panose="02020603050405020304" pitchFamily="18" charset="0"/>
            </a:endParaRPr>
          </a:p>
          <a:p>
            <a:pPr marL="287338" lvl="1"/>
            <a:r>
              <a:rPr lang="en-US" sz="2400" dirty="0">
                <a:solidFill>
                  <a:schemeClr val="tx1"/>
                </a:solidFill>
                <a:latin typeface="Times New Roman" panose="02020603050405020304" pitchFamily="18" charset="0"/>
                <a:cs typeface="Times New Roman" panose="02020603050405020304" pitchFamily="18" charset="0"/>
              </a:rPr>
              <a:t>Second Generation Computers (1955-65)</a:t>
            </a:r>
          </a:p>
          <a:p>
            <a:pPr marL="687388" lvl="2"/>
            <a:r>
              <a:rPr lang="en-US" sz="2200" dirty="0">
                <a:solidFill>
                  <a:schemeClr val="tx1"/>
                </a:solidFill>
                <a:latin typeface="Times New Roman" panose="02020603050405020304" pitchFamily="18" charset="0"/>
                <a:cs typeface="Times New Roman" panose="02020603050405020304" pitchFamily="18" charset="0"/>
              </a:rPr>
              <a:t>Transistors as building machine</a:t>
            </a:r>
          </a:p>
          <a:p>
            <a:pPr marL="687388" lvl="2"/>
            <a:r>
              <a:rPr lang="en-US" sz="2200" dirty="0">
                <a:solidFill>
                  <a:schemeClr val="tx1"/>
                </a:solidFill>
                <a:latin typeface="Times New Roman" panose="02020603050405020304" pitchFamily="18" charset="0"/>
                <a:cs typeface="Times New Roman" panose="02020603050405020304" pitchFamily="18" charset="0"/>
              </a:rPr>
              <a:t>Batch System were used</a:t>
            </a:r>
          </a:p>
          <a:p>
            <a:pPr marL="687388" lvl="2"/>
            <a:r>
              <a:rPr lang="en-US" sz="2200" dirty="0">
                <a:solidFill>
                  <a:schemeClr val="tx1"/>
                </a:solidFill>
                <a:latin typeface="Times New Roman" panose="02020603050405020304" pitchFamily="18" charset="0"/>
                <a:cs typeface="Times New Roman" panose="02020603050405020304" pitchFamily="18" charset="0"/>
              </a:rPr>
              <a:t>FORTAN and assembly language were used</a:t>
            </a:r>
          </a:p>
          <a:p>
            <a:pPr lvl="1"/>
            <a:endParaRPr lang="en-US"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0C07F53-81B0-1EFA-7D5C-8A2C3C845360}"/>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528881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40598-601B-4F4C-936F-FB91D7360CB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Evolution of OS (contd.)</a:t>
            </a:r>
          </a:p>
        </p:txBody>
      </p:sp>
      <p:sp>
        <p:nvSpPr>
          <p:cNvPr id="3" name="Content Placeholder 2">
            <a:extLst>
              <a:ext uri="{FF2B5EF4-FFF2-40B4-BE49-F238E27FC236}">
                <a16:creationId xmlns:a16="http://schemas.microsoft.com/office/drawing/2014/main" id="{46FBDCB8-2E80-49D7-96AF-CCFC8551C8CD}"/>
              </a:ext>
            </a:extLst>
          </p:cNvPr>
          <p:cNvSpPr>
            <a:spLocks noGrp="1"/>
          </p:cNvSpPr>
          <p:nvPr>
            <p:ph idx="1"/>
          </p:nvPr>
        </p:nvSpPr>
        <p:spPr>
          <a:xfrm>
            <a:off x="2592925" y="1465997"/>
            <a:ext cx="8915400" cy="4539018"/>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Third Generation Computers (1965-80)</a:t>
            </a:r>
          </a:p>
          <a:p>
            <a:pPr lvl="1"/>
            <a:r>
              <a:rPr lang="en-US" sz="2200" dirty="0">
                <a:solidFill>
                  <a:schemeClr val="tx1"/>
                </a:solidFill>
                <a:latin typeface="Times New Roman" panose="02020603050405020304" pitchFamily="18" charset="0"/>
                <a:cs typeface="Times New Roman" panose="02020603050405020304" pitchFamily="18" charset="0"/>
              </a:rPr>
              <a:t>Integrated Circuit (IC) as building machine</a:t>
            </a:r>
          </a:p>
          <a:p>
            <a:pPr lvl="1"/>
            <a:r>
              <a:rPr lang="en-US" sz="2200" dirty="0">
                <a:solidFill>
                  <a:schemeClr val="tx1"/>
                </a:solidFill>
                <a:latin typeface="Times New Roman" panose="02020603050405020304" pitchFamily="18" charset="0"/>
                <a:cs typeface="Times New Roman" panose="02020603050405020304" pitchFamily="18" charset="0"/>
              </a:rPr>
              <a:t>Multiprogramming came into existence</a:t>
            </a:r>
          </a:p>
          <a:p>
            <a:pPr lvl="1"/>
            <a:r>
              <a:rPr lang="en-US" sz="2200" dirty="0">
                <a:solidFill>
                  <a:schemeClr val="tx1"/>
                </a:solidFill>
                <a:latin typeface="Times New Roman" panose="02020603050405020304" pitchFamily="18" charset="0"/>
                <a:cs typeface="Times New Roman" panose="02020603050405020304" pitchFamily="18" charset="0"/>
              </a:rPr>
              <a:t>OS: OS/360, MULTICS, CTSS were used</a:t>
            </a:r>
          </a:p>
          <a:p>
            <a:pPr lvl="1"/>
            <a:endParaRPr lang="en-US" sz="2200" dirty="0">
              <a:solidFill>
                <a:schemeClr val="tx1"/>
              </a:solidFill>
              <a:latin typeface="Times New Roman" panose="02020603050405020304" pitchFamily="18" charset="0"/>
              <a:cs typeface="Times New Roman" panose="02020603050405020304" pitchFamily="18" charset="0"/>
            </a:endParaRPr>
          </a:p>
          <a:p>
            <a:pPr marL="287338" lvl="1"/>
            <a:r>
              <a:rPr lang="en-US" sz="2400" dirty="0">
                <a:solidFill>
                  <a:schemeClr val="tx1"/>
                </a:solidFill>
                <a:latin typeface="Times New Roman" panose="02020603050405020304" pitchFamily="18" charset="0"/>
                <a:cs typeface="Times New Roman" panose="02020603050405020304" pitchFamily="18" charset="0"/>
              </a:rPr>
              <a:t>Fourth Generation of Computers (1980-Present)</a:t>
            </a:r>
          </a:p>
          <a:p>
            <a:pPr marL="687388" lvl="2"/>
            <a:r>
              <a:rPr lang="en-US" sz="2000" dirty="0">
                <a:solidFill>
                  <a:schemeClr val="tx1"/>
                </a:solidFill>
                <a:latin typeface="Times New Roman" panose="02020603050405020304" pitchFamily="18" charset="0"/>
                <a:cs typeface="Times New Roman" panose="02020603050405020304" pitchFamily="18" charset="0"/>
              </a:rPr>
              <a:t>LSI and VLSI as building machine</a:t>
            </a:r>
          </a:p>
          <a:p>
            <a:pPr marL="687388" lvl="2"/>
            <a:r>
              <a:rPr lang="en-US" sz="2000" dirty="0">
                <a:solidFill>
                  <a:schemeClr val="tx1"/>
                </a:solidFill>
                <a:latin typeface="Times New Roman" panose="02020603050405020304" pitchFamily="18" charset="0"/>
                <a:cs typeface="Times New Roman" panose="02020603050405020304" pitchFamily="18" charset="0"/>
              </a:rPr>
              <a:t>Microcomputers came into existence</a:t>
            </a:r>
          </a:p>
          <a:p>
            <a:pPr marL="687388" lvl="2"/>
            <a:r>
              <a:rPr lang="en-US" sz="2000" dirty="0">
                <a:solidFill>
                  <a:schemeClr val="tx1"/>
                </a:solidFill>
                <a:latin typeface="Times New Roman" panose="02020603050405020304" pitchFamily="18" charset="0"/>
                <a:cs typeface="Times New Roman" panose="02020603050405020304" pitchFamily="18" charset="0"/>
              </a:rPr>
              <a:t>IBM PC (MS-DOS), Apple Macintosh (Macintosh)</a:t>
            </a:r>
          </a:p>
        </p:txBody>
      </p:sp>
      <p:sp>
        <p:nvSpPr>
          <p:cNvPr id="4" name="Footer Placeholder 3">
            <a:extLst>
              <a:ext uri="{FF2B5EF4-FFF2-40B4-BE49-F238E27FC236}">
                <a16:creationId xmlns:a16="http://schemas.microsoft.com/office/drawing/2014/main" id="{7351D511-98D1-DBD9-ACAA-6F636AF4F4E7}"/>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215890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9698B-DAA5-4BB9-A380-D30D307A3F2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OS</a:t>
            </a:r>
          </a:p>
        </p:txBody>
      </p:sp>
      <p:sp>
        <p:nvSpPr>
          <p:cNvPr id="3" name="Content Placeholder 2">
            <a:extLst>
              <a:ext uri="{FF2B5EF4-FFF2-40B4-BE49-F238E27FC236}">
                <a16:creationId xmlns:a16="http://schemas.microsoft.com/office/drawing/2014/main" id="{3B20BF0D-B171-4104-AC81-478E5B3305DB}"/>
              </a:ext>
            </a:extLst>
          </p:cNvPr>
          <p:cNvSpPr>
            <a:spLocks noGrp="1"/>
          </p:cNvSpPr>
          <p:nvPr>
            <p:ph idx="1"/>
          </p:nvPr>
        </p:nvSpPr>
        <p:spPr>
          <a:xfrm>
            <a:off x="2592925" y="1540189"/>
            <a:ext cx="8915400" cy="3777622"/>
          </a:xfrm>
        </p:spPr>
        <p:txBody>
          <a:bodyPr/>
          <a:lstStyle/>
          <a:p>
            <a:r>
              <a:rPr lang="en-US" sz="2400" dirty="0">
                <a:solidFill>
                  <a:schemeClr val="tx1"/>
                </a:solidFill>
                <a:latin typeface="Times New Roman" panose="02020603050405020304" pitchFamily="18" charset="0"/>
                <a:cs typeface="Times New Roman" panose="02020603050405020304" pitchFamily="18" charset="0"/>
              </a:rPr>
              <a:t>Mainframe OS</a:t>
            </a:r>
          </a:p>
          <a:p>
            <a:r>
              <a:rPr lang="en-US" sz="2400" dirty="0">
                <a:solidFill>
                  <a:schemeClr val="tx1"/>
                </a:solidFill>
                <a:latin typeface="Times New Roman" panose="02020603050405020304" pitchFamily="18" charset="0"/>
                <a:cs typeface="Times New Roman" panose="02020603050405020304" pitchFamily="18" charset="0"/>
              </a:rPr>
              <a:t>Server OS</a:t>
            </a:r>
          </a:p>
          <a:p>
            <a:r>
              <a:rPr lang="en-US" sz="2400" dirty="0">
                <a:solidFill>
                  <a:schemeClr val="tx1"/>
                </a:solidFill>
                <a:latin typeface="Times New Roman" panose="02020603050405020304" pitchFamily="18" charset="0"/>
                <a:cs typeface="Times New Roman" panose="02020603050405020304" pitchFamily="18" charset="0"/>
              </a:rPr>
              <a:t>Multiprocessor OS</a:t>
            </a:r>
          </a:p>
          <a:p>
            <a:r>
              <a:rPr lang="en-US" sz="2400" dirty="0">
                <a:solidFill>
                  <a:schemeClr val="tx1"/>
                </a:solidFill>
                <a:latin typeface="Times New Roman" panose="02020603050405020304" pitchFamily="18" charset="0"/>
                <a:cs typeface="Times New Roman" panose="02020603050405020304" pitchFamily="18" charset="0"/>
              </a:rPr>
              <a:t>PC OS</a:t>
            </a:r>
          </a:p>
          <a:p>
            <a:r>
              <a:rPr lang="en-US" sz="2400" dirty="0">
                <a:solidFill>
                  <a:schemeClr val="tx1"/>
                </a:solidFill>
                <a:latin typeface="Times New Roman" panose="02020603050405020304" pitchFamily="18" charset="0"/>
                <a:cs typeface="Times New Roman" panose="02020603050405020304" pitchFamily="18" charset="0"/>
              </a:rPr>
              <a:t>Real time OS</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				and so on ...</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FA6D69E-86CD-C134-B950-3E490A04DA37}"/>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632798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E6D95-F02A-4FB8-B6A0-BA4C5BAEF3D7}"/>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Types of OS (contd.)</a:t>
            </a:r>
            <a:endParaRPr lang="en-US" dirty="0">
              <a:solidFill>
                <a:schemeClr val="tx1"/>
              </a:solidFill>
            </a:endParaRPr>
          </a:p>
        </p:txBody>
      </p:sp>
      <p:sp>
        <p:nvSpPr>
          <p:cNvPr id="3" name="Content Placeholder 2">
            <a:extLst>
              <a:ext uri="{FF2B5EF4-FFF2-40B4-BE49-F238E27FC236}">
                <a16:creationId xmlns:a16="http://schemas.microsoft.com/office/drawing/2014/main" id="{72A25760-6BA4-44B7-9105-1B727A679C95}"/>
              </a:ext>
            </a:extLst>
          </p:cNvPr>
          <p:cNvSpPr>
            <a:spLocks noGrp="1"/>
          </p:cNvSpPr>
          <p:nvPr>
            <p:ph idx="1"/>
          </p:nvPr>
        </p:nvSpPr>
        <p:spPr>
          <a:xfrm>
            <a:off x="2589212" y="1655928"/>
            <a:ext cx="8915400" cy="3777622"/>
          </a:xfrm>
        </p:spPr>
        <p:txBody>
          <a:bodyPr/>
          <a:lstStyle/>
          <a:p>
            <a:pPr marL="0" indent="0">
              <a:buNone/>
            </a:pPr>
            <a:r>
              <a:rPr lang="en-US" sz="2000" b="1" u="sng" dirty="0">
                <a:solidFill>
                  <a:schemeClr val="tx1"/>
                </a:solidFill>
                <a:latin typeface="Times New Roman" panose="02020603050405020304" pitchFamily="18" charset="0"/>
                <a:cs typeface="Times New Roman" panose="02020603050405020304" pitchFamily="18" charset="0"/>
              </a:rPr>
              <a:t>Mainframe OS</a:t>
            </a:r>
          </a:p>
          <a:p>
            <a:r>
              <a:rPr lang="en-US" sz="2000" dirty="0">
                <a:solidFill>
                  <a:schemeClr val="tx1"/>
                </a:solidFill>
                <a:latin typeface="Times New Roman" panose="02020603050405020304" pitchFamily="18" charset="0"/>
                <a:cs typeface="Times New Roman" panose="02020603050405020304" pitchFamily="18" charset="0"/>
              </a:rPr>
              <a:t>Capable of processing large amounts of information and supporting a great number of users</a:t>
            </a:r>
          </a:p>
          <a:p>
            <a:r>
              <a:rPr lang="en-US" sz="2000" dirty="0">
                <a:solidFill>
                  <a:schemeClr val="tx1"/>
                </a:solidFill>
                <a:latin typeface="Times New Roman" panose="02020603050405020304" pitchFamily="18" charset="0"/>
                <a:cs typeface="Times New Roman" panose="02020603050405020304" pitchFamily="18" charset="0"/>
              </a:rPr>
              <a:t>Used generally in support of government and business projects </a:t>
            </a:r>
          </a:p>
          <a:p>
            <a:endParaRPr lang="en-US" sz="2000" dirty="0">
              <a:solidFill>
                <a:schemeClr val="tx1"/>
              </a:solidFill>
              <a:latin typeface="Times New Roman" panose="02020603050405020304" pitchFamily="18" charset="0"/>
              <a:cs typeface="Times New Roman" panose="02020603050405020304" pitchFamily="18" charset="0"/>
            </a:endParaRPr>
          </a:p>
          <a:p>
            <a:pPr marL="0" indent="0">
              <a:buNone/>
            </a:pPr>
            <a:r>
              <a:rPr lang="en-US" sz="2000" b="1" u="sng" dirty="0">
                <a:solidFill>
                  <a:schemeClr val="tx1"/>
                </a:solidFill>
                <a:latin typeface="Times New Roman" panose="02020603050405020304" pitchFamily="18" charset="0"/>
                <a:cs typeface="Times New Roman" panose="02020603050405020304" pitchFamily="18" charset="0"/>
              </a:rPr>
              <a:t>Server OS</a:t>
            </a:r>
          </a:p>
          <a:p>
            <a:r>
              <a:rPr lang="en-US" sz="2000" dirty="0">
                <a:solidFill>
                  <a:schemeClr val="tx1"/>
                </a:solidFill>
                <a:latin typeface="Times New Roman" panose="02020603050405020304" pitchFamily="18" charset="0"/>
                <a:cs typeface="Times New Roman" panose="02020603050405020304" pitchFamily="18" charset="0"/>
              </a:rPr>
              <a:t>Developed for multi-user computer programs, programs important for business computing and networked application</a:t>
            </a:r>
          </a:p>
        </p:txBody>
      </p:sp>
      <p:sp>
        <p:nvSpPr>
          <p:cNvPr id="4" name="Footer Placeholder 3">
            <a:extLst>
              <a:ext uri="{FF2B5EF4-FFF2-40B4-BE49-F238E27FC236}">
                <a16:creationId xmlns:a16="http://schemas.microsoft.com/office/drawing/2014/main" id="{4020AD98-FC89-75D4-90C0-B40551226B49}"/>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020382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8CFBA-48DF-41B5-AC0D-FAF665BE2B67}"/>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Types of OS (contd.)</a:t>
            </a:r>
            <a:endParaRPr lang="en-US" dirty="0"/>
          </a:p>
        </p:txBody>
      </p:sp>
      <p:sp>
        <p:nvSpPr>
          <p:cNvPr id="3" name="Content Placeholder 2">
            <a:extLst>
              <a:ext uri="{FF2B5EF4-FFF2-40B4-BE49-F238E27FC236}">
                <a16:creationId xmlns:a16="http://schemas.microsoft.com/office/drawing/2014/main" id="{107198F2-5FF6-41AC-8565-1A45845F8C5F}"/>
              </a:ext>
            </a:extLst>
          </p:cNvPr>
          <p:cNvSpPr>
            <a:spLocks noGrp="1"/>
          </p:cNvSpPr>
          <p:nvPr>
            <p:ph idx="1"/>
          </p:nvPr>
        </p:nvSpPr>
        <p:spPr>
          <a:xfrm>
            <a:off x="2589212" y="1540189"/>
            <a:ext cx="8915400" cy="3777622"/>
          </a:xfrm>
        </p:spPr>
        <p:txBody>
          <a:bodyPr/>
          <a:lstStyle/>
          <a:p>
            <a:pPr marL="0" indent="0">
              <a:buNone/>
            </a:pPr>
            <a:r>
              <a:rPr lang="en-US" sz="2000" b="1" u="sng" dirty="0">
                <a:solidFill>
                  <a:schemeClr val="tx1"/>
                </a:solidFill>
                <a:latin typeface="Times New Roman" panose="02020603050405020304" pitchFamily="18" charset="0"/>
                <a:cs typeface="Times New Roman" panose="02020603050405020304" pitchFamily="18" charset="0"/>
              </a:rPr>
              <a:t>Multiprocessor OS</a:t>
            </a:r>
          </a:p>
          <a:p>
            <a:r>
              <a:rPr lang="en-US" sz="2000" dirty="0">
                <a:solidFill>
                  <a:schemeClr val="tx1"/>
                </a:solidFill>
                <a:latin typeface="Times New Roman" panose="02020603050405020304" pitchFamily="18" charset="0"/>
                <a:cs typeface="Times New Roman" panose="02020603050405020304" pitchFamily="18" charset="0"/>
              </a:rPr>
              <a:t>Within a single computer system, the usage of multiple central processing units (CPUs) is known as multiprocessor operating system. Such systems are used to process large volumes of data at a very high speed.</a:t>
            </a:r>
            <a:endParaRPr lang="en-IN"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ED4AFA6D-32F2-4BA9-9918-47AC060A2190}"/>
              </a:ext>
            </a:extLst>
          </p:cNvPr>
          <p:cNvPicPr>
            <a:picLocks noChangeAspect="1"/>
          </p:cNvPicPr>
          <p:nvPr/>
        </p:nvPicPr>
        <p:blipFill>
          <a:blip r:embed="rId2"/>
          <a:stretch>
            <a:fillRect/>
          </a:stretch>
        </p:blipFill>
        <p:spPr>
          <a:xfrm>
            <a:off x="4062483" y="3530457"/>
            <a:ext cx="5388962" cy="2703433"/>
          </a:xfrm>
          <a:prstGeom prst="rect">
            <a:avLst/>
          </a:prstGeom>
        </p:spPr>
      </p:pic>
      <p:sp>
        <p:nvSpPr>
          <p:cNvPr id="5" name="Footer Placeholder 4">
            <a:extLst>
              <a:ext uri="{FF2B5EF4-FFF2-40B4-BE49-F238E27FC236}">
                <a16:creationId xmlns:a16="http://schemas.microsoft.com/office/drawing/2014/main" id="{B466921D-99DC-D360-4BD7-39474AA72149}"/>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097418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45C1-2EE8-4C15-8FBE-31787438EF66}"/>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Types of OS (contd.)</a:t>
            </a:r>
            <a:endParaRPr lang="en-US" dirty="0"/>
          </a:p>
        </p:txBody>
      </p:sp>
      <p:sp>
        <p:nvSpPr>
          <p:cNvPr id="3" name="Content Placeholder 2">
            <a:extLst>
              <a:ext uri="{FF2B5EF4-FFF2-40B4-BE49-F238E27FC236}">
                <a16:creationId xmlns:a16="http://schemas.microsoft.com/office/drawing/2014/main" id="{2972D0DF-B441-44DD-B94A-6DE61C3A708C}"/>
              </a:ext>
            </a:extLst>
          </p:cNvPr>
          <p:cNvSpPr>
            <a:spLocks noGrp="1"/>
          </p:cNvSpPr>
          <p:nvPr>
            <p:ph idx="1"/>
          </p:nvPr>
        </p:nvSpPr>
        <p:spPr>
          <a:xfrm>
            <a:off x="2589212" y="1540188"/>
            <a:ext cx="8915400" cy="4693701"/>
          </a:xfrm>
        </p:spPr>
        <p:txBody>
          <a:bodyPr/>
          <a:lstStyle/>
          <a:p>
            <a:pPr marL="0" indent="0">
              <a:buNone/>
            </a:pPr>
            <a:r>
              <a:rPr lang="en-US" sz="2000" b="1" u="sng" dirty="0">
                <a:solidFill>
                  <a:schemeClr val="tx1"/>
                </a:solidFill>
                <a:latin typeface="Times New Roman" panose="02020603050405020304" pitchFamily="18" charset="0"/>
                <a:cs typeface="Times New Roman" panose="02020603050405020304" pitchFamily="18" charset="0"/>
              </a:rPr>
              <a:t>Personal Computer (PC) OS</a:t>
            </a:r>
          </a:p>
          <a:p>
            <a:r>
              <a:rPr lang="en-US" sz="2000" dirty="0">
                <a:solidFill>
                  <a:schemeClr val="tx1"/>
                </a:solidFill>
                <a:latin typeface="Times New Roman" panose="02020603050405020304" pitchFamily="18" charset="0"/>
                <a:cs typeface="Times New Roman" panose="02020603050405020304" pitchFamily="18" charset="0"/>
              </a:rPr>
              <a:t>An operating system serving the general purpose (word processing, spreadsheets, web browser, digital media and others) of the end user is known as a personal computer operating system</a:t>
            </a:r>
          </a:p>
          <a:p>
            <a:pPr marL="0" indent="0">
              <a:buNone/>
            </a:pPr>
            <a:endParaRPr lang="en-US" sz="2000" dirty="0">
              <a:solidFill>
                <a:schemeClr val="tx1"/>
              </a:solidFill>
              <a:latin typeface="Times New Roman" panose="02020603050405020304" pitchFamily="18" charset="0"/>
              <a:cs typeface="Times New Roman" panose="02020603050405020304" pitchFamily="18" charset="0"/>
            </a:endParaRPr>
          </a:p>
          <a:p>
            <a:pPr marL="0" indent="0">
              <a:buNone/>
            </a:pPr>
            <a:r>
              <a:rPr lang="en-US" sz="2000" b="1" u="sng" dirty="0">
                <a:solidFill>
                  <a:schemeClr val="tx1"/>
                </a:solidFill>
                <a:latin typeface="Times New Roman" panose="02020603050405020304" pitchFamily="18" charset="0"/>
                <a:cs typeface="Times New Roman" panose="02020603050405020304" pitchFamily="18" charset="0"/>
              </a:rPr>
              <a:t>Real Time OS</a:t>
            </a:r>
          </a:p>
          <a:p>
            <a:r>
              <a:rPr lang="en-US" sz="2000" dirty="0">
                <a:solidFill>
                  <a:schemeClr val="tx1"/>
                </a:solidFill>
                <a:latin typeface="Times New Roman" panose="02020603050405020304" pitchFamily="18" charset="0"/>
                <a:cs typeface="Times New Roman" panose="02020603050405020304" pitchFamily="18" charset="0"/>
              </a:rPr>
              <a:t>The operating systems for serving real time application requests is known as real time operating systems</a:t>
            </a:r>
          </a:p>
          <a:p>
            <a:r>
              <a:rPr lang="en-US" sz="2000" dirty="0">
                <a:solidFill>
                  <a:schemeClr val="tx1"/>
                </a:solidFill>
                <a:latin typeface="Times New Roman" panose="02020603050405020304" pitchFamily="18" charset="0"/>
                <a:cs typeface="Times New Roman" panose="02020603050405020304" pitchFamily="18" charset="0"/>
              </a:rPr>
              <a:t>The real time operating system should be capable of responding and serving requests as and when they come in</a:t>
            </a:r>
            <a:endParaRPr lang="en-IN"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92DCA1E-DF5F-255B-CD01-666C996660AA}"/>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425155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16AD8-BE97-4DDF-867C-49EF047F828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Structure of OS</a:t>
            </a:r>
          </a:p>
        </p:txBody>
      </p:sp>
      <p:sp>
        <p:nvSpPr>
          <p:cNvPr id="3" name="Content Placeholder 2">
            <a:extLst>
              <a:ext uri="{FF2B5EF4-FFF2-40B4-BE49-F238E27FC236}">
                <a16:creationId xmlns:a16="http://schemas.microsoft.com/office/drawing/2014/main" id="{ABBA4C83-A189-4EF3-A0EA-4C5A7E77593E}"/>
              </a:ext>
            </a:extLst>
          </p:cNvPr>
          <p:cNvSpPr>
            <a:spLocks noGrp="1"/>
          </p:cNvSpPr>
          <p:nvPr>
            <p:ph idx="1"/>
          </p:nvPr>
        </p:nvSpPr>
        <p:spPr>
          <a:xfrm>
            <a:off x="2589212" y="1393483"/>
            <a:ext cx="8915400" cy="5198385"/>
          </a:xfrm>
        </p:spPr>
        <p:txBody>
          <a:bodyPr>
            <a:normAutofit fontScale="92500" lnSpcReduction="20000"/>
          </a:bodyPr>
          <a:lstStyle/>
          <a:p>
            <a:pPr>
              <a:lnSpc>
                <a:spcPct val="90000"/>
              </a:lnSpc>
            </a:pPr>
            <a:r>
              <a:rPr lang="en-US" altLang="en-US" sz="2400" b="1" dirty="0">
                <a:solidFill>
                  <a:srgbClr val="3366FF"/>
                </a:solidFill>
                <a:latin typeface="Times New Roman" panose="02020603050405020304" pitchFamily="18" charset="0"/>
                <a:cs typeface="Times New Roman" panose="02020603050405020304" pitchFamily="18" charset="0"/>
              </a:rPr>
              <a:t>Multiprogramming</a:t>
            </a:r>
            <a:r>
              <a:rPr lang="en-US" altLang="en-US" sz="2000" dirty="0">
                <a:latin typeface="Times New Roman" panose="02020603050405020304" pitchFamily="18" charset="0"/>
                <a:cs typeface="Times New Roman" panose="02020603050405020304" pitchFamily="18" charset="0"/>
              </a:rPr>
              <a:t> (</a:t>
            </a:r>
            <a:r>
              <a:rPr lang="en-US" altLang="en-US" sz="2400" b="1" dirty="0">
                <a:solidFill>
                  <a:srgbClr val="3366FF"/>
                </a:solidFill>
                <a:latin typeface="Times New Roman" panose="02020603050405020304" pitchFamily="18" charset="0"/>
                <a:cs typeface="Times New Roman" panose="02020603050405020304" pitchFamily="18" charset="0"/>
              </a:rPr>
              <a:t>Batch system</a:t>
            </a:r>
            <a:r>
              <a:rPr lang="en-US" altLang="en-US" sz="2000" dirty="0">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needed for efficiency</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Single user cannot keep CPU and I/O devices busy at all times</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Multiprogramming organizes jobs (code and data) so CPU always has one to execute</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A subset of total jobs in system is kept in memory</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One job selected and run via</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3366FF"/>
                </a:solidFill>
                <a:latin typeface="Times New Roman" panose="02020603050405020304" pitchFamily="18" charset="0"/>
                <a:cs typeface="Times New Roman" panose="02020603050405020304" pitchFamily="18" charset="0"/>
              </a:rPr>
              <a:t>job scheduling</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When it has to wait (for I/O for example), OS switches to another job</a:t>
            </a:r>
          </a:p>
          <a:p>
            <a:pPr lvl="1">
              <a:lnSpc>
                <a:spcPct val="90000"/>
              </a:lnSpc>
            </a:pPr>
            <a:endParaRPr lang="en-US" altLang="en-US" sz="1000" dirty="0">
              <a:latin typeface="Times New Roman" panose="02020603050405020304" pitchFamily="18" charset="0"/>
              <a:cs typeface="Times New Roman" panose="02020603050405020304" pitchFamily="18" charset="0"/>
            </a:endParaRPr>
          </a:p>
          <a:p>
            <a:pPr>
              <a:lnSpc>
                <a:spcPct val="90000"/>
              </a:lnSpc>
            </a:pPr>
            <a:r>
              <a:rPr lang="en-US" altLang="en-US" sz="2400" b="1" dirty="0">
                <a:solidFill>
                  <a:srgbClr val="3366FF"/>
                </a:solidFill>
                <a:latin typeface="Times New Roman" panose="02020603050405020304" pitchFamily="18" charset="0"/>
                <a:cs typeface="Times New Roman" panose="02020603050405020304" pitchFamily="18" charset="0"/>
              </a:rPr>
              <a:t>Timesharing </a:t>
            </a:r>
            <a:r>
              <a:rPr lang="en-US" altLang="en-US" sz="2000" dirty="0">
                <a:latin typeface="Times New Roman" panose="02020603050405020304" pitchFamily="18" charset="0"/>
                <a:cs typeface="Times New Roman" panose="02020603050405020304" pitchFamily="18" charset="0"/>
              </a:rPr>
              <a:t>(</a:t>
            </a:r>
            <a:r>
              <a:rPr lang="en-US" altLang="en-US" sz="2400" b="1" dirty="0">
                <a:solidFill>
                  <a:srgbClr val="3366FF"/>
                </a:solidFill>
                <a:latin typeface="Times New Roman" panose="02020603050405020304" pitchFamily="18" charset="0"/>
                <a:cs typeface="Times New Roman" panose="02020603050405020304" pitchFamily="18" charset="0"/>
              </a:rPr>
              <a:t>multitasking</a:t>
            </a:r>
            <a:r>
              <a:rPr lang="en-US" altLang="en-US" sz="2000" dirty="0">
                <a:latin typeface="Times New Roman" panose="02020603050405020304" pitchFamily="18" charset="0"/>
                <a:cs typeface="Times New Roman" panose="02020603050405020304" pitchFamily="18" charset="0"/>
              </a:rPr>
              <a:t>)</a:t>
            </a:r>
            <a:r>
              <a:rPr lang="en-US" altLang="en-US" sz="2400" b="1" dirty="0">
                <a:solidFill>
                  <a:srgbClr val="3366FF"/>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is logical extension in which CPU switches jobs so frequently that users can interact with each job while it is running, creating </a:t>
            </a:r>
            <a:r>
              <a:rPr lang="en-US" altLang="en-US" sz="2400" b="1" dirty="0">
                <a:solidFill>
                  <a:srgbClr val="3366FF"/>
                </a:solidFill>
                <a:latin typeface="Times New Roman" panose="02020603050405020304" pitchFamily="18" charset="0"/>
                <a:cs typeface="Times New Roman" panose="02020603050405020304" pitchFamily="18" charset="0"/>
              </a:rPr>
              <a:t>interactive</a:t>
            </a:r>
            <a:r>
              <a:rPr lang="en-US" altLang="en-US" sz="2000" dirty="0">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computing</a:t>
            </a:r>
          </a:p>
          <a:p>
            <a:pPr lvl="1">
              <a:lnSpc>
                <a:spcPct val="90000"/>
              </a:lnSpc>
            </a:pPr>
            <a:r>
              <a:rPr lang="en-US" altLang="en-US" sz="2000" b="1" dirty="0">
                <a:solidFill>
                  <a:srgbClr val="3366FF"/>
                </a:solidFill>
                <a:latin typeface="Times New Roman" panose="02020603050405020304" pitchFamily="18" charset="0"/>
                <a:cs typeface="Times New Roman" panose="02020603050405020304" pitchFamily="18" charset="0"/>
              </a:rPr>
              <a:t>Response time </a:t>
            </a:r>
            <a:r>
              <a:rPr lang="en-US" altLang="en-US" sz="2000" dirty="0">
                <a:solidFill>
                  <a:schemeClr val="tx1"/>
                </a:solidFill>
                <a:latin typeface="Times New Roman" panose="02020603050405020304" pitchFamily="18" charset="0"/>
                <a:cs typeface="Times New Roman" panose="02020603050405020304" pitchFamily="18" charset="0"/>
              </a:rPr>
              <a:t>should be &lt; 1 second</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Each user has at least one program executing in memory </a:t>
            </a:r>
            <a:r>
              <a:rPr lang="en-US" altLang="en-US" sz="2000" dirty="0">
                <a:solidFill>
                  <a:schemeClr val="tx1"/>
                </a:solidFill>
                <a:latin typeface="Times New Roman" panose="02020603050405020304" pitchFamily="18" charset="0"/>
                <a:cs typeface="Times New Roman" panose="02020603050405020304" pitchFamily="18" charset="0"/>
                <a:sym typeface="Wingdings 3" panose="05040102010807070707" pitchFamily="18" charset="2"/>
              </a:rPr>
              <a:t></a:t>
            </a:r>
            <a:r>
              <a:rPr lang="en-US" altLang="en-US" sz="2000" b="1" dirty="0">
                <a:solidFill>
                  <a:srgbClr val="3366FF"/>
                </a:solidFill>
                <a:latin typeface="Times New Roman" panose="02020603050405020304" pitchFamily="18" charset="0"/>
                <a:cs typeface="Times New Roman" panose="02020603050405020304" pitchFamily="18" charset="0"/>
                <a:sym typeface="Wingdings 3" panose="05040102010807070707" pitchFamily="18" charset="2"/>
              </a:rPr>
              <a:t>process</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sym typeface="Wingdings 3" panose="05040102010807070707" pitchFamily="18" charset="2"/>
              </a:rPr>
              <a:t>If several jobs ready to run at the same time  </a:t>
            </a:r>
            <a:r>
              <a:rPr lang="en-US" altLang="en-US" sz="2000" b="1" dirty="0">
                <a:solidFill>
                  <a:srgbClr val="3366FF"/>
                </a:solidFill>
                <a:latin typeface="Times New Roman" panose="02020603050405020304" pitchFamily="18" charset="0"/>
                <a:cs typeface="Times New Roman" panose="02020603050405020304" pitchFamily="18" charset="0"/>
                <a:sym typeface="Wingdings 3" panose="05040102010807070707" pitchFamily="18" charset="2"/>
              </a:rPr>
              <a:t>CPU scheduling</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sym typeface="Wingdings 3" panose="05040102010807070707" pitchFamily="18" charset="2"/>
              </a:rPr>
              <a:t>If processes don</a:t>
            </a:r>
            <a:r>
              <a:rPr lang="ja-JP" altLang="en-US" sz="2000" dirty="0">
                <a:solidFill>
                  <a:schemeClr val="tx1"/>
                </a:solidFill>
                <a:latin typeface="Times New Roman" panose="02020603050405020304" pitchFamily="18" charset="0"/>
                <a:cs typeface="Times New Roman" panose="02020603050405020304" pitchFamily="18" charset="0"/>
                <a:sym typeface="Wingdings 3" panose="05040102010807070707" pitchFamily="18" charset="2"/>
              </a:rPr>
              <a:t>’</a:t>
            </a:r>
            <a:r>
              <a:rPr lang="en-US" altLang="ja-JP" sz="2000" dirty="0">
                <a:solidFill>
                  <a:schemeClr val="tx1"/>
                </a:solidFill>
                <a:latin typeface="Times New Roman" panose="02020603050405020304" pitchFamily="18" charset="0"/>
                <a:cs typeface="Times New Roman" panose="02020603050405020304" pitchFamily="18" charset="0"/>
                <a:sym typeface="Wingdings 3" panose="05040102010807070707" pitchFamily="18" charset="2"/>
              </a:rPr>
              <a:t>t fit in memory, </a:t>
            </a:r>
            <a:r>
              <a:rPr lang="en-US" altLang="ja-JP" sz="2000" b="1" dirty="0">
                <a:solidFill>
                  <a:srgbClr val="3366FF"/>
                </a:solidFill>
                <a:latin typeface="Times New Roman" panose="02020603050405020304" pitchFamily="18" charset="0"/>
                <a:cs typeface="Times New Roman" panose="02020603050405020304" pitchFamily="18" charset="0"/>
                <a:sym typeface="Wingdings 3" panose="05040102010807070707" pitchFamily="18" charset="2"/>
              </a:rPr>
              <a:t>swapping</a:t>
            </a:r>
            <a:r>
              <a:rPr lang="en-US" altLang="ja-JP" sz="2000" dirty="0">
                <a:latin typeface="Times New Roman" panose="02020603050405020304" pitchFamily="18" charset="0"/>
                <a:cs typeface="Times New Roman" panose="02020603050405020304" pitchFamily="18" charset="0"/>
                <a:sym typeface="Wingdings 3" panose="05040102010807070707" pitchFamily="18" charset="2"/>
              </a:rPr>
              <a:t> </a:t>
            </a:r>
            <a:r>
              <a:rPr lang="en-US" altLang="ja-JP" sz="2000" dirty="0">
                <a:solidFill>
                  <a:schemeClr val="tx1"/>
                </a:solidFill>
                <a:latin typeface="Times New Roman" panose="02020603050405020304" pitchFamily="18" charset="0"/>
                <a:cs typeface="Times New Roman" panose="02020603050405020304" pitchFamily="18" charset="0"/>
                <a:sym typeface="Wingdings 3" panose="05040102010807070707" pitchFamily="18" charset="2"/>
              </a:rPr>
              <a:t>moves them in and out to run</a:t>
            </a:r>
          </a:p>
          <a:p>
            <a:pPr lvl="1">
              <a:lnSpc>
                <a:spcPct val="90000"/>
              </a:lnSpc>
            </a:pPr>
            <a:r>
              <a:rPr lang="en-US" altLang="en-US" sz="2000" b="1" dirty="0">
                <a:solidFill>
                  <a:srgbClr val="3366FF"/>
                </a:solidFill>
                <a:latin typeface="Times New Roman" panose="02020603050405020304" pitchFamily="18" charset="0"/>
                <a:cs typeface="Times New Roman" panose="02020603050405020304" pitchFamily="18" charset="0"/>
                <a:sym typeface="Wingdings 3" panose="05040102010807070707" pitchFamily="18" charset="2"/>
              </a:rPr>
              <a:t>Virtual memory </a:t>
            </a:r>
            <a:r>
              <a:rPr lang="en-US" altLang="en-US" sz="2000" dirty="0">
                <a:solidFill>
                  <a:schemeClr val="tx1"/>
                </a:solidFill>
                <a:latin typeface="Times New Roman" panose="02020603050405020304" pitchFamily="18" charset="0"/>
                <a:cs typeface="Times New Roman" panose="02020603050405020304" pitchFamily="18" charset="0"/>
                <a:sym typeface="Wingdings 3" panose="05040102010807070707" pitchFamily="18" charset="2"/>
              </a:rPr>
              <a:t>allows execution of processes not completely in memory</a:t>
            </a:r>
          </a:p>
          <a:p>
            <a:endParaRPr lang="en-US" dirty="0"/>
          </a:p>
        </p:txBody>
      </p:sp>
      <p:sp>
        <p:nvSpPr>
          <p:cNvPr id="4" name="Footer Placeholder 3">
            <a:extLst>
              <a:ext uri="{FF2B5EF4-FFF2-40B4-BE49-F238E27FC236}">
                <a16:creationId xmlns:a16="http://schemas.microsoft.com/office/drawing/2014/main" id="{8A5C39B0-C23D-A41D-776F-763E0E27ADFC}"/>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662995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A1998-E368-462F-A7E8-0C2DB27D82A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Structure of OS (contd.)</a:t>
            </a:r>
          </a:p>
        </p:txBody>
      </p:sp>
      <p:sp>
        <p:nvSpPr>
          <p:cNvPr id="3" name="Content Placeholder 2">
            <a:extLst>
              <a:ext uri="{FF2B5EF4-FFF2-40B4-BE49-F238E27FC236}">
                <a16:creationId xmlns:a16="http://schemas.microsoft.com/office/drawing/2014/main" id="{7A6060C9-5B46-40C3-88FD-55189A7FAE57}"/>
              </a:ext>
            </a:extLst>
          </p:cNvPr>
          <p:cNvSpPr>
            <a:spLocks noGrp="1"/>
          </p:cNvSpPr>
          <p:nvPr>
            <p:ph idx="1"/>
          </p:nvPr>
        </p:nvSpPr>
        <p:spPr>
          <a:xfrm>
            <a:off x="1078173" y="1264555"/>
            <a:ext cx="5854890" cy="5436495"/>
          </a:xfrm>
        </p:spPr>
        <p:txBody>
          <a:bodyPr>
            <a:normAutofit fontScale="92500" lnSpcReduction="20000"/>
          </a:bodyPr>
          <a:lstStyle/>
          <a:p>
            <a:r>
              <a:rPr lang="en-US" b="1" u="sng" dirty="0">
                <a:solidFill>
                  <a:schemeClr val="tx1"/>
                </a:solidFill>
              </a:rPr>
              <a:t>Monolithic Structure</a:t>
            </a:r>
          </a:p>
          <a:p>
            <a:pPr marL="463550">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The components of monolithic operating system are organized haphazardly and any module can call any other module without any reservation.</a:t>
            </a:r>
            <a:endParaRPr lang="en-IN" sz="1900" dirty="0">
              <a:solidFill>
                <a:schemeClr val="tx1"/>
              </a:solidFill>
              <a:latin typeface="Times New Roman" panose="02020603050405020304" pitchFamily="18" charset="0"/>
              <a:cs typeface="Times New Roman" panose="02020603050405020304" pitchFamily="18" charset="0"/>
            </a:endParaRPr>
          </a:p>
          <a:p>
            <a:pPr marL="463550">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Similar to the other operating systems, applications in monolithic OS are separated from the operating system itself. That is, the operating system code runs in a privileged processor mode (referred to as kernel mode), with access to system data and to the hardware.</a:t>
            </a:r>
          </a:p>
          <a:p>
            <a:pPr marL="463550">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applications run in a non-privileged processor mode (called the user mode), with a limited set of interfaces available and with limited access to system data. </a:t>
            </a:r>
          </a:p>
          <a:p>
            <a:pPr marL="463550">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The monolithic operating system structure with separate user and kernel processor mode is shown in Figure.</a:t>
            </a:r>
          </a:p>
          <a:p>
            <a:pPr marL="463550">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The structure is that there is no structure. The operating system is written as a collection of procedures, each of which can call any of the other ones </a:t>
            </a:r>
            <a:r>
              <a:rPr lang="en-IN" sz="1900" dirty="0">
                <a:solidFill>
                  <a:schemeClr val="tx1"/>
                </a:solidFill>
                <a:latin typeface="Times New Roman" panose="02020603050405020304" pitchFamily="18" charset="0"/>
                <a:cs typeface="Times New Roman" panose="02020603050405020304" pitchFamily="18" charset="0"/>
              </a:rPr>
              <a:t>whenever it needs to.</a:t>
            </a:r>
          </a:p>
          <a:p>
            <a:pPr marL="463550">
              <a:buFont typeface="Wingdings" panose="05000000000000000000" pitchFamily="2" charset="2"/>
              <a:buChar char="Ø"/>
            </a:pPr>
            <a:r>
              <a:rPr lang="en-US" sz="1900" dirty="0">
                <a:solidFill>
                  <a:schemeClr val="tx1"/>
                </a:solidFill>
                <a:latin typeface="Times New Roman" panose="02020603050405020304" pitchFamily="18" charset="0"/>
                <a:cs typeface="Times New Roman" panose="02020603050405020304" pitchFamily="18" charset="0"/>
              </a:rPr>
              <a:t>Examples: </a:t>
            </a:r>
            <a:r>
              <a:rPr lang="en-IN" sz="1900" b="1" dirty="0">
                <a:solidFill>
                  <a:schemeClr val="tx1"/>
                </a:solidFill>
                <a:latin typeface="Times New Roman" panose="02020603050405020304" pitchFamily="18" charset="0"/>
                <a:cs typeface="Times New Roman" panose="02020603050405020304" pitchFamily="18" charset="0"/>
              </a:rPr>
              <a:t>CP/M and MS-DOS</a:t>
            </a:r>
            <a:endParaRPr lang="en-IN" sz="1900"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solidFill>
                <a:schemeClr val="tx1"/>
              </a:solidFill>
            </a:endParaRPr>
          </a:p>
        </p:txBody>
      </p:sp>
      <p:pic>
        <p:nvPicPr>
          <p:cNvPr id="6" name="Picture 5">
            <a:extLst>
              <a:ext uri="{FF2B5EF4-FFF2-40B4-BE49-F238E27FC236}">
                <a16:creationId xmlns:a16="http://schemas.microsoft.com/office/drawing/2014/main" id="{C39C0386-F1C8-4A5F-A872-93623862ED4B}"/>
              </a:ext>
            </a:extLst>
          </p:cNvPr>
          <p:cNvPicPr>
            <a:picLocks noChangeAspect="1"/>
          </p:cNvPicPr>
          <p:nvPr/>
        </p:nvPicPr>
        <p:blipFill>
          <a:blip r:embed="rId2"/>
          <a:stretch>
            <a:fillRect/>
          </a:stretch>
        </p:blipFill>
        <p:spPr>
          <a:xfrm>
            <a:off x="6687080" y="1540769"/>
            <a:ext cx="5504920" cy="2762255"/>
          </a:xfrm>
          <a:prstGeom prst="rect">
            <a:avLst/>
          </a:prstGeom>
        </p:spPr>
      </p:pic>
      <p:sp>
        <p:nvSpPr>
          <p:cNvPr id="4" name="Footer Placeholder 3">
            <a:extLst>
              <a:ext uri="{FF2B5EF4-FFF2-40B4-BE49-F238E27FC236}">
                <a16:creationId xmlns:a16="http://schemas.microsoft.com/office/drawing/2014/main" id="{502142A8-A6ED-23E9-B4C6-9CEA5CDD74D4}"/>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441204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70A41-19F6-491E-9437-71846A6F366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Structure of OS (contd.)</a:t>
            </a:r>
            <a:endParaRPr lang="en-US" dirty="0"/>
          </a:p>
        </p:txBody>
      </p:sp>
      <p:sp>
        <p:nvSpPr>
          <p:cNvPr id="3" name="Content Placeholder 2">
            <a:extLst>
              <a:ext uri="{FF2B5EF4-FFF2-40B4-BE49-F238E27FC236}">
                <a16:creationId xmlns:a16="http://schemas.microsoft.com/office/drawing/2014/main" id="{03FE526E-3DA7-4310-9460-CC1B89FA6DA2}"/>
              </a:ext>
            </a:extLst>
          </p:cNvPr>
          <p:cNvSpPr>
            <a:spLocks noGrp="1"/>
          </p:cNvSpPr>
          <p:nvPr>
            <p:ph idx="1"/>
          </p:nvPr>
        </p:nvSpPr>
        <p:spPr>
          <a:xfrm>
            <a:off x="2589212" y="1264554"/>
            <a:ext cx="8915400" cy="5593445"/>
          </a:xfrm>
        </p:spPr>
        <p:txBody>
          <a:bodyPr>
            <a:normAutofit/>
          </a:bodyPr>
          <a:lstStyle/>
          <a:p>
            <a:r>
              <a:rPr lang="en-US" sz="2200" b="1" u="sng" dirty="0">
                <a:solidFill>
                  <a:schemeClr val="tx1"/>
                </a:solidFill>
                <a:latin typeface="Times New Roman" panose="02020603050405020304" pitchFamily="18" charset="0"/>
                <a:cs typeface="Times New Roman" panose="02020603050405020304" pitchFamily="18" charset="0"/>
              </a:rPr>
              <a:t>Layered Systems (Simple Structure)</a:t>
            </a:r>
          </a:p>
          <a:p>
            <a:endParaRPr lang="en-US" sz="2200" dirty="0">
              <a:solidFill>
                <a:schemeClr val="tx1"/>
              </a:solidFill>
              <a:latin typeface="Times New Roman" panose="02020603050405020304" pitchFamily="18" charset="0"/>
              <a:cs typeface="Times New Roman" panose="02020603050405020304" pitchFamily="18" charset="0"/>
            </a:endParaRPr>
          </a:p>
          <a:p>
            <a:endParaRPr lang="en-US" sz="2200" dirty="0">
              <a:solidFill>
                <a:schemeClr val="tx1"/>
              </a:solidFill>
              <a:latin typeface="Times New Roman" panose="02020603050405020304" pitchFamily="18" charset="0"/>
              <a:cs typeface="Times New Roman" panose="02020603050405020304" pitchFamily="18" charset="0"/>
            </a:endParaRPr>
          </a:p>
          <a:p>
            <a:endParaRPr lang="en-US" sz="2200" dirty="0">
              <a:solidFill>
                <a:schemeClr val="tx1"/>
              </a:solidFill>
              <a:latin typeface="Times New Roman" panose="02020603050405020304" pitchFamily="18" charset="0"/>
              <a:cs typeface="Times New Roman" panose="02020603050405020304" pitchFamily="18" charset="0"/>
            </a:endParaRPr>
          </a:p>
          <a:p>
            <a:endParaRPr lang="en-US" sz="2200" dirty="0">
              <a:solidFill>
                <a:schemeClr val="tx1"/>
              </a:solidFill>
              <a:latin typeface="Times New Roman" panose="02020603050405020304" pitchFamily="18" charset="0"/>
              <a:cs typeface="Times New Roman" panose="02020603050405020304" pitchFamily="18" charset="0"/>
            </a:endParaRPr>
          </a:p>
          <a:p>
            <a:endParaRPr lang="en-US" sz="2200" dirty="0">
              <a:solidFill>
                <a:schemeClr val="tx1"/>
              </a:solidFill>
              <a:latin typeface="Times New Roman" panose="02020603050405020304" pitchFamily="18" charset="0"/>
              <a:cs typeface="Times New Roman" panose="02020603050405020304" pitchFamily="18" charset="0"/>
            </a:endParaRPr>
          </a:p>
          <a:p>
            <a:endParaRPr lang="en-US" sz="22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The layered approach consists of breaking the operating system into the number of layers(level), each built on the top of lower layers. The bottom layer (layer 0) is the hardware layer; the highest layer is the</a:t>
            </a:r>
            <a:r>
              <a:rPr lang="en-IN" sz="2000" dirty="0">
                <a:solidFill>
                  <a:schemeClr val="tx1"/>
                </a:solidFill>
                <a:latin typeface="Times New Roman" panose="02020603050405020304" pitchFamily="18" charset="0"/>
                <a:cs typeface="Times New Roman" panose="02020603050405020304" pitchFamily="18" charset="0"/>
              </a:rPr>
              <a:t>user interface.</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The main advantages of the layered approach is modularity. </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Example Systems: VAX/VMS, Multics, UNIX</a:t>
            </a:r>
            <a:endParaRPr lang="en-IN" sz="2000" dirty="0">
              <a:solidFill>
                <a:schemeClr val="tx1"/>
              </a:solidFill>
              <a:latin typeface="Times New Roman" panose="02020603050405020304" pitchFamily="18" charset="0"/>
              <a:cs typeface="Times New Roman" panose="02020603050405020304" pitchFamily="18" charset="0"/>
            </a:endParaRPr>
          </a:p>
          <a:p>
            <a:endParaRPr lang="en-US" sz="22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942BB53F-2D78-4070-A1B7-9B3919436FDF}"/>
              </a:ext>
            </a:extLst>
          </p:cNvPr>
          <p:cNvGraphicFramePr>
            <a:graphicFrameLocks noGrp="1"/>
          </p:cNvGraphicFramePr>
          <p:nvPr>
            <p:extLst>
              <p:ext uri="{D42A27DB-BD31-4B8C-83A1-F6EECF244321}">
                <p14:modId xmlns:p14="http://schemas.microsoft.com/office/powerpoint/2010/main" val="3629971021"/>
              </p:ext>
            </p:extLst>
          </p:nvPr>
        </p:nvGraphicFramePr>
        <p:xfrm>
          <a:off x="2589212" y="1729324"/>
          <a:ext cx="8128000" cy="2595880"/>
        </p:xfrm>
        <a:graphic>
          <a:graphicData uri="http://schemas.openxmlformats.org/drawingml/2006/table">
            <a:tbl>
              <a:tblPr firstRow="1" bandRow="1">
                <a:tableStyleId>{5C22544A-7EE6-4342-B048-85BDC9FD1C3A}</a:tableStyleId>
              </a:tblPr>
              <a:tblGrid>
                <a:gridCol w="1119266">
                  <a:extLst>
                    <a:ext uri="{9D8B030D-6E8A-4147-A177-3AD203B41FA5}">
                      <a16:colId xmlns:a16="http://schemas.microsoft.com/office/drawing/2014/main" val="2782657365"/>
                    </a:ext>
                  </a:extLst>
                </a:gridCol>
                <a:gridCol w="7008734">
                  <a:extLst>
                    <a:ext uri="{9D8B030D-6E8A-4147-A177-3AD203B41FA5}">
                      <a16:colId xmlns:a16="http://schemas.microsoft.com/office/drawing/2014/main" val="2692362546"/>
                    </a:ext>
                  </a:extLst>
                </a:gridCol>
              </a:tblGrid>
              <a:tr h="370840">
                <a:tc>
                  <a:txBody>
                    <a:bodyPr/>
                    <a:lstStyle/>
                    <a:p>
                      <a:r>
                        <a:rPr lang="en-US" dirty="0"/>
                        <a:t>Layer</a:t>
                      </a:r>
                    </a:p>
                  </a:txBody>
                  <a:tcPr/>
                </a:tc>
                <a:tc>
                  <a:txBody>
                    <a:bodyPr/>
                    <a:lstStyle/>
                    <a:p>
                      <a:r>
                        <a:rPr lang="en-US" dirty="0"/>
                        <a:t>Functions</a:t>
                      </a:r>
                    </a:p>
                  </a:txBody>
                  <a:tcPr/>
                </a:tc>
                <a:extLst>
                  <a:ext uri="{0D108BD9-81ED-4DB2-BD59-A6C34878D82A}">
                    <a16:rowId xmlns:a16="http://schemas.microsoft.com/office/drawing/2014/main" val="1707305585"/>
                  </a:ext>
                </a:extLst>
              </a:tr>
              <a:tr h="370840">
                <a:tc>
                  <a:txBody>
                    <a:bodyPr/>
                    <a:lstStyle/>
                    <a:p>
                      <a:r>
                        <a:rPr lang="en-US" dirty="0"/>
                        <a:t>5</a:t>
                      </a:r>
                    </a:p>
                  </a:txBody>
                  <a:tcPr/>
                </a:tc>
                <a:tc>
                  <a:txBody>
                    <a:bodyPr/>
                    <a:lstStyle/>
                    <a:p>
                      <a:r>
                        <a:rPr lang="en-US" sz="1800" b="0" i="0" kern="1200" dirty="0">
                          <a:solidFill>
                            <a:schemeClr val="dk1"/>
                          </a:solidFill>
                          <a:effectLst/>
                          <a:latin typeface="+mn-lt"/>
                          <a:ea typeface="+mn-ea"/>
                          <a:cs typeface="+mn-cs"/>
                        </a:rPr>
                        <a:t>The operator</a:t>
                      </a:r>
                      <a:endParaRPr lang="en-US" dirty="0"/>
                    </a:p>
                  </a:txBody>
                  <a:tcPr/>
                </a:tc>
                <a:extLst>
                  <a:ext uri="{0D108BD9-81ED-4DB2-BD59-A6C34878D82A}">
                    <a16:rowId xmlns:a16="http://schemas.microsoft.com/office/drawing/2014/main" val="3987657510"/>
                  </a:ext>
                </a:extLst>
              </a:tr>
              <a:tr h="370840">
                <a:tc>
                  <a:txBody>
                    <a:bodyPr/>
                    <a:lstStyle/>
                    <a:p>
                      <a:r>
                        <a:rPr lang="en-US" dirty="0"/>
                        <a:t>4</a:t>
                      </a:r>
                    </a:p>
                  </a:txBody>
                  <a:tcPr/>
                </a:tc>
                <a:tc>
                  <a:txBody>
                    <a:bodyPr/>
                    <a:lstStyle/>
                    <a:p>
                      <a:r>
                        <a:rPr lang="en-US" sz="1800" b="0" i="0" kern="1200" dirty="0">
                          <a:solidFill>
                            <a:schemeClr val="dk1"/>
                          </a:solidFill>
                          <a:effectLst/>
                          <a:latin typeface="+mn-lt"/>
                          <a:ea typeface="+mn-ea"/>
                          <a:cs typeface="+mn-cs"/>
                        </a:rPr>
                        <a:t>User Programs</a:t>
                      </a:r>
                      <a:endParaRPr lang="en-US" dirty="0"/>
                    </a:p>
                  </a:txBody>
                  <a:tcPr/>
                </a:tc>
                <a:extLst>
                  <a:ext uri="{0D108BD9-81ED-4DB2-BD59-A6C34878D82A}">
                    <a16:rowId xmlns:a16="http://schemas.microsoft.com/office/drawing/2014/main" val="2872294220"/>
                  </a:ext>
                </a:extLst>
              </a:tr>
              <a:tr h="370840">
                <a:tc>
                  <a:txBody>
                    <a:bodyPr/>
                    <a:lstStyle/>
                    <a:p>
                      <a:r>
                        <a:rPr lang="en-US" dirty="0"/>
                        <a:t>3</a:t>
                      </a:r>
                    </a:p>
                  </a:txBody>
                  <a:tcPr/>
                </a:tc>
                <a:tc>
                  <a:txBody>
                    <a:bodyPr/>
                    <a:lstStyle/>
                    <a:p>
                      <a:r>
                        <a:rPr lang="en-US" sz="1800" b="0" i="0" kern="1200" dirty="0">
                          <a:solidFill>
                            <a:schemeClr val="dk1"/>
                          </a:solidFill>
                          <a:effectLst/>
                          <a:latin typeface="+mn-lt"/>
                          <a:ea typeface="+mn-ea"/>
                          <a:cs typeface="+mn-cs"/>
                        </a:rPr>
                        <a:t>Input/Output Management</a:t>
                      </a:r>
                      <a:endParaRPr lang="en-US" dirty="0"/>
                    </a:p>
                  </a:txBody>
                  <a:tcPr/>
                </a:tc>
                <a:extLst>
                  <a:ext uri="{0D108BD9-81ED-4DB2-BD59-A6C34878D82A}">
                    <a16:rowId xmlns:a16="http://schemas.microsoft.com/office/drawing/2014/main" val="1913555856"/>
                  </a:ext>
                </a:extLst>
              </a:tr>
              <a:tr h="370840">
                <a:tc>
                  <a:txBody>
                    <a:bodyPr/>
                    <a:lstStyle/>
                    <a:p>
                      <a:r>
                        <a:rPr lang="en-US" dirty="0"/>
                        <a:t>2</a:t>
                      </a:r>
                    </a:p>
                  </a:txBody>
                  <a:tcPr/>
                </a:tc>
                <a:tc>
                  <a:txBody>
                    <a:bodyPr/>
                    <a:lstStyle/>
                    <a:p>
                      <a:r>
                        <a:rPr lang="en-US" sz="1800" b="0" i="0" kern="1200" dirty="0">
                          <a:solidFill>
                            <a:schemeClr val="dk1"/>
                          </a:solidFill>
                          <a:effectLst/>
                          <a:latin typeface="+mn-lt"/>
                          <a:ea typeface="+mn-ea"/>
                          <a:cs typeface="+mn-cs"/>
                        </a:rPr>
                        <a:t>Operator-process communication</a:t>
                      </a:r>
                      <a:endParaRPr lang="en-US" dirty="0"/>
                    </a:p>
                  </a:txBody>
                  <a:tcPr/>
                </a:tc>
                <a:extLst>
                  <a:ext uri="{0D108BD9-81ED-4DB2-BD59-A6C34878D82A}">
                    <a16:rowId xmlns:a16="http://schemas.microsoft.com/office/drawing/2014/main" val="1281215646"/>
                  </a:ext>
                </a:extLst>
              </a:tr>
              <a:tr h="370840">
                <a:tc>
                  <a:txBody>
                    <a:bodyPr/>
                    <a:lstStyle/>
                    <a:p>
                      <a:r>
                        <a:rPr lang="en-US" dirty="0"/>
                        <a:t>1</a:t>
                      </a:r>
                    </a:p>
                  </a:txBody>
                  <a:tcPr/>
                </a:tc>
                <a:tc>
                  <a:txBody>
                    <a:bodyPr/>
                    <a:lstStyle/>
                    <a:p>
                      <a:r>
                        <a:rPr lang="en-US" sz="1800" b="0" i="0" kern="1200" dirty="0">
                          <a:solidFill>
                            <a:schemeClr val="dk1"/>
                          </a:solidFill>
                          <a:effectLst/>
                          <a:latin typeface="+mn-lt"/>
                          <a:ea typeface="+mn-ea"/>
                          <a:cs typeface="+mn-cs"/>
                        </a:rPr>
                        <a:t>Memory and drum management</a:t>
                      </a:r>
                      <a:endParaRPr lang="en-US" dirty="0"/>
                    </a:p>
                  </a:txBody>
                  <a:tcPr/>
                </a:tc>
                <a:extLst>
                  <a:ext uri="{0D108BD9-81ED-4DB2-BD59-A6C34878D82A}">
                    <a16:rowId xmlns:a16="http://schemas.microsoft.com/office/drawing/2014/main" val="3444837950"/>
                  </a:ext>
                </a:extLst>
              </a:tr>
              <a:tr h="370840">
                <a:tc>
                  <a:txBody>
                    <a:bodyPr/>
                    <a:lstStyle/>
                    <a:p>
                      <a:r>
                        <a:rPr lang="en-US" dirty="0"/>
                        <a:t>0</a:t>
                      </a:r>
                    </a:p>
                  </a:txBody>
                  <a:tcPr/>
                </a:tc>
                <a:tc>
                  <a:txBody>
                    <a:bodyPr/>
                    <a:lstStyle/>
                    <a:p>
                      <a:r>
                        <a:rPr lang="en-US" sz="1800" b="0" i="0" kern="1200" dirty="0">
                          <a:solidFill>
                            <a:schemeClr val="dk1"/>
                          </a:solidFill>
                          <a:effectLst/>
                          <a:latin typeface="+mn-lt"/>
                          <a:ea typeface="+mn-ea"/>
                          <a:cs typeface="+mn-cs"/>
                        </a:rPr>
                        <a:t>Processor allocation and multiprogramming</a:t>
                      </a:r>
                      <a:endParaRPr lang="en-US" dirty="0"/>
                    </a:p>
                  </a:txBody>
                  <a:tcPr/>
                </a:tc>
                <a:extLst>
                  <a:ext uri="{0D108BD9-81ED-4DB2-BD59-A6C34878D82A}">
                    <a16:rowId xmlns:a16="http://schemas.microsoft.com/office/drawing/2014/main" val="930907121"/>
                  </a:ext>
                </a:extLst>
              </a:tr>
            </a:tbl>
          </a:graphicData>
        </a:graphic>
      </p:graphicFrame>
      <p:sp>
        <p:nvSpPr>
          <p:cNvPr id="5" name="Footer Placeholder 4">
            <a:extLst>
              <a:ext uri="{FF2B5EF4-FFF2-40B4-BE49-F238E27FC236}">
                <a16:creationId xmlns:a16="http://schemas.microsoft.com/office/drawing/2014/main" id="{99D252D6-B5F3-96CD-3673-D54603384C03}"/>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661704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2F47A-6351-4CEE-A978-9EF66FBC9CF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Structure of OS (contd.)</a:t>
            </a:r>
            <a:endParaRPr lang="en-US" dirty="0"/>
          </a:p>
        </p:txBody>
      </p:sp>
      <p:sp>
        <p:nvSpPr>
          <p:cNvPr id="3" name="Content Placeholder 2">
            <a:extLst>
              <a:ext uri="{FF2B5EF4-FFF2-40B4-BE49-F238E27FC236}">
                <a16:creationId xmlns:a16="http://schemas.microsoft.com/office/drawing/2014/main" id="{82C777D4-ED64-4700-BB1D-006740D47806}"/>
              </a:ext>
            </a:extLst>
          </p:cNvPr>
          <p:cNvSpPr>
            <a:spLocks noGrp="1"/>
          </p:cNvSpPr>
          <p:nvPr>
            <p:ph idx="1"/>
          </p:nvPr>
        </p:nvSpPr>
        <p:spPr>
          <a:xfrm>
            <a:off x="2589212" y="1751463"/>
            <a:ext cx="8915400" cy="3777622"/>
          </a:xfrm>
        </p:spPr>
        <p:txBody>
          <a:bodyPr/>
          <a:lstStyle/>
          <a:p>
            <a:r>
              <a:rPr lang="en-US" sz="2200" b="0" i="0" dirty="0">
                <a:solidFill>
                  <a:schemeClr val="tx1"/>
                </a:solidFill>
                <a:effectLst/>
                <a:latin typeface="Times New Roman" panose="02020603050405020304" pitchFamily="18" charset="0"/>
                <a:cs typeface="Times New Roman" panose="02020603050405020304" pitchFamily="18" charset="0"/>
              </a:rPr>
              <a:t>Microkernels </a:t>
            </a:r>
          </a:p>
          <a:p>
            <a:r>
              <a:rPr lang="en-US" sz="2200" dirty="0">
                <a:solidFill>
                  <a:schemeClr val="tx1"/>
                </a:solidFill>
                <a:latin typeface="Times New Roman" panose="02020603050405020304" pitchFamily="18" charset="0"/>
                <a:cs typeface="Times New Roman" panose="02020603050405020304" pitchFamily="18" charset="0"/>
              </a:rPr>
              <a:t>Client-Server Model</a:t>
            </a:r>
          </a:p>
          <a:p>
            <a:r>
              <a:rPr lang="en-US" sz="2200" dirty="0">
                <a:solidFill>
                  <a:schemeClr val="tx1"/>
                </a:solidFill>
                <a:latin typeface="Times New Roman" panose="02020603050405020304" pitchFamily="18" charset="0"/>
                <a:cs typeface="Times New Roman" panose="02020603050405020304" pitchFamily="18" charset="0"/>
              </a:rPr>
              <a:t>Virtual Machines</a:t>
            </a:r>
          </a:p>
          <a:p>
            <a:r>
              <a:rPr lang="en-US" sz="2200" dirty="0">
                <a:solidFill>
                  <a:schemeClr val="tx1"/>
                </a:solidFill>
                <a:latin typeface="Times New Roman" panose="02020603050405020304" pitchFamily="18" charset="0"/>
                <a:cs typeface="Times New Roman" panose="02020603050405020304" pitchFamily="18" charset="0"/>
              </a:rPr>
              <a:t>Exo-Kernels</a:t>
            </a:r>
          </a:p>
        </p:txBody>
      </p:sp>
      <p:sp>
        <p:nvSpPr>
          <p:cNvPr id="4" name="Footer Placeholder 3">
            <a:extLst>
              <a:ext uri="{FF2B5EF4-FFF2-40B4-BE49-F238E27FC236}">
                <a16:creationId xmlns:a16="http://schemas.microsoft.com/office/drawing/2014/main" id="{FF447542-B510-6468-80F7-9A7B69B1D649}"/>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4023630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C065B-C3C9-43FA-AE81-9278C855D69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Calls</a:t>
            </a:r>
          </a:p>
        </p:txBody>
      </p:sp>
      <p:sp>
        <p:nvSpPr>
          <p:cNvPr id="3" name="Content Placeholder 2">
            <a:extLst>
              <a:ext uri="{FF2B5EF4-FFF2-40B4-BE49-F238E27FC236}">
                <a16:creationId xmlns:a16="http://schemas.microsoft.com/office/drawing/2014/main" id="{75B6E512-847B-4D10-9537-E11D090E312F}"/>
              </a:ext>
            </a:extLst>
          </p:cNvPr>
          <p:cNvSpPr>
            <a:spLocks noGrp="1"/>
          </p:cNvSpPr>
          <p:nvPr>
            <p:ph idx="1"/>
          </p:nvPr>
        </p:nvSpPr>
        <p:spPr>
          <a:xfrm>
            <a:off x="2589212" y="1724167"/>
            <a:ext cx="8915400" cy="3777622"/>
          </a:xfrm>
        </p:spPr>
        <p:txBody>
          <a:bodyPr>
            <a:normAutofit fontScale="92500" lnSpcReduction="20000"/>
          </a:bodyPr>
          <a:lstStyle/>
          <a:p>
            <a:r>
              <a:rPr lang="en-US" sz="2200" dirty="0">
                <a:solidFill>
                  <a:schemeClr val="tx1"/>
                </a:solidFill>
                <a:latin typeface="Times New Roman" panose="02020603050405020304" pitchFamily="18" charset="0"/>
                <a:cs typeface="Times New Roman" panose="02020603050405020304" pitchFamily="18" charset="0"/>
              </a:rPr>
              <a:t>A way of programs to interact with the OS</a:t>
            </a:r>
          </a:p>
          <a:p>
            <a:r>
              <a:rPr lang="en-US" sz="2200" dirty="0">
                <a:solidFill>
                  <a:schemeClr val="tx1"/>
                </a:solidFill>
                <a:latin typeface="Times New Roman" panose="02020603050405020304" pitchFamily="18" charset="0"/>
                <a:cs typeface="Times New Roman" panose="02020603050405020304" pitchFamily="18" charset="0"/>
              </a:rPr>
              <a:t>Programmatic way to request a service from the kernel of the OS it is executed on </a:t>
            </a:r>
          </a:p>
          <a:p>
            <a:endParaRPr lang="en-US" sz="2200" dirty="0">
              <a:solidFill>
                <a:schemeClr val="tx1"/>
              </a:solidFill>
              <a:latin typeface="Times New Roman" panose="02020603050405020304" pitchFamily="18" charset="0"/>
              <a:cs typeface="Times New Roman" panose="02020603050405020304" pitchFamily="18" charset="0"/>
            </a:endParaRPr>
          </a:p>
          <a:p>
            <a:pPr algn="l" fontAlgn="base"/>
            <a:r>
              <a:rPr lang="en-US" sz="2200" dirty="0">
                <a:solidFill>
                  <a:schemeClr val="tx1"/>
                </a:solidFill>
                <a:latin typeface="Times New Roman" panose="02020603050405020304" pitchFamily="18" charset="0"/>
                <a:cs typeface="Times New Roman" panose="02020603050405020304" pitchFamily="18" charset="0"/>
              </a:rPr>
              <a:t>Services Provided by System Calls :</a:t>
            </a:r>
          </a:p>
          <a:p>
            <a:pPr marL="682625" algn="l" fontAlgn="base">
              <a:buFont typeface="Arial" panose="020B0604020202020204" pitchFamily="34" charset="0"/>
              <a:buChar char="•"/>
            </a:pPr>
            <a:r>
              <a:rPr lang="en-US" sz="2200" dirty="0">
                <a:solidFill>
                  <a:schemeClr val="tx1"/>
                </a:solidFill>
                <a:latin typeface="Times New Roman" panose="02020603050405020304" pitchFamily="18" charset="0"/>
                <a:cs typeface="Times New Roman" panose="02020603050405020304" pitchFamily="18" charset="0"/>
              </a:rPr>
              <a:t>Process creation and management</a:t>
            </a:r>
          </a:p>
          <a:p>
            <a:pPr marL="682625" algn="l" fontAlgn="base">
              <a:buFont typeface="Arial" panose="020B0604020202020204" pitchFamily="34" charset="0"/>
              <a:buChar char="•"/>
            </a:pPr>
            <a:r>
              <a:rPr lang="en-US" sz="2200" dirty="0">
                <a:solidFill>
                  <a:schemeClr val="tx1"/>
                </a:solidFill>
                <a:latin typeface="Times New Roman" panose="02020603050405020304" pitchFamily="18" charset="0"/>
                <a:cs typeface="Times New Roman" panose="02020603050405020304" pitchFamily="18" charset="0"/>
              </a:rPr>
              <a:t>Main memory management</a:t>
            </a:r>
          </a:p>
          <a:p>
            <a:pPr marL="682625" algn="l" fontAlgn="base">
              <a:buFont typeface="Arial" panose="020B0604020202020204" pitchFamily="34" charset="0"/>
              <a:buChar char="•"/>
            </a:pPr>
            <a:r>
              <a:rPr lang="en-US" sz="2200" dirty="0">
                <a:solidFill>
                  <a:schemeClr val="tx1"/>
                </a:solidFill>
                <a:latin typeface="Times New Roman" panose="02020603050405020304" pitchFamily="18" charset="0"/>
                <a:cs typeface="Times New Roman" panose="02020603050405020304" pitchFamily="18" charset="0"/>
              </a:rPr>
              <a:t>File Access, Directory and File system management</a:t>
            </a:r>
          </a:p>
          <a:p>
            <a:pPr marL="682625" algn="l" fontAlgn="base">
              <a:buFont typeface="Arial" panose="020B0604020202020204" pitchFamily="34" charset="0"/>
              <a:buChar char="•"/>
            </a:pPr>
            <a:r>
              <a:rPr lang="en-US" sz="2200" dirty="0">
                <a:solidFill>
                  <a:schemeClr val="tx1"/>
                </a:solidFill>
                <a:latin typeface="Times New Roman" panose="02020603050405020304" pitchFamily="18" charset="0"/>
                <a:cs typeface="Times New Roman" panose="02020603050405020304" pitchFamily="18" charset="0"/>
              </a:rPr>
              <a:t>Device handling(I/O)</a:t>
            </a:r>
          </a:p>
          <a:p>
            <a:pPr marL="682625" algn="l" fontAlgn="base">
              <a:buFont typeface="Arial" panose="020B0604020202020204" pitchFamily="34" charset="0"/>
              <a:buChar char="•"/>
            </a:pPr>
            <a:r>
              <a:rPr lang="en-US" sz="2200" dirty="0">
                <a:solidFill>
                  <a:schemeClr val="tx1"/>
                </a:solidFill>
                <a:latin typeface="Times New Roman" panose="02020603050405020304" pitchFamily="18" charset="0"/>
                <a:cs typeface="Times New Roman" panose="02020603050405020304" pitchFamily="18" charset="0"/>
              </a:rPr>
              <a:t>Protection</a:t>
            </a:r>
          </a:p>
          <a:p>
            <a:pPr marL="682625" algn="l" fontAlgn="base">
              <a:buFont typeface="Arial" panose="020B0604020202020204" pitchFamily="34" charset="0"/>
              <a:buChar char="•"/>
            </a:pPr>
            <a:r>
              <a:rPr lang="en-US" sz="2200" dirty="0">
                <a:solidFill>
                  <a:schemeClr val="tx1"/>
                </a:solidFill>
                <a:latin typeface="Times New Roman" panose="02020603050405020304" pitchFamily="18" charset="0"/>
                <a:cs typeface="Times New Roman" panose="02020603050405020304" pitchFamily="18" charset="0"/>
              </a:rPr>
              <a:t>Networking, etc.</a:t>
            </a:r>
          </a:p>
          <a:p>
            <a:endParaRPr lang="en-US" dirty="0"/>
          </a:p>
        </p:txBody>
      </p:sp>
      <p:sp>
        <p:nvSpPr>
          <p:cNvPr id="4" name="Footer Placeholder 3">
            <a:extLst>
              <a:ext uri="{FF2B5EF4-FFF2-40B4-BE49-F238E27FC236}">
                <a16:creationId xmlns:a16="http://schemas.microsoft.com/office/drawing/2014/main" id="{EBF9F1F5-E6EC-7473-C3C0-20B4C7859681}"/>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508079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BFBC5-6C62-4A89-B025-2004DC7DC90A}"/>
              </a:ext>
            </a:extLst>
          </p:cNvPr>
          <p:cNvSpPr>
            <a:spLocks noGrp="1"/>
          </p:cNvSpPr>
          <p:nvPr>
            <p:ph type="title"/>
          </p:nvPr>
        </p:nvSpPr>
        <p:spPr>
          <a:xfrm>
            <a:off x="1895484" y="0"/>
            <a:ext cx="8911687" cy="1280890"/>
          </a:xfrm>
        </p:spPr>
        <p:txBody>
          <a:bodyPr/>
          <a:lstStyle/>
          <a:p>
            <a:r>
              <a:rPr lang="en-US" b="1" dirty="0">
                <a:latin typeface="Times New Roman" panose="02020603050405020304" pitchFamily="18" charset="0"/>
                <a:cs typeface="Times New Roman" panose="02020603050405020304" pitchFamily="18" charset="0"/>
              </a:rPr>
              <a:t>System Calls (contd.)</a:t>
            </a:r>
          </a:p>
        </p:txBody>
      </p:sp>
      <p:graphicFrame>
        <p:nvGraphicFramePr>
          <p:cNvPr id="7" name="Table 7">
            <a:extLst>
              <a:ext uri="{FF2B5EF4-FFF2-40B4-BE49-F238E27FC236}">
                <a16:creationId xmlns:a16="http://schemas.microsoft.com/office/drawing/2014/main" id="{87CA5338-04C6-4825-B25E-B1646AF393B1}"/>
              </a:ext>
            </a:extLst>
          </p:cNvPr>
          <p:cNvGraphicFramePr>
            <a:graphicFrameLocks noGrp="1"/>
          </p:cNvGraphicFramePr>
          <p:nvPr>
            <p:ph idx="1"/>
            <p:extLst>
              <p:ext uri="{D42A27DB-BD31-4B8C-83A1-F6EECF244321}">
                <p14:modId xmlns:p14="http://schemas.microsoft.com/office/powerpoint/2010/main" val="2817633774"/>
              </p:ext>
            </p:extLst>
          </p:nvPr>
        </p:nvGraphicFramePr>
        <p:xfrm>
          <a:off x="1891771" y="638445"/>
          <a:ext cx="8915400" cy="6131560"/>
        </p:xfrm>
        <a:graphic>
          <a:graphicData uri="http://schemas.openxmlformats.org/drawingml/2006/table">
            <a:tbl>
              <a:tblPr firstRow="1" bandRow="1">
                <a:tableStyleId>{5C22544A-7EE6-4342-B048-85BDC9FD1C3A}</a:tableStyleId>
              </a:tblPr>
              <a:tblGrid>
                <a:gridCol w="2042497">
                  <a:extLst>
                    <a:ext uri="{9D8B030D-6E8A-4147-A177-3AD203B41FA5}">
                      <a16:colId xmlns:a16="http://schemas.microsoft.com/office/drawing/2014/main" val="2769855616"/>
                    </a:ext>
                  </a:extLst>
                </a:gridCol>
                <a:gridCol w="3901103">
                  <a:extLst>
                    <a:ext uri="{9D8B030D-6E8A-4147-A177-3AD203B41FA5}">
                      <a16:colId xmlns:a16="http://schemas.microsoft.com/office/drawing/2014/main" val="3113465135"/>
                    </a:ext>
                  </a:extLst>
                </a:gridCol>
                <a:gridCol w="2971800">
                  <a:extLst>
                    <a:ext uri="{9D8B030D-6E8A-4147-A177-3AD203B41FA5}">
                      <a16:colId xmlns:a16="http://schemas.microsoft.com/office/drawing/2014/main" val="2255137067"/>
                    </a:ext>
                  </a:extLst>
                </a:gridCol>
              </a:tblGrid>
              <a:tr h="370840">
                <a:tc>
                  <a:txBody>
                    <a:bodyPr/>
                    <a:lstStyle/>
                    <a:p>
                      <a:r>
                        <a:rPr lang="en-US" dirty="0"/>
                        <a:t>TYPES</a:t>
                      </a:r>
                    </a:p>
                  </a:txBody>
                  <a:tcPr/>
                </a:tc>
                <a:tc>
                  <a:txBody>
                    <a:bodyPr/>
                    <a:lstStyle/>
                    <a:p>
                      <a:r>
                        <a:rPr lang="en-US" dirty="0"/>
                        <a:t>WINDOWS</a:t>
                      </a:r>
                    </a:p>
                  </a:txBody>
                  <a:tcPr/>
                </a:tc>
                <a:tc>
                  <a:txBody>
                    <a:bodyPr/>
                    <a:lstStyle/>
                    <a:p>
                      <a:r>
                        <a:rPr lang="en-US" dirty="0"/>
                        <a:t>UNIX</a:t>
                      </a:r>
                    </a:p>
                  </a:txBody>
                  <a:tcPr/>
                </a:tc>
                <a:extLst>
                  <a:ext uri="{0D108BD9-81ED-4DB2-BD59-A6C34878D82A}">
                    <a16:rowId xmlns:a16="http://schemas.microsoft.com/office/drawing/2014/main" val="55043592"/>
                  </a:ext>
                </a:extLst>
              </a:tr>
              <a:tr h="370840">
                <a:tc>
                  <a:txBody>
                    <a:bodyPr/>
                    <a:lstStyle/>
                    <a:p>
                      <a:pPr algn="l" fontAlgn="base"/>
                      <a:r>
                        <a:rPr lang="en-US" sz="1800" b="0" i="0" kern="1200" dirty="0">
                          <a:solidFill>
                            <a:schemeClr val="dk1"/>
                          </a:solidFill>
                          <a:effectLst/>
                          <a:latin typeface="+mn-lt"/>
                          <a:ea typeface="+mn-ea"/>
                          <a:cs typeface="+mn-cs"/>
                        </a:rPr>
                        <a:t>Process Control</a:t>
                      </a:r>
                    </a:p>
                  </a:txBody>
                  <a:tcPr marL="95250" marR="95250" marT="133350" marB="133350" anchor="ctr"/>
                </a:tc>
                <a:tc>
                  <a:txBody>
                    <a:bodyPr/>
                    <a:lstStyle/>
                    <a:p>
                      <a:r>
                        <a:rPr lang="en-US" sz="1800" b="0" i="0" kern="1200" dirty="0">
                          <a:solidFill>
                            <a:schemeClr val="dk1"/>
                          </a:solidFill>
                          <a:effectLst/>
                          <a:latin typeface="+mn-lt"/>
                          <a:ea typeface="+mn-ea"/>
                          <a:cs typeface="+mn-cs"/>
                        </a:rPr>
                        <a:t>CreateProcess()</a:t>
                      </a:r>
                      <a:br>
                        <a:rPr lang="en-US" dirty="0"/>
                      </a:br>
                      <a:r>
                        <a:rPr lang="en-US" sz="1800" b="0" i="0" kern="1200" dirty="0">
                          <a:solidFill>
                            <a:schemeClr val="dk1"/>
                          </a:solidFill>
                          <a:effectLst/>
                          <a:latin typeface="+mn-lt"/>
                          <a:ea typeface="+mn-ea"/>
                          <a:cs typeface="+mn-cs"/>
                        </a:rPr>
                        <a:t>ExitProcess()</a:t>
                      </a:r>
                      <a:br>
                        <a:rPr lang="en-US" dirty="0"/>
                      </a:br>
                      <a:r>
                        <a:rPr lang="en-US" sz="1800" b="0" i="0" kern="1200" dirty="0">
                          <a:solidFill>
                            <a:schemeClr val="dk1"/>
                          </a:solidFill>
                          <a:effectLst/>
                          <a:latin typeface="+mn-lt"/>
                          <a:ea typeface="+mn-ea"/>
                          <a:cs typeface="+mn-cs"/>
                        </a:rPr>
                        <a:t>WaitForSingleObject()</a:t>
                      </a:r>
                      <a:endParaRPr lang="en-US" dirty="0"/>
                    </a:p>
                  </a:txBody>
                  <a:tcPr/>
                </a:tc>
                <a:tc>
                  <a:txBody>
                    <a:bodyPr/>
                    <a:lstStyle/>
                    <a:p>
                      <a:r>
                        <a:rPr lang="en-US" sz="1800" b="0" i="0" kern="1200" dirty="0">
                          <a:solidFill>
                            <a:schemeClr val="dk1"/>
                          </a:solidFill>
                          <a:effectLst/>
                          <a:latin typeface="+mn-lt"/>
                          <a:ea typeface="+mn-ea"/>
                          <a:cs typeface="+mn-cs"/>
                        </a:rPr>
                        <a:t>fork()</a:t>
                      </a:r>
                      <a:br>
                        <a:rPr lang="en-US" dirty="0"/>
                      </a:br>
                      <a:r>
                        <a:rPr lang="en-US" sz="1800" b="0" i="0" kern="1200" dirty="0">
                          <a:solidFill>
                            <a:schemeClr val="dk1"/>
                          </a:solidFill>
                          <a:effectLst/>
                          <a:latin typeface="+mn-lt"/>
                          <a:ea typeface="+mn-ea"/>
                          <a:cs typeface="+mn-cs"/>
                        </a:rPr>
                        <a:t>exit()</a:t>
                      </a:r>
                      <a:br>
                        <a:rPr lang="en-US" dirty="0"/>
                      </a:br>
                      <a:r>
                        <a:rPr lang="en-US" sz="1800" b="0" i="0" kern="1200" dirty="0">
                          <a:solidFill>
                            <a:schemeClr val="dk1"/>
                          </a:solidFill>
                          <a:effectLst/>
                          <a:latin typeface="+mn-lt"/>
                          <a:ea typeface="+mn-ea"/>
                          <a:cs typeface="+mn-cs"/>
                        </a:rPr>
                        <a:t>wait()</a:t>
                      </a:r>
                      <a:endParaRPr lang="en-US" dirty="0"/>
                    </a:p>
                  </a:txBody>
                  <a:tcPr/>
                </a:tc>
                <a:extLst>
                  <a:ext uri="{0D108BD9-81ED-4DB2-BD59-A6C34878D82A}">
                    <a16:rowId xmlns:a16="http://schemas.microsoft.com/office/drawing/2014/main" val="1376095114"/>
                  </a:ext>
                </a:extLst>
              </a:tr>
              <a:tr h="370840">
                <a:tc>
                  <a:txBody>
                    <a:bodyPr/>
                    <a:lstStyle/>
                    <a:p>
                      <a:r>
                        <a:rPr lang="en-US" sz="1800" b="0" i="0" kern="1200" dirty="0">
                          <a:solidFill>
                            <a:schemeClr val="dk1"/>
                          </a:solidFill>
                          <a:effectLst/>
                          <a:latin typeface="+mn-lt"/>
                          <a:ea typeface="+mn-ea"/>
                          <a:cs typeface="+mn-cs"/>
                        </a:rPr>
                        <a:t>File Manipulation</a:t>
                      </a:r>
                      <a:endParaRPr lang="en-US" dirty="0"/>
                    </a:p>
                  </a:txBody>
                  <a:tcPr/>
                </a:tc>
                <a:tc>
                  <a:txBody>
                    <a:bodyPr/>
                    <a:lstStyle/>
                    <a:p>
                      <a:r>
                        <a:rPr lang="en-US" sz="1800" b="0" i="0" kern="1200" dirty="0">
                          <a:solidFill>
                            <a:schemeClr val="dk1"/>
                          </a:solidFill>
                          <a:effectLst/>
                          <a:latin typeface="+mn-lt"/>
                          <a:ea typeface="+mn-ea"/>
                          <a:cs typeface="+mn-cs"/>
                        </a:rPr>
                        <a:t>CreateFile()</a:t>
                      </a:r>
                      <a:br>
                        <a:rPr lang="en-US" dirty="0"/>
                      </a:br>
                      <a:r>
                        <a:rPr lang="en-US" sz="1800" b="0" i="0" kern="1200" dirty="0">
                          <a:solidFill>
                            <a:schemeClr val="dk1"/>
                          </a:solidFill>
                          <a:effectLst/>
                          <a:latin typeface="+mn-lt"/>
                          <a:ea typeface="+mn-ea"/>
                          <a:cs typeface="+mn-cs"/>
                        </a:rPr>
                        <a:t>ReadFile()</a:t>
                      </a:r>
                      <a:br>
                        <a:rPr lang="en-US" dirty="0"/>
                      </a:br>
                      <a:r>
                        <a:rPr lang="en-US" sz="1800" b="0" i="0" kern="1200" dirty="0">
                          <a:solidFill>
                            <a:schemeClr val="dk1"/>
                          </a:solidFill>
                          <a:effectLst/>
                          <a:latin typeface="+mn-lt"/>
                          <a:ea typeface="+mn-ea"/>
                          <a:cs typeface="+mn-cs"/>
                        </a:rPr>
                        <a:t>WriteFile()</a:t>
                      </a:r>
                      <a:br>
                        <a:rPr lang="en-US" dirty="0"/>
                      </a:br>
                      <a:r>
                        <a:rPr lang="en-US" sz="1800" b="0" i="0" kern="1200" dirty="0">
                          <a:solidFill>
                            <a:schemeClr val="dk1"/>
                          </a:solidFill>
                          <a:effectLst/>
                          <a:latin typeface="+mn-lt"/>
                          <a:ea typeface="+mn-ea"/>
                          <a:cs typeface="+mn-cs"/>
                        </a:rPr>
                        <a:t>CloseHandle()</a:t>
                      </a:r>
                      <a:endParaRPr lang="en-US" dirty="0"/>
                    </a:p>
                  </a:txBody>
                  <a:tcPr/>
                </a:tc>
                <a:tc>
                  <a:txBody>
                    <a:bodyPr/>
                    <a:lstStyle/>
                    <a:p>
                      <a:r>
                        <a:rPr lang="en-US" sz="1800" b="0" i="0" kern="1200" dirty="0">
                          <a:solidFill>
                            <a:schemeClr val="dk1"/>
                          </a:solidFill>
                          <a:effectLst/>
                          <a:latin typeface="+mn-lt"/>
                          <a:ea typeface="+mn-ea"/>
                          <a:cs typeface="+mn-cs"/>
                        </a:rPr>
                        <a:t>open()</a:t>
                      </a:r>
                      <a:br>
                        <a:rPr lang="en-US" dirty="0"/>
                      </a:br>
                      <a:r>
                        <a:rPr lang="en-US" sz="1800" b="0" i="0" kern="1200" dirty="0">
                          <a:solidFill>
                            <a:schemeClr val="dk1"/>
                          </a:solidFill>
                          <a:effectLst/>
                          <a:latin typeface="+mn-lt"/>
                          <a:ea typeface="+mn-ea"/>
                          <a:cs typeface="+mn-cs"/>
                        </a:rPr>
                        <a:t>read()</a:t>
                      </a:r>
                      <a:br>
                        <a:rPr lang="en-US" dirty="0"/>
                      </a:br>
                      <a:r>
                        <a:rPr lang="en-US" sz="1800" b="0" i="0" kern="1200" dirty="0">
                          <a:solidFill>
                            <a:schemeClr val="dk1"/>
                          </a:solidFill>
                          <a:effectLst/>
                          <a:latin typeface="+mn-lt"/>
                          <a:ea typeface="+mn-ea"/>
                          <a:cs typeface="+mn-cs"/>
                        </a:rPr>
                        <a:t>write()</a:t>
                      </a:r>
                      <a:br>
                        <a:rPr lang="en-US" dirty="0"/>
                      </a:br>
                      <a:r>
                        <a:rPr lang="en-US" sz="1800" b="0" i="0" kern="1200" dirty="0">
                          <a:solidFill>
                            <a:schemeClr val="dk1"/>
                          </a:solidFill>
                          <a:effectLst/>
                          <a:latin typeface="+mn-lt"/>
                          <a:ea typeface="+mn-ea"/>
                          <a:cs typeface="+mn-cs"/>
                        </a:rPr>
                        <a:t>close()</a:t>
                      </a:r>
                      <a:endParaRPr lang="en-US" dirty="0"/>
                    </a:p>
                  </a:txBody>
                  <a:tcPr/>
                </a:tc>
                <a:extLst>
                  <a:ext uri="{0D108BD9-81ED-4DB2-BD59-A6C34878D82A}">
                    <a16:rowId xmlns:a16="http://schemas.microsoft.com/office/drawing/2014/main" val="4153109339"/>
                  </a:ext>
                </a:extLst>
              </a:tr>
              <a:tr h="370840">
                <a:tc>
                  <a:txBody>
                    <a:bodyPr/>
                    <a:lstStyle/>
                    <a:p>
                      <a:r>
                        <a:rPr lang="en-US" sz="1800" b="0" i="0" kern="1200" dirty="0">
                          <a:solidFill>
                            <a:schemeClr val="dk1"/>
                          </a:solidFill>
                          <a:effectLst/>
                          <a:latin typeface="+mn-lt"/>
                          <a:ea typeface="+mn-ea"/>
                          <a:cs typeface="+mn-cs"/>
                        </a:rPr>
                        <a:t>Device Manipulation</a:t>
                      </a:r>
                      <a:endParaRPr lang="en-US" dirty="0"/>
                    </a:p>
                  </a:txBody>
                  <a:tcPr/>
                </a:tc>
                <a:tc>
                  <a:txBody>
                    <a:bodyPr/>
                    <a:lstStyle/>
                    <a:p>
                      <a:r>
                        <a:rPr lang="en-US" sz="1800" b="0" i="0" kern="1200" dirty="0">
                          <a:solidFill>
                            <a:schemeClr val="dk1"/>
                          </a:solidFill>
                          <a:effectLst/>
                          <a:latin typeface="+mn-lt"/>
                          <a:ea typeface="+mn-ea"/>
                          <a:cs typeface="+mn-cs"/>
                        </a:rPr>
                        <a:t>SetConsoleMode()</a:t>
                      </a:r>
                      <a:br>
                        <a:rPr lang="en-US" dirty="0"/>
                      </a:br>
                      <a:r>
                        <a:rPr lang="en-US" sz="1800" b="0" i="0" kern="1200" dirty="0">
                          <a:solidFill>
                            <a:schemeClr val="dk1"/>
                          </a:solidFill>
                          <a:effectLst/>
                          <a:latin typeface="+mn-lt"/>
                          <a:ea typeface="+mn-ea"/>
                          <a:cs typeface="+mn-cs"/>
                        </a:rPr>
                        <a:t>ReadConsole()</a:t>
                      </a:r>
                      <a:br>
                        <a:rPr lang="en-US" dirty="0"/>
                      </a:br>
                      <a:r>
                        <a:rPr lang="en-US" sz="1800" b="0" i="0" kern="1200" dirty="0">
                          <a:solidFill>
                            <a:schemeClr val="dk1"/>
                          </a:solidFill>
                          <a:effectLst/>
                          <a:latin typeface="+mn-lt"/>
                          <a:ea typeface="+mn-ea"/>
                          <a:cs typeface="+mn-cs"/>
                        </a:rPr>
                        <a:t>WriteConsole()</a:t>
                      </a:r>
                      <a:endParaRPr lang="en-US" dirty="0"/>
                    </a:p>
                  </a:txBody>
                  <a:tcPr/>
                </a:tc>
                <a:tc>
                  <a:txBody>
                    <a:bodyPr/>
                    <a:lstStyle/>
                    <a:p>
                      <a:r>
                        <a:rPr lang="en-US" sz="1800" b="0" i="0" kern="1200" dirty="0">
                          <a:solidFill>
                            <a:schemeClr val="dk1"/>
                          </a:solidFill>
                          <a:effectLst/>
                          <a:latin typeface="+mn-lt"/>
                          <a:ea typeface="+mn-ea"/>
                          <a:cs typeface="+mn-cs"/>
                        </a:rPr>
                        <a:t>ioctl()</a:t>
                      </a:r>
                      <a:br>
                        <a:rPr lang="en-US" dirty="0"/>
                      </a:br>
                      <a:r>
                        <a:rPr lang="en-US" sz="1800" b="0" i="0" kern="1200" dirty="0">
                          <a:solidFill>
                            <a:schemeClr val="dk1"/>
                          </a:solidFill>
                          <a:effectLst/>
                          <a:latin typeface="+mn-lt"/>
                          <a:ea typeface="+mn-ea"/>
                          <a:cs typeface="+mn-cs"/>
                        </a:rPr>
                        <a:t>read()</a:t>
                      </a:r>
                      <a:br>
                        <a:rPr lang="en-US" dirty="0"/>
                      </a:br>
                      <a:r>
                        <a:rPr lang="en-US" sz="1800" b="0" i="0" kern="1200" dirty="0">
                          <a:solidFill>
                            <a:schemeClr val="dk1"/>
                          </a:solidFill>
                          <a:effectLst/>
                          <a:latin typeface="+mn-lt"/>
                          <a:ea typeface="+mn-ea"/>
                          <a:cs typeface="+mn-cs"/>
                        </a:rPr>
                        <a:t>write()</a:t>
                      </a:r>
                      <a:endParaRPr lang="en-US" dirty="0"/>
                    </a:p>
                  </a:txBody>
                  <a:tcPr/>
                </a:tc>
                <a:extLst>
                  <a:ext uri="{0D108BD9-81ED-4DB2-BD59-A6C34878D82A}">
                    <a16:rowId xmlns:a16="http://schemas.microsoft.com/office/drawing/2014/main" val="4130467027"/>
                  </a:ext>
                </a:extLst>
              </a:tr>
              <a:tr h="370840">
                <a:tc>
                  <a:txBody>
                    <a:bodyPr/>
                    <a:lstStyle/>
                    <a:p>
                      <a:r>
                        <a:rPr lang="en-US" sz="1800" b="0" i="0" kern="1200" dirty="0">
                          <a:solidFill>
                            <a:schemeClr val="dk1"/>
                          </a:solidFill>
                          <a:effectLst/>
                          <a:latin typeface="+mn-lt"/>
                          <a:ea typeface="+mn-ea"/>
                          <a:cs typeface="+mn-cs"/>
                        </a:rPr>
                        <a:t>Information Maintenance</a:t>
                      </a:r>
                      <a:endParaRPr lang="en-US" dirty="0"/>
                    </a:p>
                  </a:txBody>
                  <a:tcPr/>
                </a:tc>
                <a:tc>
                  <a:txBody>
                    <a:bodyPr/>
                    <a:lstStyle/>
                    <a:p>
                      <a:r>
                        <a:rPr lang="en-US" sz="1800" b="0" i="0" kern="1200" dirty="0">
                          <a:solidFill>
                            <a:schemeClr val="dk1"/>
                          </a:solidFill>
                          <a:effectLst/>
                          <a:latin typeface="+mn-lt"/>
                          <a:ea typeface="+mn-ea"/>
                          <a:cs typeface="+mn-cs"/>
                        </a:rPr>
                        <a:t>GetCurrentProcessID()</a:t>
                      </a:r>
                      <a:br>
                        <a:rPr lang="en-US" dirty="0"/>
                      </a:br>
                      <a:r>
                        <a:rPr lang="en-US" sz="1800" b="0" i="0" kern="1200" dirty="0">
                          <a:solidFill>
                            <a:schemeClr val="dk1"/>
                          </a:solidFill>
                          <a:effectLst/>
                          <a:latin typeface="+mn-lt"/>
                          <a:ea typeface="+mn-ea"/>
                          <a:cs typeface="+mn-cs"/>
                        </a:rPr>
                        <a:t>SetTimer()</a:t>
                      </a:r>
                      <a:br>
                        <a:rPr lang="en-US" dirty="0"/>
                      </a:br>
                      <a:r>
                        <a:rPr lang="en-US" sz="1800" b="0" i="0" kern="1200" dirty="0">
                          <a:solidFill>
                            <a:schemeClr val="dk1"/>
                          </a:solidFill>
                          <a:effectLst/>
                          <a:latin typeface="+mn-lt"/>
                          <a:ea typeface="+mn-ea"/>
                          <a:cs typeface="+mn-cs"/>
                        </a:rPr>
                        <a:t>Sleep()</a:t>
                      </a:r>
                      <a:endParaRPr lang="en-US" dirty="0"/>
                    </a:p>
                  </a:txBody>
                  <a:tcPr/>
                </a:tc>
                <a:tc>
                  <a:txBody>
                    <a:bodyPr/>
                    <a:lstStyle/>
                    <a:p>
                      <a:r>
                        <a:rPr lang="en-US" sz="1800" b="0" i="0" kern="1200" dirty="0">
                          <a:solidFill>
                            <a:schemeClr val="dk1"/>
                          </a:solidFill>
                          <a:effectLst/>
                          <a:latin typeface="+mn-lt"/>
                          <a:ea typeface="+mn-ea"/>
                          <a:cs typeface="+mn-cs"/>
                        </a:rPr>
                        <a:t>getpid()</a:t>
                      </a:r>
                      <a:br>
                        <a:rPr lang="en-US" dirty="0"/>
                      </a:br>
                      <a:r>
                        <a:rPr lang="en-US" sz="1800" b="0" i="0" kern="1200" dirty="0">
                          <a:solidFill>
                            <a:schemeClr val="dk1"/>
                          </a:solidFill>
                          <a:effectLst/>
                          <a:latin typeface="+mn-lt"/>
                          <a:ea typeface="+mn-ea"/>
                          <a:cs typeface="+mn-cs"/>
                        </a:rPr>
                        <a:t>alarm()</a:t>
                      </a:r>
                      <a:br>
                        <a:rPr lang="en-US" dirty="0"/>
                      </a:br>
                      <a:r>
                        <a:rPr lang="en-US" sz="1800" b="0" i="0" kern="1200" dirty="0">
                          <a:solidFill>
                            <a:schemeClr val="dk1"/>
                          </a:solidFill>
                          <a:effectLst/>
                          <a:latin typeface="+mn-lt"/>
                          <a:ea typeface="+mn-ea"/>
                          <a:cs typeface="+mn-cs"/>
                        </a:rPr>
                        <a:t>sleep()</a:t>
                      </a:r>
                      <a:endParaRPr lang="en-US" dirty="0"/>
                    </a:p>
                  </a:txBody>
                  <a:tcPr/>
                </a:tc>
                <a:extLst>
                  <a:ext uri="{0D108BD9-81ED-4DB2-BD59-A6C34878D82A}">
                    <a16:rowId xmlns:a16="http://schemas.microsoft.com/office/drawing/2014/main" val="2754419695"/>
                  </a:ext>
                </a:extLst>
              </a:tr>
              <a:tr h="370840">
                <a:tc>
                  <a:txBody>
                    <a:bodyPr/>
                    <a:lstStyle/>
                    <a:p>
                      <a:r>
                        <a:rPr lang="en-US" sz="1800" b="0" i="0" kern="1200" dirty="0">
                          <a:solidFill>
                            <a:schemeClr val="dk1"/>
                          </a:solidFill>
                          <a:effectLst/>
                          <a:latin typeface="+mn-lt"/>
                          <a:ea typeface="+mn-ea"/>
                          <a:cs typeface="+mn-cs"/>
                        </a:rPr>
                        <a:t>Communication</a:t>
                      </a:r>
                      <a:endParaRPr lang="en-US" dirty="0"/>
                    </a:p>
                  </a:txBody>
                  <a:tcPr/>
                </a:tc>
                <a:tc>
                  <a:txBody>
                    <a:bodyPr/>
                    <a:lstStyle/>
                    <a:p>
                      <a:r>
                        <a:rPr lang="en-US" sz="1800" b="0" i="0" kern="1200" dirty="0">
                          <a:solidFill>
                            <a:schemeClr val="dk1"/>
                          </a:solidFill>
                          <a:effectLst/>
                          <a:latin typeface="+mn-lt"/>
                          <a:ea typeface="+mn-ea"/>
                          <a:cs typeface="+mn-cs"/>
                        </a:rPr>
                        <a:t>CreatePipe()</a:t>
                      </a:r>
                      <a:br>
                        <a:rPr lang="en-US" dirty="0"/>
                      </a:br>
                      <a:r>
                        <a:rPr lang="en-US" sz="1800" b="0" i="0" kern="1200" dirty="0">
                          <a:solidFill>
                            <a:schemeClr val="dk1"/>
                          </a:solidFill>
                          <a:effectLst/>
                          <a:latin typeface="+mn-lt"/>
                          <a:ea typeface="+mn-ea"/>
                          <a:cs typeface="+mn-cs"/>
                        </a:rPr>
                        <a:t>CreateFileMapping()</a:t>
                      </a:r>
                      <a:br>
                        <a:rPr lang="en-US" dirty="0"/>
                      </a:br>
                      <a:r>
                        <a:rPr lang="en-US" sz="1800" b="0" i="0" kern="1200" dirty="0">
                          <a:solidFill>
                            <a:schemeClr val="dk1"/>
                          </a:solidFill>
                          <a:effectLst/>
                          <a:latin typeface="+mn-lt"/>
                          <a:ea typeface="+mn-ea"/>
                          <a:cs typeface="+mn-cs"/>
                        </a:rPr>
                        <a:t>MapViewOfFile()</a:t>
                      </a:r>
                      <a:endParaRPr lang="en-US" dirty="0"/>
                    </a:p>
                  </a:txBody>
                  <a:tcPr/>
                </a:tc>
                <a:tc>
                  <a:txBody>
                    <a:bodyPr/>
                    <a:lstStyle/>
                    <a:p>
                      <a:r>
                        <a:rPr lang="en-US" sz="1800" b="0" i="0" kern="1200" dirty="0">
                          <a:solidFill>
                            <a:schemeClr val="dk1"/>
                          </a:solidFill>
                          <a:effectLst/>
                          <a:latin typeface="+mn-lt"/>
                          <a:ea typeface="+mn-ea"/>
                          <a:cs typeface="+mn-cs"/>
                        </a:rPr>
                        <a:t>CreatePipe()</a:t>
                      </a:r>
                      <a:br>
                        <a:rPr lang="en-US" dirty="0"/>
                      </a:br>
                      <a:r>
                        <a:rPr lang="en-US" sz="1800" b="0" i="0" kern="1200" dirty="0">
                          <a:solidFill>
                            <a:schemeClr val="dk1"/>
                          </a:solidFill>
                          <a:effectLst/>
                          <a:latin typeface="+mn-lt"/>
                          <a:ea typeface="+mn-ea"/>
                          <a:cs typeface="+mn-cs"/>
                        </a:rPr>
                        <a:t>CreateFileMapping()</a:t>
                      </a:r>
                      <a:br>
                        <a:rPr lang="en-US" dirty="0"/>
                      </a:br>
                      <a:r>
                        <a:rPr lang="en-US" sz="1800" b="0" i="0" kern="1200" dirty="0">
                          <a:solidFill>
                            <a:schemeClr val="dk1"/>
                          </a:solidFill>
                          <a:effectLst/>
                          <a:latin typeface="+mn-lt"/>
                          <a:ea typeface="+mn-ea"/>
                          <a:cs typeface="+mn-cs"/>
                        </a:rPr>
                        <a:t>MapViewOfFile()</a:t>
                      </a:r>
                      <a:endParaRPr lang="en-US" dirty="0"/>
                    </a:p>
                  </a:txBody>
                  <a:tcPr/>
                </a:tc>
                <a:extLst>
                  <a:ext uri="{0D108BD9-81ED-4DB2-BD59-A6C34878D82A}">
                    <a16:rowId xmlns:a16="http://schemas.microsoft.com/office/drawing/2014/main" val="2852189452"/>
                  </a:ext>
                </a:extLst>
              </a:tr>
              <a:tr h="370840">
                <a:tc>
                  <a:txBody>
                    <a:bodyPr/>
                    <a:lstStyle/>
                    <a:p>
                      <a:r>
                        <a:rPr lang="en-US" sz="1800" b="0" i="0" kern="1200" dirty="0">
                          <a:solidFill>
                            <a:schemeClr val="dk1"/>
                          </a:solidFill>
                          <a:effectLst/>
                          <a:latin typeface="+mn-lt"/>
                          <a:ea typeface="+mn-ea"/>
                          <a:cs typeface="+mn-cs"/>
                        </a:rPr>
                        <a:t>Protection</a:t>
                      </a:r>
                      <a:endParaRPr lang="en-US" dirty="0"/>
                    </a:p>
                  </a:txBody>
                  <a:tcPr/>
                </a:tc>
                <a:tc>
                  <a:txBody>
                    <a:bodyPr/>
                    <a:lstStyle/>
                    <a:p>
                      <a:r>
                        <a:rPr lang="en-US" sz="1800" b="0" i="0" kern="1200" dirty="0">
                          <a:solidFill>
                            <a:schemeClr val="dk1"/>
                          </a:solidFill>
                          <a:effectLst/>
                          <a:latin typeface="+mn-lt"/>
                          <a:ea typeface="+mn-ea"/>
                          <a:cs typeface="+mn-cs"/>
                        </a:rPr>
                        <a:t>SetFileSecurity()</a:t>
                      </a:r>
                      <a:br>
                        <a:rPr lang="en-US" dirty="0"/>
                      </a:br>
                      <a:r>
                        <a:rPr lang="en-US" sz="1800" b="0" i="0" kern="1200" dirty="0">
                          <a:solidFill>
                            <a:schemeClr val="dk1"/>
                          </a:solidFill>
                          <a:effectLst/>
                          <a:latin typeface="+mn-lt"/>
                          <a:ea typeface="+mn-ea"/>
                          <a:cs typeface="+mn-cs"/>
                        </a:rPr>
                        <a:t>InitlializeSecurityDescriptor()</a:t>
                      </a:r>
                      <a:br>
                        <a:rPr lang="en-US" dirty="0"/>
                      </a:br>
                      <a:r>
                        <a:rPr lang="en-US" sz="1800" b="0" i="0" kern="1200" dirty="0">
                          <a:solidFill>
                            <a:schemeClr val="dk1"/>
                          </a:solidFill>
                          <a:effectLst/>
                          <a:latin typeface="+mn-lt"/>
                          <a:ea typeface="+mn-ea"/>
                          <a:cs typeface="+mn-cs"/>
                        </a:rPr>
                        <a:t>SetSecurityDescriptorGroup()</a:t>
                      </a:r>
                      <a:endParaRPr lang="en-US" dirty="0"/>
                    </a:p>
                  </a:txBody>
                  <a:tcPr/>
                </a:tc>
                <a:tc>
                  <a:txBody>
                    <a:bodyPr/>
                    <a:lstStyle/>
                    <a:p>
                      <a:r>
                        <a:rPr lang="en-US" sz="1800" b="0" i="0" kern="1200" dirty="0">
                          <a:solidFill>
                            <a:schemeClr val="dk1"/>
                          </a:solidFill>
                          <a:effectLst/>
                          <a:latin typeface="+mn-lt"/>
                          <a:ea typeface="+mn-ea"/>
                          <a:cs typeface="+mn-cs"/>
                        </a:rPr>
                        <a:t>chmod()</a:t>
                      </a:r>
                      <a:br>
                        <a:rPr lang="en-US" dirty="0"/>
                      </a:br>
                      <a:r>
                        <a:rPr lang="en-US" sz="1800" b="0" i="0" kern="1200" dirty="0">
                          <a:solidFill>
                            <a:schemeClr val="dk1"/>
                          </a:solidFill>
                          <a:effectLst/>
                          <a:latin typeface="+mn-lt"/>
                          <a:ea typeface="+mn-ea"/>
                          <a:cs typeface="+mn-cs"/>
                        </a:rPr>
                        <a:t>umask()</a:t>
                      </a:r>
                      <a:br>
                        <a:rPr lang="en-US" dirty="0"/>
                      </a:br>
                      <a:r>
                        <a:rPr lang="en-US" sz="1800" b="0" i="0" kern="1200" dirty="0">
                          <a:solidFill>
                            <a:schemeClr val="dk1"/>
                          </a:solidFill>
                          <a:effectLst/>
                          <a:latin typeface="+mn-lt"/>
                          <a:ea typeface="+mn-ea"/>
                          <a:cs typeface="+mn-cs"/>
                        </a:rPr>
                        <a:t>chown()</a:t>
                      </a:r>
                      <a:endParaRPr lang="en-US" dirty="0"/>
                    </a:p>
                  </a:txBody>
                  <a:tcPr/>
                </a:tc>
                <a:extLst>
                  <a:ext uri="{0D108BD9-81ED-4DB2-BD59-A6C34878D82A}">
                    <a16:rowId xmlns:a16="http://schemas.microsoft.com/office/drawing/2014/main" val="363474933"/>
                  </a:ext>
                </a:extLst>
              </a:tr>
            </a:tbl>
          </a:graphicData>
        </a:graphic>
      </p:graphicFrame>
      <p:sp>
        <p:nvSpPr>
          <p:cNvPr id="3" name="Footer Placeholder 2">
            <a:extLst>
              <a:ext uri="{FF2B5EF4-FFF2-40B4-BE49-F238E27FC236}">
                <a16:creationId xmlns:a16="http://schemas.microsoft.com/office/drawing/2014/main" id="{6AD16F13-4C59-FD68-004A-F6D090F42FA9}"/>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717840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CD02C-1B5C-4D51-B357-7E2F74CA8498}"/>
              </a:ext>
            </a:extLst>
          </p:cNvPr>
          <p:cNvSpPr>
            <a:spLocks noGrp="1"/>
          </p:cNvSpPr>
          <p:nvPr>
            <p:ph type="title"/>
          </p:nvPr>
        </p:nvSpPr>
        <p:spPr/>
        <p:txBody>
          <a:bodyPr/>
          <a:lstStyle/>
          <a:p>
            <a:r>
              <a:rPr lang="en-US" b="1" dirty="0"/>
              <a:t>Handling System Calls</a:t>
            </a:r>
          </a:p>
        </p:txBody>
      </p:sp>
      <p:pic>
        <p:nvPicPr>
          <p:cNvPr id="8" name="Content Placeholder 7">
            <a:extLst>
              <a:ext uri="{FF2B5EF4-FFF2-40B4-BE49-F238E27FC236}">
                <a16:creationId xmlns:a16="http://schemas.microsoft.com/office/drawing/2014/main" id="{464B99F1-E6EC-4078-A4AC-D21CD315FA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95273" y="1282890"/>
            <a:ext cx="6338408" cy="4628960"/>
          </a:xfrm>
        </p:spPr>
      </p:pic>
      <p:sp>
        <p:nvSpPr>
          <p:cNvPr id="3" name="Footer Placeholder 2">
            <a:extLst>
              <a:ext uri="{FF2B5EF4-FFF2-40B4-BE49-F238E27FC236}">
                <a16:creationId xmlns:a16="http://schemas.microsoft.com/office/drawing/2014/main" id="{FAB1EEA1-566F-63CF-6BC7-B2A0D9C8A987}"/>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487751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3080D-EECF-4680-8BB6-BF2999CE26CF}"/>
              </a:ext>
            </a:extLst>
          </p:cNvPr>
          <p:cNvSpPr>
            <a:spLocks noGrp="1"/>
          </p:cNvSpPr>
          <p:nvPr>
            <p:ph type="title"/>
          </p:nvPr>
        </p:nvSpPr>
        <p:spPr>
          <a:xfrm>
            <a:off x="2374561" y="640445"/>
            <a:ext cx="8911687" cy="1280890"/>
          </a:xfrm>
        </p:spPr>
        <p:txBody>
          <a:bodyPr/>
          <a:lstStyle/>
          <a:p>
            <a:r>
              <a:rPr lang="en-US" b="1" dirty="0"/>
              <a:t>Handling System Calls (contd.)</a:t>
            </a:r>
          </a:p>
        </p:txBody>
      </p:sp>
      <p:sp>
        <p:nvSpPr>
          <p:cNvPr id="3" name="Content Placeholder 2">
            <a:extLst>
              <a:ext uri="{FF2B5EF4-FFF2-40B4-BE49-F238E27FC236}">
                <a16:creationId xmlns:a16="http://schemas.microsoft.com/office/drawing/2014/main" id="{39AA6FCB-5093-4D1E-9043-A95A514D274F}"/>
              </a:ext>
            </a:extLst>
          </p:cNvPr>
          <p:cNvSpPr>
            <a:spLocks noGrp="1"/>
          </p:cNvSpPr>
          <p:nvPr>
            <p:ph idx="1"/>
          </p:nvPr>
        </p:nvSpPr>
        <p:spPr>
          <a:xfrm>
            <a:off x="2370848" y="1280890"/>
            <a:ext cx="8915400" cy="5495498"/>
          </a:xfrm>
        </p:spPr>
        <p:txBody>
          <a:bodyPr>
            <a:normAutofit fontScale="92500" lnSpcReduction="20000"/>
          </a:bodyPr>
          <a:lstStyle/>
          <a:p>
            <a:r>
              <a:rPr lang="en-US" sz="2400" dirty="0">
                <a:solidFill>
                  <a:schemeClr val="tx1"/>
                </a:solidFill>
                <a:latin typeface="Times New Roman" panose="02020603050405020304" pitchFamily="18" charset="0"/>
                <a:cs typeface="Times New Roman" panose="02020603050405020304" pitchFamily="18" charset="0"/>
              </a:rPr>
              <a:t>System calls performed in a series of steps. Most of the system calls are invoked as the following example system call: read </a:t>
            </a:r>
          </a:p>
          <a:p>
            <a:pPr marL="0" indent="0" algn="ctr">
              <a:buNone/>
            </a:pPr>
            <a:r>
              <a:rPr lang="en-US" sz="2400" dirty="0">
                <a:solidFill>
                  <a:schemeClr val="tx1"/>
                </a:solidFill>
                <a:latin typeface="Times New Roman" panose="02020603050405020304" pitchFamily="18" charset="0"/>
                <a:cs typeface="Times New Roman" panose="02020603050405020304" pitchFamily="18" charset="0"/>
              </a:rPr>
              <a:t>count = read(</a:t>
            </a:r>
            <a:r>
              <a:rPr lang="en-US" sz="2400" dirty="0" err="1">
                <a:solidFill>
                  <a:schemeClr val="tx1"/>
                </a:solidFill>
                <a:latin typeface="Times New Roman" panose="02020603050405020304" pitchFamily="18" charset="0"/>
                <a:cs typeface="Times New Roman" panose="02020603050405020304" pitchFamily="18" charset="0"/>
              </a:rPr>
              <a:t>fd</a:t>
            </a:r>
            <a:r>
              <a:rPr lang="en-US" sz="2400" dirty="0">
                <a:solidFill>
                  <a:schemeClr val="tx1"/>
                </a:solidFill>
                <a:latin typeface="Times New Roman" panose="02020603050405020304" pitchFamily="18" charset="0"/>
                <a:cs typeface="Times New Roman" panose="02020603050405020304" pitchFamily="18" charset="0"/>
              </a:rPr>
              <a:t>, buffer, </a:t>
            </a:r>
            <a:r>
              <a:rPr lang="en-US" sz="2400" dirty="0" err="1">
                <a:solidFill>
                  <a:schemeClr val="tx1"/>
                </a:solidFill>
                <a:latin typeface="Times New Roman" panose="02020603050405020304" pitchFamily="18" charset="0"/>
                <a:cs typeface="Times New Roman" panose="02020603050405020304" pitchFamily="18" charset="0"/>
              </a:rPr>
              <a:t>nbytes</a:t>
            </a:r>
            <a:r>
              <a:rPr lang="en-US" sz="2400"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Push parameters into the stack (1-3)</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Calls library procedure (4)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Pass parameters in registers.(5)</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Switch from user mode to kernel mode and start to execute.(6)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Examines the system call number and then dispatches to the correct system call handler via a table of pointer.(7)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Runs system call handlers (8).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Once the system call handler completed its work, control return to the library procedure.(9) </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This procedure then return to the user program in the usual way. (10)</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Increments Stack Pointer (SP) before call to finish the job. (11)</a:t>
            </a:r>
          </a:p>
        </p:txBody>
      </p:sp>
      <p:sp>
        <p:nvSpPr>
          <p:cNvPr id="4" name="Footer Placeholder 3">
            <a:extLst>
              <a:ext uri="{FF2B5EF4-FFF2-40B4-BE49-F238E27FC236}">
                <a16:creationId xmlns:a16="http://schemas.microsoft.com/office/drawing/2014/main" id="{F8C56319-B2B3-F76B-9E74-A6D1381FFFF0}"/>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310672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A80F4-1F75-4AC8-9C62-B1BA453FF3B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Shell</a:t>
            </a:r>
          </a:p>
        </p:txBody>
      </p:sp>
      <p:sp>
        <p:nvSpPr>
          <p:cNvPr id="3" name="Content Placeholder 2">
            <a:extLst>
              <a:ext uri="{FF2B5EF4-FFF2-40B4-BE49-F238E27FC236}">
                <a16:creationId xmlns:a16="http://schemas.microsoft.com/office/drawing/2014/main" id="{0B982520-4C4C-40FD-81BB-F2BC7FA4C55B}"/>
              </a:ext>
            </a:extLst>
          </p:cNvPr>
          <p:cNvSpPr>
            <a:spLocks noGrp="1"/>
          </p:cNvSpPr>
          <p:nvPr>
            <p:ph idx="1"/>
          </p:nvPr>
        </p:nvSpPr>
        <p:spPr>
          <a:xfrm>
            <a:off x="2589212" y="1540189"/>
            <a:ext cx="8915400" cy="3777622"/>
          </a:xfrm>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The outermost layer in an operating system</a:t>
            </a:r>
          </a:p>
          <a:p>
            <a:r>
              <a:rPr lang="en-US" sz="2200" dirty="0">
                <a:solidFill>
                  <a:schemeClr val="tx1"/>
                </a:solidFill>
                <a:latin typeface="Times New Roman" panose="02020603050405020304" pitchFamily="18" charset="0"/>
                <a:cs typeface="Times New Roman" panose="02020603050405020304" pitchFamily="18" charset="0"/>
              </a:rPr>
              <a:t>A</a:t>
            </a:r>
            <a:r>
              <a:rPr lang="en-US" sz="2200" b="0" i="0" dirty="0">
                <a:solidFill>
                  <a:schemeClr val="tx1"/>
                </a:solidFill>
                <a:effectLst/>
                <a:latin typeface="Times New Roman" panose="02020603050405020304" pitchFamily="18" charset="0"/>
                <a:cs typeface="Times New Roman" panose="02020603050405020304" pitchFamily="18" charset="0"/>
              </a:rPr>
              <a:t> computer application software that provides the services of an operating system to an external user or another program</a:t>
            </a:r>
          </a:p>
          <a:p>
            <a:r>
              <a:rPr lang="en-US" sz="2200" dirty="0">
                <a:solidFill>
                  <a:schemeClr val="tx1"/>
                </a:solidFill>
                <a:latin typeface="Times New Roman" panose="02020603050405020304" pitchFamily="18" charset="0"/>
                <a:cs typeface="Times New Roman" panose="02020603050405020304" pitchFamily="18" charset="0"/>
              </a:rPr>
              <a:t>Shell may be off either CLI or GUI</a:t>
            </a:r>
          </a:p>
          <a:p>
            <a:r>
              <a:rPr lang="en-US" sz="2200" dirty="0">
                <a:solidFill>
                  <a:schemeClr val="tx1"/>
                </a:solidFill>
                <a:latin typeface="Times New Roman" panose="02020603050405020304" pitchFamily="18" charset="0"/>
                <a:cs typeface="Times New Roman" panose="02020603050405020304" pitchFamily="18" charset="0"/>
              </a:rPr>
              <a:t>Executes programs based on the input provided by the user</a:t>
            </a:r>
          </a:p>
          <a:p>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27AC671-A8E2-A5FD-E12D-E7B4219E1838}"/>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007526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597DD-A284-48B5-AB1D-C9C3C49F80CE}"/>
              </a:ext>
            </a:extLst>
          </p:cNvPr>
          <p:cNvSpPr>
            <a:spLocks noGrp="1"/>
          </p:cNvSpPr>
          <p:nvPr>
            <p:ph type="title"/>
          </p:nvPr>
        </p:nvSpPr>
        <p:spPr>
          <a:xfrm>
            <a:off x="2269092" y="624110"/>
            <a:ext cx="8911687" cy="1280890"/>
          </a:xfrm>
        </p:spPr>
        <p:txBody>
          <a:bodyPr/>
          <a:lstStyle/>
          <a:p>
            <a:r>
              <a:rPr lang="en-US" b="1" dirty="0">
                <a:latin typeface="Times New Roman" panose="02020603050405020304" pitchFamily="18" charset="0"/>
                <a:cs typeface="Times New Roman" panose="02020603050405020304" pitchFamily="18" charset="0"/>
              </a:rPr>
              <a:t>Open Source Operating System</a:t>
            </a:r>
          </a:p>
        </p:txBody>
      </p:sp>
      <p:sp>
        <p:nvSpPr>
          <p:cNvPr id="3" name="Content Placeholder 2">
            <a:extLst>
              <a:ext uri="{FF2B5EF4-FFF2-40B4-BE49-F238E27FC236}">
                <a16:creationId xmlns:a16="http://schemas.microsoft.com/office/drawing/2014/main" id="{C4CE2EC5-660E-4D5F-93B4-73ED1E24BE89}"/>
              </a:ext>
            </a:extLst>
          </p:cNvPr>
          <p:cNvSpPr>
            <a:spLocks noGrp="1"/>
          </p:cNvSpPr>
          <p:nvPr>
            <p:ph idx="1"/>
          </p:nvPr>
        </p:nvSpPr>
        <p:spPr>
          <a:xfrm>
            <a:off x="2265378" y="1434428"/>
            <a:ext cx="9048615" cy="4799462"/>
          </a:xfrm>
        </p:spPr>
        <p:txBody>
          <a:bodyPr>
            <a:noAutofit/>
          </a:bodyPr>
          <a:lstStyle/>
          <a:p>
            <a:r>
              <a:rPr lang="en-US" altLang="en-US" sz="2200" dirty="0">
                <a:solidFill>
                  <a:schemeClr val="tx1"/>
                </a:solidFill>
                <a:latin typeface="Times New Roman" panose="02020603050405020304" pitchFamily="18" charset="0"/>
                <a:cs typeface="Times New Roman" panose="02020603050405020304" pitchFamily="18" charset="0"/>
              </a:rPr>
              <a:t>Operating systems made available in source-code format rather than just binary closed-source</a:t>
            </a:r>
          </a:p>
          <a:p>
            <a:r>
              <a:rPr lang="en-US" altLang="en-US" sz="2200" dirty="0">
                <a:solidFill>
                  <a:schemeClr val="tx1"/>
                </a:solidFill>
                <a:latin typeface="Times New Roman" panose="02020603050405020304" pitchFamily="18" charset="0"/>
                <a:cs typeface="Times New Roman" panose="02020603050405020304" pitchFamily="18" charset="0"/>
              </a:rPr>
              <a:t>Counter to the copy protection and Digital Rights Management (DRM) movement</a:t>
            </a:r>
          </a:p>
          <a:p>
            <a:r>
              <a:rPr lang="en-US" altLang="en-US" sz="2200" dirty="0">
                <a:solidFill>
                  <a:schemeClr val="tx1"/>
                </a:solidFill>
                <a:latin typeface="Times New Roman" panose="02020603050405020304" pitchFamily="18" charset="0"/>
                <a:cs typeface="Times New Roman" panose="02020603050405020304" pitchFamily="18" charset="0"/>
              </a:rPr>
              <a:t>Started by Free Software Foundation (FSF), which has </a:t>
            </a:r>
            <a:r>
              <a:rPr lang="ja-JP" altLang="en-US" sz="2200" dirty="0">
                <a:solidFill>
                  <a:schemeClr val="tx1"/>
                </a:solidFill>
                <a:latin typeface="Times New Roman" panose="02020603050405020304" pitchFamily="18" charset="0"/>
                <a:cs typeface="Times New Roman" panose="02020603050405020304" pitchFamily="18" charset="0"/>
              </a:rPr>
              <a:t>“</a:t>
            </a:r>
            <a:r>
              <a:rPr lang="en-US" altLang="ja-JP" sz="2200" dirty="0">
                <a:solidFill>
                  <a:schemeClr val="tx1"/>
                </a:solidFill>
                <a:latin typeface="Times New Roman" panose="02020603050405020304" pitchFamily="18" charset="0"/>
                <a:cs typeface="Times New Roman" panose="02020603050405020304" pitchFamily="18" charset="0"/>
              </a:rPr>
              <a:t>copyleft</a:t>
            </a:r>
            <a:r>
              <a:rPr lang="ja-JP" altLang="en-US" sz="2200" dirty="0">
                <a:solidFill>
                  <a:schemeClr val="tx1"/>
                </a:solidFill>
                <a:latin typeface="Times New Roman" panose="02020603050405020304" pitchFamily="18" charset="0"/>
                <a:cs typeface="Times New Roman" panose="02020603050405020304" pitchFamily="18" charset="0"/>
              </a:rPr>
              <a:t>”</a:t>
            </a:r>
            <a:r>
              <a:rPr lang="en-US" altLang="ja-JP" sz="2200" dirty="0">
                <a:solidFill>
                  <a:schemeClr val="tx1"/>
                </a:solidFill>
                <a:latin typeface="Times New Roman" panose="02020603050405020304" pitchFamily="18" charset="0"/>
                <a:cs typeface="Times New Roman" panose="02020603050405020304" pitchFamily="18" charset="0"/>
              </a:rPr>
              <a:t> GNU Public License (GPL)</a:t>
            </a:r>
            <a:endParaRPr lang="en-US" altLang="en-US" sz="2200" dirty="0">
              <a:solidFill>
                <a:schemeClr val="tx1"/>
              </a:solidFill>
              <a:latin typeface="Times New Roman" panose="02020603050405020304" pitchFamily="18" charset="0"/>
              <a:cs typeface="Times New Roman" panose="02020603050405020304" pitchFamily="18" charset="0"/>
            </a:endParaRPr>
          </a:p>
          <a:p>
            <a:r>
              <a:rPr lang="en-US" altLang="en-US" sz="2200" dirty="0">
                <a:solidFill>
                  <a:schemeClr val="tx1"/>
                </a:solidFill>
                <a:latin typeface="Times New Roman" panose="02020603050405020304" pitchFamily="18" charset="0"/>
                <a:cs typeface="Times New Roman" panose="02020603050405020304" pitchFamily="18" charset="0"/>
              </a:rPr>
              <a:t>Examples include GNU/Linux and BSD UNIX (including core of Mac OS X), and many more</a:t>
            </a:r>
          </a:p>
          <a:p>
            <a:r>
              <a:rPr lang="en-US" altLang="en-US" sz="2200" dirty="0">
                <a:solidFill>
                  <a:schemeClr val="tx1"/>
                </a:solidFill>
                <a:latin typeface="Times New Roman" panose="02020603050405020304" pitchFamily="18" charset="0"/>
                <a:cs typeface="Times New Roman" panose="02020603050405020304" pitchFamily="18" charset="0"/>
              </a:rPr>
              <a:t>Can use VMM like VMware Player (Free on Windows), </a:t>
            </a:r>
            <a:r>
              <a:rPr lang="en-US" altLang="en-US" sz="2200" dirty="0" err="1">
                <a:solidFill>
                  <a:schemeClr val="tx1"/>
                </a:solidFill>
                <a:latin typeface="Times New Roman" panose="02020603050405020304" pitchFamily="18" charset="0"/>
                <a:cs typeface="Times New Roman" panose="02020603050405020304" pitchFamily="18" charset="0"/>
              </a:rPr>
              <a:t>Virtualbox</a:t>
            </a:r>
            <a:r>
              <a:rPr lang="en-US" altLang="en-US" sz="2200" dirty="0">
                <a:solidFill>
                  <a:schemeClr val="tx1"/>
                </a:solidFill>
                <a:latin typeface="Times New Roman" panose="02020603050405020304" pitchFamily="18" charset="0"/>
                <a:cs typeface="Times New Roman" panose="02020603050405020304" pitchFamily="18" charset="0"/>
              </a:rPr>
              <a:t> (open source and free on many platforms - http://www.virtualbox.com) </a:t>
            </a:r>
          </a:p>
          <a:p>
            <a:pPr marL="342900" lvl="1" indent="-342900"/>
            <a:r>
              <a:rPr lang="en-US" altLang="en-US" sz="2200" dirty="0">
                <a:solidFill>
                  <a:schemeClr val="tx1"/>
                </a:solidFill>
                <a:latin typeface="Times New Roman" panose="02020603050405020304" pitchFamily="18" charset="0"/>
                <a:cs typeface="Times New Roman" panose="02020603050405020304" pitchFamily="18" charset="0"/>
              </a:rPr>
              <a:t>Use to run guest operating systems for exploration</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3E8D7E2-0046-A0ED-2DBB-7EA540772711}"/>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426124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4286A-A2BB-47CF-9B1B-2FC160CADBF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OS Do</a:t>
            </a:r>
          </a:p>
        </p:txBody>
      </p:sp>
      <p:sp>
        <p:nvSpPr>
          <p:cNvPr id="3" name="Content Placeholder 2">
            <a:extLst>
              <a:ext uri="{FF2B5EF4-FFF2-40B4-BE49-F238E27FC236}">
                <a16:creationId xmlns:a16="http://schemas.microsoft.com/office/drawing/2014/main" id="{B1777EF6-8883-4F34-AEE8-C1496D192281}"/>
              </a:ext>
            </a:extLst>
          </p:cNvPr>
          <p:cNvSpPr>
            <a:spLocks noGrp="1"/>
          </p:cNvSpPr>
          <p:nvPr>
            <p:ph idx="1"/>
          </p:nvPr>
        </p:nvSpPr>
        <p:spPr>
          <a:xfrm>
            <a:off x="2589212" y="1264555"/>
            <a:ext cx="8915400" cy="5368257"/>
          </a:xfrm>
        </p:spPr>
        <p:txBody>
          <a:bodyPr>
            <a:normAutofit/>
          </a:bodyPr>
          <a:lstStyle/>
          <a:p>
            <a:r>
              <a:rPr lang="en-US" altLang="en-US" sz="2400" dirty="0">
                <a:solidFill>
                  <a:schemeClr val="tx1"/>
                </a:solidFill>
                <a:latin typeface="Times New Roman" panose="02020603050405020304" pitchFamily="18" charset="0"/>
                <a:cs typeface="Times New Roman" panose="02020603050405020304" pitchFamily="18" charset="0"/>
              </a:rPr>
              <a:t>Depends on the point of view</a:t>
            </a:r>
          </a:p>
          <a:p>
            <a:r>
              <a:rPr lang="en-US" altLang="en-US" sz="2400" dirty="0">
                <a:solidFill>
                  <a:schemeClr val="tx1"/>
                </a:solidFill>
                <a:latin typeface="Times New Roman" panose="02020603050405020304" pitchFamily="18" charset="0"/>
                <a:cs typeface="Times New Roman" panose="02020603050405020304" pitchFamily="18" charset="0"/>
              </a:rPr>
              <a:t>Users want convenience, ease of use, and good performance </a:t>
            </a:r>
          </a:p>
          <a:p>
            <a:pPr lvl="1">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Don</a:t>
            </a:r>
            <a:r>
              <a:rPr lang="ja-JP" altLang="en-US" sz="2400" dirty="0">
                <a:solidFill>
                  <a:schemeClr val="tx1"/>
                </a:solidFill>
                <a:latin typeface="Times New Roman" panose="02020603050405020304" pitchFamily="18" charset="0"/>
                <a:cs typeface="Times New Roman" panose="02020603050405020304" pitchFamily="18" charset="0"/>
              </a:rPr>
              <a:t>’</a:t>
            </a:r>
            <a:r>
              <a:rPr lang="en-US" altLang="ja-JP" sz="2400" dirty="0">
                <a:solidFill>
                  <a:schemeClr val="tx1"/>
                </a:solidFill>
                <a:latin typeface="Times New Roman" panose="02020603050405020304" pitchFamily="18" charset="0"/>
                <a:cs typeface="Times New Roman" panose="02020603050405020304" pitchFamily="18" charset="0"/>
              </a:rPr>
              <a:t>t care about resource utilization</a:t>
            </a:r>
          </a:p>
          <a:p>
            <a:r>
              <a:rPr lang="en-US" altLang="en-US" sz="2400" dirty="0">
                <a:solidFill>
                  <a:schemeClr val="tx1"/>
                </a:solidFill>
                <a:latin typeface="Times New Roman" panose="02020603050405020304" pitchFamily="18" charset="0"/>
                <a:cs typeface="Times New Roman" panose="02020603050405020304" pitchFamily="18" charset="0"/>
              </a:rPr>
              <a:t>But shared computers such as mainframe or minicomputers must keep all users happy</a:t>
            </a:r>
          </a:p>
          <a:p>
            <a:r>
              <a:rPr lang="en-US" altLang="en-US" sz="2400" dirty="0">
                <a:solidFill>
                  <a:schemeClr val="tx1"/>
                </a:solidFill>
                <a:latin typeface="Times New Roman" panose="02020603050405020304" pitchFamily="18" charset="0"/>
                <a:cs typeface="Times New Roman" panose="02020603050405020304" pitchFamily="18" charset="0"/>
              </a:rPr>
              <a:t>Users of dedicated systems such as workstations have dedicated resources but frequently use shared resources from servers</a:t>
            </a:r>
          </a:p>
          <a:p>
            <a:r>
              <a:rPr lang="en-US" altLang="en-US" sz="2400" dirty="0">
                <a:solidFill>
                  <a:schemeClr val="tx1"/>
                </a:solidFill>
                <a:latin typeface="Times New Roman" panose="02020603050405020304" pitchFamily="18" charset="0"/>
                <a:cs typeface="Times New Roman" panose="02020603050405020304" pitchFamily="18" charset="0"/>
              </a:rPr>
              <a:t>Handheld computers are resource-poor,  optimized for usability and battery life</a:t>
            </a:r>
          </a:p>
          <a:p>
            <a:r>
              <a:rPr lang="en-US" altLang="en-US" sz="2400" dirty="0">
                <a:solidFill>
                  <a:schemeClr val="tx1"/>
                </a:solidFill>
                <a:latin typeface="Times New Roman" panose="02020603050405020304" pitchFamily="18" charset="0"/>
                <a:cs typeface="Times New Roman" panose="02020603050405020304" pitchFamily="18" charset="0"/>
              </a:rPr>
              <a:t>Some computers have little or no user interface, such as embedded computers in devices and automobiles</a:t>
            </a:r>
          </a:p>
        </p:txBody>
      </p:sp>
      <p:sp>
        <p:nvSpPr>
          <p:cNvPr id="4" name="Footer Placeholder 3">
            <a:extLst>
              <a:ext uri="{FF2B5EF4-FFF2-40B4-BE49-F238E27FC236}">
                <a16:creationId xmlns:a16="http://schemas.microsoft.com/office/drawing/2014/main" id="{694E76C4-97DC-BCB2-A9BE-DF6CD2BD627A}"/>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124389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56CD2-EFA2-4494-A548-6F34F86B4664}"/>
              </a:ext>
            </a:extLst>
          </p:cNvPr>
          <p:cNvSpPr>
            <a:spLocks noGrp="1"/>
          </p:cNvSpPr>
          <p:nvPr>
            <p:ph type="title"/>
          </p:nvPr>
        </p:nvSpPr>
        <p:spPr/>
        <p:txBody>
          <a:bodyPr/>
          <a:lstStyle/>
          <a:p>
            <a:r>
              <a:rPr lang="en-US" dirty="0"/>
              <a:t>System Program</a:t>
            </a:r>
          </a:p>
        </p:txBody>
      </p:sp>
      <p:sp>
        <p:nvSpPr>
          <p:cNvPr id="3" name="Content Placeholder 2">
            <a:extLst>
              <a:ext uri="{FF2B5EF4-FFF2-40B4-BE49-F238E27FC236}">
                <a16:creationId xmlns:a16="http://schemas.microsoft.com/office/drawing/2014/main" id="{CA742F96-12CC-4893-84F5-D066915FBB73}"/>
              </a:ext>
            </a:extLst>
          </p:cNvPr>
          <p:cNvSpPr>
            <a:spLocks noGrp="1"/>
          </p:cNvSpPr>
          <p:nvPr>
            <p:ph idx="1"/>
          </p:nvPr>
        </p:nvSpPr>
        <p:spPr>
          <a:xfrm>
            <a:off x="2398144" y="1419367"/>
            <a:ext cx="8915400" cy="4669276"/>
          </a:xfrm>
        </p:spPr>
        <p:txBody>
          <a:bodyPr>
            <a:normAutofit/>
          </a:bodyPr>
          <a:lstStyle/>
          <a:p>
            <a:r>
              <a:rPr lang="en-US" altLang="en-US" sz="2400" dirty="0">
                <a:solidFill>
                  <a:schemeClr val="tx1"/>
                </a:solidFill>
                <a:latin typeface="Times New Roman" panose="02020603050405020304" pitchFamily="18" charset="0"/>
                <a:cs typeface="Times New Roman" panose="02020603050405020304" pitchFamily="18" charset="0"/>
              </a:rPr>
              <a:t>System programs provide a convenient environment for program development and execution.  They can be divided into:</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File manipulation </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Status information is sometimes stored in a File modification</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Programming language support</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Program loading and execution</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Communications</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Background services</a:t>
            </a:r>
          </a:p>
          <a:p>
            <a:pPr lvl="1">
              <a:buFont typeface="Wingdings" panose="05000000000000000000" pitchFamily="2" charset="2"/>
              <a:buChar char="Ø"/>
            </a:pPr>
            <a:r>
              <a:rPr lang="en-US" altLang="en-US" sz="2000">
                <a:solidFill>
                  <a:schemeClr val="tx1"/>
                </a:solidFill>
                <a:latin typeface="Times New Roman" panose="02020603050405020304" pitchFamily="18" charset="0"/>
                <a:cs typeface="Times New Roman" panose="02020603050405020304" pitchFamily="18" charset="0"/>
              </a:rPr>
              <a:t>Application programs</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97FE3F8-DF23-BE7C-C936-F8A3B4055F86}"/>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32681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23013-04CB-469B-9E27-9815B4671E82}"/>
              </a:ext>
            </a:extLst>
          </p:cNvPr>
          <p:cNvSpPr>
            <a:spLocks noGrp="1"/>
          </p:cNvSpPr>
          <p:nvPr>
            <p:ph type="title"/>
          </p:nvPr>
        </p:nvSpPr>
        <p:spPr>
          <a:xfrm>
            <a:off x="2183492" y="678701"/>
            <a:ext cx="8911687" cy="1280890"/>
          </a:xfrm>
        </p:spPr>
        <p:txBody>
          <a:bodyPr/>
          <a:lstStyle/>
          <a:p>
            <a:r>
              <a:rPr lang="en-US" b="1" dirty="0">
                <a:latin typeface="Times New Roman" panose="02020603050405020304" pitchFamily="18" charset="0"/>
                <a:cs typeface="Times New Roman" panose="02020603050405020304" pitchFamily="18" charset="0"/>
              </a:rPr>
              <a:t>Common OS Concepts</a:t>
            </a:r>
          </a:p>
        </p:txBody>
      </p:sp>
      <p:sp>
        <p:nvSpPr>
          <p:cNvPr id="3" name="Content Placeholder 2">
            <a:extLst>
              <a:ext uri="{FF2B5EF4-FFF2-40B4-BE49-F238E27FC236}">
                <a16:creationId xmlns:a16="http://schemas.microsoft.com/office/drawing/2014/main" id="{9D760D70-5B72-4B3B-AE2C-9621B654BCB4}"/>
              </a:ext>
            </a:extLst>
          </p:cNvPr>
          <p:cNvSpPr>
            <a:spLocks noGrp="1"/>
          </p:cNvSpPr>
          <p:nvPr>
            <p:ph idx="1"/>
          </p:nvPr>
        </p:nvSpPr>
        <p:spPr>
          <a:xfrm>
            <a:off x="2183492" y="1540189"/>
            <a:ext cx="8915400" cy="3777622"/>
          </a:xfrm>
        </p:spPr>
        <p:txBody>
          <a:bodyPr/>
          <a:lstStyle/>
          <a:p>
            <a:r>
              <a:rPr lang="en-US" sz="3200" dirty="0">
                <a:solidFill>
                  <a:schemeClr val="tx1"/>
                </a:solidFill>
                <a:latin typeface="Times New Roman" panose="02020603050405020304" pitchFamily="18" charset="0"/>
                <a:cs typeface="Times New Roman" panose="02020603050405020304" pitchFamily="18" charset="0"/>
              </a:rPr>
              <a:t>Process Management</a:t>
            </a:r>
          </a:p>
          <a:p>
            <a:r>
              <a:rPr lang="en-US" sz="3200" dirty="0">
                <a:solidFill>
                  <a:schemeClr val="tx1"/>
                </a:solidFill>
                <a:latin typeface="Times New Roman" panose="02020603050405020304" pitchFamily="18" charset="0"/>
                <a:cs typeface="Times New Roman" panose="02020603050405020304" pitchFamily="18" charset="0"/>
              </a:rPr>
              <a:t>Memory Management</a:t>
            </a:r>
          </a:p>
          <a:p>
            <a:r>
              <a:rPr lang="en-US" sz="3200" dirty="0">
                <a:solidFill>
                  <a:schemeClr val="tx1"/>
                </a:solidFill>
                <a:latin typeface="Times New Roman" panose="02020603050405020304" pitchFamily="18" charset="0"/>
                <a:cs typeface="Times New Roman" panose="02020603050405020304" pitchFamily="18" charset="0"/>
              </a:rPr>
              <a:t>File System Management </a:t>
            </a:r>
          </a:p>
        </p:txBody>
      </p:sp>
      <p:sp>
        <p:nvSpPr>
          <p:cNvPr id="4" name="Footer Placeholder 3">
            <a:extLst>
              <a:ext uri="{FF2B5EF4-FFF2-40B4-BE49-F238E27FC236}">
                <a16:creationId xmlns:a16="http://schemas.microsoft.com/office/drawing/2014/main" id="{F83EA0E9-5671-52AF-231F-DD91BF3150C8}"/>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984798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7DDA9-9BF7-4A53-92CF-269D267C539F}"/>
              </a:ext>
            </a:extLst>
          </p:cNvPr>
          <p:cNvSpPr>
            <a:spLocks noGrp="1"/>
          </p:cNvSpPr>
          <p:nvPr>
            <p:ph type="title"/>
          </p:nvPr>
        </p:nvSpPr>
        <p:spPr/>
        <p:txBody>
          <a:bodyPr/>
          <a:lstStyle/>
          <a:p>
            <a:r>
              <a:rPr lang="en-US" dirty="0"/>
              <a:t>Process Management</a:t>
            </a:r>
          </a:p>
        </p:txBody>
      </p:sp>
      <p:sp>
        <p:nvSpPr>
          <p:cNvPr id="3" name="Content Placeholder 2">
            <a:extLst>
              <a:ext uri="{FF2B5EF4-FFF2-40B4-BE49-F238E27FC236}">
                <a16:creationId xmlns:a16="http://schemas.microsoft.com/office/drawing/2014/main" id="{87D53390-FFCF-41A8-AF44-8150E629ECF1}"/>
              </a:ext>
            </a:extLst>
          </p:cNvPr>
          <p:cNvSpPr>
            <a:spLocks noGrp="1"/>
          </p:cNvSpPr>
          <p:nvPr>
            <p:ph idx="1"/>
          </p:nvPr>
        </p:nvSpPr>
        <p:spPr>
          <a:xfrm>
            <a:off x="2589212" y="1382973"/>
            <a:ext cx="8915400" cy="5277134"/>
          </a:xfrm>
        </p:spPr>
        <p:txBody>
          <a:bodyPr>
            <a:normAutofit lnSpcReduction="10000"/>
          </a:bodyPr>
          <a:lstStyle/>
          <a:p>
            <a:pPr>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A process is a program in execution. It is a unit of work within the system. Program is a </a:t>
            </a:r>
            <a:r>
              <a:rPr lang="en-US" altLang="en-US" sz="2400" b="1" i="1" dirty="0">
                <a:solidFill>
                  <a:schemeClr val="tx1"/>
                </a:solidFill>
                <a:latin typeface="Times New Roman" panose="02020603050405020304" pitchFamily="18" charset="0"/>
                <a:cs typeface="Times New Roman" panose="02020603050405020304" pitchFamily="18" charset="0"/>
              </a:rPr>
              <a:t>passive entity</a:t>
            </a:r>
            <a:r>
              <a:rPr lang="en-US" altLang="en-US" sz="2400" dirty="0">
                <a:solidFill>
                  <a:schemeClr val="tx1"/>
                </a:solidFill>
                <a:latin typeface="Times New Roman" panose="02020603050405020304" pitchFamily="18" charset="0"/>
                <a:cs typeface="Times New Roman" panose="02020603050405020304" pitchFamily="18" charset="0"/>
              </a:rPr>
              <a:t>, process is an </a:t>
            </a:r>
            <a:r>
              <a:rPr lang="en-US" altLang="en-US" sz="2400" b="1" i="1" dirty="0">
                <a:solidFill>
                  <a:schemeClr val="tx1"/>
                </a:solidFill>
                <a:latin typeface="Times New Roman" panose="02020603050405020304" pitchFamily="18" charset="0"/>
                <a:cs typeface="Times New Roman" panose="02020603050405020304" pitchFamily="18" charset="0"/>
              </a:rPr>
              <a:t>active entity</a:t>
            </a:r>
            <a:r>
              <a:rPr lang="en-US" altLang="en-US" sz="2400" dirty="0">
                <a:solidFill>
                  <a:schemeClr val="tx1"/>
                </a:solidFill>
                <a:latin typeface="Times New Roman" panose="02020603050405020304" pitchFamily="18" charset="0"/>
                <a:cs typeface="Times New Roman" panose="02020603050405020304" pitchFamily="18" charset="0"/>
              </a:rPr>
              <a:t>.</a:t>
            </a:r>
          </a:p>
          <a:p>
            <a:pPr>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Process needs resources to accomplish its task</a:t>
            </a:r>
          </a:p>
          <a:p>
            <a:pPr lvl="1">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CPU, memory, I/O, files</a:t>
            </a:r>
          </a:p>
          <a:p>
            <a:pPr lvl="1">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Initialization data</a:t>
            </a:r>
          </a:p>
          <a:p>
            <a:pPr>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Process termination requires reclaim of any reusable resources</a:t>
            </a:r>
          </a:p>
          <a:p>
            <a:pPr>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Single-threaded process has one </a:t>
            </a:r>
            <a:r>
              <a:rPr lang="en-US" altLang="en-US" sz="2400" b="1" dirty="0">
                <a:solidFill>
                  <a:srgbClr val="3366FF"/>
                </a:solidFill>
                <a:latin typeface="Times New Roman" panose="02020603050405020304" pitchFamily="18" charset="0"/>
                <a:cs typeface="Times New Roman" panose="02020603050405020304" pitchFamily="18" charset="0"/>
              </a:rPr>
              <a:t>program counter</a:t>
            </a:r>
            <a:r>
              <a:rPr lang="en-US" altLang="en-US" sz="2800" b="1" dirty="0">
                <a:solidFill>
                  <a:srgbClr val="3366FF"/>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rPr>
              <a:t>specifying location of next instruction to execute</a:t>
            </a:r>
          </a:p>
          <a:p>
            <a:pPr lvl="1">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Process executes instructions sequentially, one at a time, until completion</a:t>
            </a:r>
          </a:p>
          <a:p>
            <a:pPr>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Multi-threaded process has one program counter per thread</a:t>
            </a:r>
          </a:p>
          <a:p>
            <a:pPr>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Typically system has many processes, some user, some operating system running concurrently on one or more CPUs</a:t>
            </a:r>
          </a:p>
          <a:p>
            <a:pPr lvl="1">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Concurrency by multiplexing the CPUs among the processes / threads</a:t>
            </a:r>
          </a:p>
          <a:p>
            <a:endParaRPr lang="en-US" dirty="0"/>
          </a:p>
        </p:txBody>
      </p:sp>
      <p:sp>
        <p:nvSpPr>
          <p:cNvPr id="4" name="Footer Placeholder 3">
            <a:extLst>
              <a:ext uri="{FF2B5EF4-FFF2-40B4-BE49-F238E27FC236}">
                <a16:creationId xmlns:a16="http://schemas.microsoft.com/office/drawing/2014/main" id="{107C8B25-569A-9AC6-29DC-606E3098883C}"/>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975676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D09C-8FEB-47CA-AEEA-5876D73699B0}"/>
              </a:ext>
            </a:extLst>
          </p:cNvPr>
          <p:cNvSpPr>
            <a:spLocks noGrp="1"/>
          </p:cNvSpPr>
          <p:nvPr>
            <p:ph type="title"/>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Memory Management</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9D02F1-0736-4F2B-AAB1-96A76D91050A}"/>
              </a:ext>
            </a:extLst>
          </p:cNvPr>
          <p:cNvSpPr>
            <a:spLocks noGrp="1"/>
          </p:cNvSpPr>
          <p:nvPr>
            <p:ph idx="1"/>
          </p:nvPr>
        </p:nvSpPr>
        <p:spPr>
          <a:xfrm>
            <a:off x="2592925" y="1384246"/>
            <a:ext cx="8915400" cy="4975609"/>
          </a:xfrm>
        </p:spPr>
        <p:txBody>
          <a:bodyPr>
            <a:normAutofit fontScale="85000" lnSpcReduction="10000"/>
          </a:bodyPr>
          <a:lstStyle/>
          <a:p>
            <a:r>
              <a:rPr lang="en-US" altLang="en-US" sz="3100" dirty="0">
                <a:solidFill>
                  <a:schemeClr val="tx1"/>
                </a:solidFill>
                <a:latin typeface="Times New Roman" panose="02020603050405020304" pitchFamily="18" charset="0"/>
                <a:cs typeface="Times New Roman" panose="02020603050405020304" pitchFamily="18" charset="0"/>
              </a:rPr>
              <a:t>To execute a program all (or part) of the instructions must be in memory</a:t>
            </a:r>
          </a:p>
          <a:p>
            <a:r>
              <a:rPr lang="en-US" altLang="en-US" sz="3100" dirty="0">
                <a:solidFill>
                  <a:schemeClr val="tx1"/>
                </a:solidFill>
                <a:latin typeface="Times New Roman" panose="02020603050405020304" pitchFamily="18" charset="0"/>
                <a:cs typeface="Times New Roman" panose="02020603050405020304" pitchFamily="18" charset="0"/>
              </a:rPr>
              <a:t>All  (or part) of the data that is needed by the program must be in memory.</a:t>
            </a:r>
            <a:endParaRPr lang="en-US" altLang="en-US" sz="1200" dirty="0">
              <a:solidFill>
                <a:schemeClr val="tx1"/>
              </a:solidFill>
              <a:latin typeface="Times New Roman" panose="02020603050405020304" pitchFamily="18" charset="0"/>
              <a:cs typeface="Times New Roman" panose="02020603050405020304" pitchFamily="18" charset="0"/>
            </a:endParaRPr>
          </a:p>
          <a:p>
            <a:r>
              <a:rPr lang="en-US" altLang="en-US" sz="3100" dirty="0">
                <a:solidFill>
                  <a:schemeClr val="tx1"/>
                </a:solidFill>
                <a:latin typeface="Times New Roman" panose="02020603050405020304" pitchFamily="18" charset="0"/>
                <a:cs typeface="Times New Roman" panose="02020603050405020304" pitchFamily="18" charset="0"/>
              </a:rPr>
              <a:t>Memory management determines what is in memory and when</a:t>
            </a:r>
          </a:p>
          <a:p>
            <a:pPr lvl="1">
              <a:buFont typeface="Wingdings" panose="05000000000000000000" pitchFamily="2" charset="2"/>
              <a:buChar char="Ø"/>
            </a:pPr>
            <a:r>
              <a:rPr lang="en-US" altLang="en-US" sz="2600" dirty="0">
                <a:solidFill>
                  <a:schemeClr val="tx1"/>
                </a:solidFill>
                <a:latin typeface="Times New Roman" panose="02020603050405020304" pitchFamily="18" charset="0"/>
                <a:cs typeface="Times New Roman" panose="02020603050405020304" pitchFamily="18" charset="0"/>
              </a:rPr>
              <a:t>Optimizing CPU utilization and computer response to users</a:t>
            </a:r>
            <a:endParaRPr lang="en-US" altLang="en-US" sz="1200" dirty="0">
              <a:solidFill>
                <a:schemeClr val="tx1"/>
              </a:solidFill>
              <a:latin typeface="Times New Roman" panose="02020603050405020304" pitchFamily="18" charset="0"/>
              <a:cs typeface="Times New Roman" panose="02020603050405020304" pitchFamily="18" charset="0"/>
            </a:endParaRPr>
          </a:p>
          <a:p>
            <a:r>
              <a:rPr lang="en-US" altLang="en-US" sz="3100" dirty="0">
                <a:solidFill>
                  <a:schemeClr val="tx1"/>
                </a:solidFill>
                <a:latin typeface="Times New Roman" panose="02020603050405020304" pitchFamily="18" charset="0"/>
                <a:cs typeface="Times New Roman" panose="02020603050405020304" pitchFamily="18" charset="0"/>
              </a:rPr>
              <a:t>Memory management activities</a:t>
            </a:r>
          </a:p>
          <a:p>
            <a:pPr lvl="1">
              <a:buFont typeface="Wingdings" panose="05000000000000000000" pitchFamily="2" charset="2"/>
              <a:buChar char="Ø"/>
            </a:pPr>
            <a:r>
              <a:rPr lang="en-US" altLang="en-US" sz="2600" dirty="0">
                <a:solidFill>
                  <a:schemeClr val="tx1"/>
                </a:solidFill>
                <a:latin typeface="Times New Roman" panose="02020603050405020304" pitchFamily="18" charset="0"/>
                <a:cs typeface="Times New Roman" panose="02020603050405020304" pitchFamily="18" charset="0"/>
              </a:rPr>
              <a:t>Keeping track of which parts of memory are currently being used and by whom</a:t>
            </a:r>
          </a:p>
          <a:p>
            <a:pPr lvl="1">
              <a:buFont typeface="Wingdings" panose="05000000000000000000" pitchFamily="2" charset="2"/>
              <a:buChar char="Ø"/>
            </a:pPr>
            <a:r>
              <a:rPr lang="en-US" altLang="en-US" sz="2600" dirty="0">
                <a:solidFill>
                  <a:schemeClr val="tx1"/>
                </a:solidFill>
                <a:latin typeface="Times New Roman" panose="02020603050405020304" pitchFamily="18" charset="0"/>
                <a:cs typeface="Times New Roman" panose="02020603050405020304" pitchFamily="18" charset="0"/>
              </a:rPr>
              <a:t>Deciding which processes (or parts thereof) and data to move into and out of memory</a:t>
            </a:r>
          </a:p>
          <a:p>
            <a:pPr lvl="1">
              <a:buFont typeface="Wingdings" panose="05000000000000000000" pitchFamily="2" charset="2"/>
              <a:buChar char="Ø"/>
            </a:pPr>
            <a:r>
              <a:rPr lang="en-US" altLang="en-US" sz="2600" dirty="0">
                <a:solidFill>
                  <a:schemeClr val="tx1"/>
                </a:solidFill>
                <a:latin typeface="Times New Roman" panose="02020603050405020304" pitchFamily="18" charset="0"/>
                <a:cs typeface="Times New Roman" panose="02020603050405020304" pitchFamily="18" charset="0"/>
              </a:rPr>
              <a:t>Allocating and deallocating memory space as needed</a:t>
            </a:r>
          </a:p>
          <a:p>
            <a:endParaRPr lang="en-US" dirty="0"/>
          </a:p>
        </p:txBody>
      </p:sp>
      <p:sp>
        <p:nvSpPr>
          <p:cNvPr id="4" name="Footer Placeholder 3">
            <a:extLst>
              <a:ext uri="{FF2B5EF4-FFF2-40B4-BE49-F238E27FC236}">
                <a16:creationId xmlns:a16="http://schemas.microsoft.com/office/drawing/2014/main" id="{00370615-4556-8134-EC52-2A0CD4FF53B2}"/>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619217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20EBC-B0F0-4A60-85D0-C5B8154DA673}"/>
              </a:ext>
            </a:extLst>
          </p:cNvPr>
          <p:cNvSpPr>
            <a:spLocks noGrp="1"/>
          </p:cNvSpPr>
          <p:nvPr>
            <p:ph type="title"/>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Storage Management</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CFBB34D-D5A2-4DB4-A954-3EAA6AC2A1B7}"/>
              </a:ext>
            </a:extLst>
          </p:cNvPr>
          <p:cNvSpPr>
            <a:spLocks noGrp="1"/>
          </p:cNvSpPr>
          <p:nvPr>
            <p:ph idx="1"/>
          </p:nvPr>
        </p:nvSpPr>
        <p:spPr>
          <a:xfrm>
            <a:off x="2592925" y="1737814"/>
            <a:ext cx="8915400" cy="4171667"/>
          </a:xfrm>
        </p:spPr>
        <p:txBody>
          <a:bodyPr/>
          <a:lstStyle/>
          <a:p>
            <a:pPr>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OS provides uniform, logical view of information storage</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Abstracts physical properties to logical storage unit  - </a:t>
            </a:r>
            <a:r>
              <a:rPr lang="en-US" altLang="en-US" sz="2000" b="1" dirty="0">
                <a:solidFill>
                  <a:srgbClr val="0070C0"/>
                </a:solidFill>
                <a:latin typeface="Times New Roman" panose="02020603050405020304" pitchFamily="18" charset="0"/>
                <a:cs typeface="Times New Roman" panose="02020603050405020304" pitchFamily="18" charset="0"/>
              </a:rPr>
              <a:t>file</a:t>
            </a:r>
          </a:p>
          <a:p>
            <a:pPr lvl="1">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Each medium is controlled by device (i.e., disk drive, tape drive)</a:t>
            </a:r>
          </a:p>
          <a:p>
            <a:pPr lvl="2">
              <a:lnSpc>
                <a:spcPct val="90000"/>
              </a:lnSpc>
            </a:pPr>
            <a:r>
              <a:rPr lang="en-US" altLang="en-US" sz="1800" dirty="0">
                <a:solidFill>
                  <a:schemeClr val="tx1"/>
                </a:solidFill>
                <a:latin typeface="Times New Roman" panose="02020603050405020304" pitchFamily="18" charset="0"/>
                <a:cs typeface="Times New Roman" panose="02020603050405020304" pitchFamily="18" charset="0"/>
              </a:rPr>
              <a:t>Varying properties include access speed, capacity, data-transfer rate, access method (sequential or random)</a:t>
            </a:r>
          </a:p>
          <a:p>
            <a:endParaRPr lang="en-US" dirty="0"/>
          </a:p>
        </p:txBody>
      </p:sp>
      <p:sp>
        <p:nvSpPr>
          <p:cNvPr id="4" name="Footer Placeholder 3">
            <a:extLst>
              <a:ext uri="{FF2B5EF4-FFF2-40B4-BE49-F238E27FC236}">
                <a16:creationId xmlns:a16="http://schemas.microsoft.com/office/drawing/2014/main" id="{78D2635C-7E2B-C881-8CF3-0ED9AE06449A}"/>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346567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A4625-D33C-49F3-AF8D-D99431D2775F}"/>
              </a:ext>
            </a:extLst>
          </p:cNvPr>
          <p:cNvSpPr>
            <a:spLocks noGrp="1"/>
          </p:cNvSpPr>
          <p:nvPr>
            <p:ph type="title"/>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File-System Management</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EC8414-E373-477E-95BB-62CC07E38BB4}"/>
              </a:ext>
            </a:extLst>
          </p:cNvPr>
          <p:cNvSpPr>
            <a:spLocks noGrp="1"/>
          </p:cNvSpPr>
          <p:nvPr>
            <p:ph idx="1"/>
          </p:nvPr>
        </p:nvSpPr>
        <p:spPr>
          <a:xfrm>
            <a:off x="2592925" y="1905000"/>
            <a:ext cx="8915400" cy="4427838"/>
          </a:xfrm>
        </p:spPr>
        <p:txBody>
          <a:bodyPr/>
          <a:lstStyle/>
          <a:p>
            <a:pPr marL="287338" lvl="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Files usually organized into directories</a:t>
            </a:r>
          </a:p>
          <a:p>
            <a:pPr marL="287338" lvl="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Access control on most systems to determine who can access what</a:t>
            </a:r>
          </a:p>
          <a:p>
            <a:pPr marL="287338" lvl="1">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OS activities include</a:t>
            </a:r>
          </a:p>
          <a:p>
            <a:pPr marL="741363" lvl="2" indent="-342900">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Creating and deleting files and directories</a:t>
            </a:r>
          </a:p>
          <a:p>
            <a:pPr marL="741363" lvl="2" indent="-342900">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Primitives to manipulate files and directories</a:t>
            </a:r>
          </a:p>
          <a:p>
            <a:pPr marL="741363" lvl="2" indent="-342900">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Mapping files onto secondary storage</a:t>
            </a:r>
          </a:p>
          <a:p>
            <a:pPr marL="741363" lvl="2" indent="-342900">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Backup files onto stable (non-volatile) storage media</a:t>
            </a:r>
          </a:p>
          <a:p>
            <a:endParaRPr lang="en-US" dirty="0"/>
          </a:p>
        </p:txBody>
      </p:sp>
      <p:sp>
        <p:nvSpPr>
          <p:cNvPr id="4" name="Footer Placeholder 3">
            <a:extLst>
              <a:ext uri="{FF2B5EF4-FFF2-40B4-BE49-F238E27FC236}">
                <a16:creationId xmlns:a16="http://schemas.microsoft.com/office/drawing/2014/main" id="{7E112215-EBBA-5D4A-DFC9-12D6D855FE33}"/>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755695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FFF15-21C5-483E-8503-E65A6E1E56DD}"/>
              </a:ext>
            </a:extLst>
          </p:cNvPr>
          <p:cNvSpPr>
            <a:spLocks noGrp="1"/>
          </p:cNvSpPr>
          <p:nvPr>
            <p:ph type="title"/>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Mass-Storage Management</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6898E2-FBD9-4327-9C76-1E2013014884}"/>
              </a:ext>
            </a:extLst>
          </p:cNvPr>
          <p:cNvSpPr>
            <a:spLocks noGrp="1"/>
          </p:cNvSpPr>
          <p:nvPr>
            <p:ph idx="1"/>
          </p:nvPr>
        </p:nvSpPr>
        <p:spPr>
          <a:xfrm>
            <a:off x="2589212" y="1437563"/>
            <a:ext cx="8915400" cy="5277135"/>
          </a:xfrm>
        </p:spPr>
        <p:txBody>
          <a:bodyPr>
            <a:normAutofit/>
          </a:bodyPr>
          <a:lstStyle/>
          <a:p>
            <a:r>
              <a:rPr lang="en-US" altLang="en-US" sz="2000" dirty="0">
                <a:solidFill>
                  <a:schemeClr val="tx1"/>
                </a:solidFill>
                <a:latin typeface="Times New Roman" panose="02020603050405020304" pitchFamily="18" charset="0"/>
                <a:cs typeface="Times New Roman" panose="02020603050405020304" pitchFamily="18" charset="0"/>
              </a:rPr>
              <a:t>Usually disks used to store data that does not fit in main memory or data that must be kept for a </a:t>
            </a:r>
            <a:r>
              <a:rPr lang="ja-JP" altLang="en-US" sz="2000" dirty="0">
                <a:solidFill>
                  <a:schemeClr val="tx1"/>
                </a:solidFill>
                <a:latin typeface="Times New Roman" panose="02020603050405020304" pitchFamily="18" charset="0"/>
                <a:cs typeface="Times New Roman" panose="02020603050405020304" pitchFamily="18" charset="0"/>
              </a:rPr>
              <a:t>“</a:t>
            </a:r>
            <a:r>
              <a:rPr lang="en-US" altLang="ja-JP" sz="2000" dirty="0">
                <a:solidFill>
                  <a:schemeClr val="tx1"/>
                </a:solidFill>
                <a:latin typeface="Times New Roman" panose="02020603050405020304" pitchFamily="18" charset="0"/>
                <a:cs typeface="Times New Roman" panose="02020603050405020304" pitchFamily="18" charset="0"/>
              </a:rPr>
              <a:t>long</a:t>
            </a:r>
            <a:r>
              <a:rPr lang="ja-JP" altLang="en-US" sz="2000" dirty="0">
                <a:solidFill>
                  <a:schemeClr val="tx1"/>
                </a:solidFill>
                <a:latin typeface="Times New Roman" panose="02020603050405020304" pitchFamily="18" charset="0"/>
                <a:cs typeface="Times New Roman" panose="02020603050405020304" pitchFamily="18" charset="0"/>
              </a:rPr>
              <a:t>”</a:t>
            </a:r>
            <a:r>
              <a:rPr lang="en-US" altLang="ja-JP" sz="2000" dirty="0">
                <a:solidFill>
                  <a:schemeClr val="tx1"/>
                </a:solidFill>
                <a:latin typeface="Times New Roman" panose="02020603050405020304" pitchFamily="18" charset="0"/>
                <a:cs typeface="Times New Roman" panose="02020603050405020304" pitchFamily="18" charset="0"/>
              </a:rPr>
              <a:t> period of time</a:t>
            </a:r>
          </a:p>
          <a:p>
            <a:r>
              <a:rPr lang="en-US" altLang="en-US" sz="2000" dirty="0">
                <a:solidFill>
                  <a:schemeClr val="tx1"/>
                </a:solidFill>
                <a:latin typeface="Times New Roman" panose="02020603050405020304" pitchFamily="18" charset="0"/>
                <a:cs typeface="Times New Roman" panose="02020603050405020304" pitchFamily="18" charset="0"/>
              </a:rPr>
              <a:t>Proper management is of central importance</a:t>
            </a:r>
          </a:p>
          <a:p>
            <a:r>
              <a:rPr lang="en-US" altLang="en-US" sz="2000" dirty="0">
                <a:solidFill>
                  <a:schemeClr val="tx1"/>
                </a:solidFill>
                <a:latin typeface="Times New Roman" panose="02020603050405020304" pitchFamily="18" charset="0"/>
                <a:cs typeface="Times New Roman" panose="02020603050405020304" pitchFamily="18" charset="0"/>
              </a:rPr>
              <a:t>Entire speed of computer operation hinges on disk subsystem and its algorithms</a:t>
            </a:r>
          </a:p>
          <a:p>
            <a:r>
              <a:rPr lang="en-US" altLang="en-US" sz="2000" dirty="0">
                <a:solidFill>
                  <a:schemeClr val="tx1"/>
                </a:solidFill>
                <a:latin typeface="Times New Roman" panose="02020603050405020304" pitchFamily="18" charset="0"/>
                <a:cs typeface="Times New Roman" panose="02020603050405020304" pitchFamily="18" charset="0"/>
              </a:rPr>
              <a:t>OS activities</a:t>
            </a:r>
          </a:p>
          <a:p>
            <a:pPr lvl="1">
              <a:buFont typeface="Wingdings" panose="05000000000000000000" pitchFamily="2" charset="2"/>
              <a:buChar char="Ø"/>
            </a:pPr>
            <a:r>
              <a:rPr lang="en-US" altLang="en-US" sz="1800" dirty="0">
                <a:solidFill>
                  <a:schemeClr val="tx1"/>
                </a:solidFill>
                <a:latin typeface="Times New Roman" panose="02020603050405020304" pitchFamily="18" charset="0"/>
                <a:cs typeface="Times New Roman" panose="02020603050405020304" pitchFamily="18" charset="0"/>
              </a:rPr>
              <a:t>Free-space management</a:t>
            </a:r>
          </a:p>
          <a:p>
            <a:pPr lvl="1">
              <a:buFont typeface="Wingdings" panose="05000000000000000000" pitchFamily="2" charset="2"/>
              <a:buChar char="Ø"/>
            </a:pPr>
            <a:r>
              <a:rPr lang="en-US" altLang="en-US" sz="1800" dirty="0">
                <a:solidFill>
                  <a:schemeClr val="tx1"/>
                </a:solidFill>
                <a:latin typeface="Times New Roman" panose="02020603050405020304" pitchFamily="18" charset="0"/>
                <a:cs typeface="Times New Roman" panose="02020603050405020304" pitchFamily="18" charset="0"/>
              </a:rPr>
              <a:t>Storage allocation</a:t>
            </a:r>
          </a:p>
          <a:p>
            <a:pPr lvl="1">
              <a:buFont typeface="Wingdings" panose="05000000000000000000" pitchFamily="2" charset="2"/>
              <a:buChar char="Ø"/>
            </a:pPr>
            <a:r>
              <a:rPr lang="en-US" altLang="en-US" sz="1800" dirty="0">
                <a:solidFill>
                  <a:schemeClr val="tx1"/>
                </a:solidFill>
                <a:latin typeface="Times New Roman" panose="02020603050405020304" pitchFamily="18" charset="0"/>
                <a:cs typeface="Times New Roman" panose="02020603050405020304" pitchFamily="18" charset="0"/>
              </a:rPr>
              <a:t>Disk scheduling</a:t>
            </a:r>
          </a:p>
          <a:p>
            <a:r>
              <a:rPr lang="en-US" altLang="en-US" sz="2000" dirty="0">
                <a:solidFill>
                  <a:schemeClr val="tx1"/>
                </a:solidFill>
                <a:latin typeface="Times New Roman" panose="02020603050405020304" pitchFamily="18" charset="0"/>
                <a:cs typeface="Times New Roman" panose="02020603050405020304" pitchFamily="18" charset="0"/>
              </a:rPr>
              <a:t>Some storage need not be fast</a:t>
            </a:r>
          </a:p>
          <a:p>
            <a:pPr lvl="1">
              <a:buFont typeface="Wingdings" panose="05000000000000000000" pitchFamily="2" charset="2"/>
              <a:buChar char="Ø"/>
            </a:pPr>
            <a:r>
              <a:rPr lang="en-US" altLang="en-US" sz="1800" dirty="0">
                <a:solidFill>
                  <a:schemeClr val="tx1"/>
                </a:solidFill>
                <a:latin typeface="Times New Roman" panose="02020603050405020304" pitchFamily="18" charset="0"/>
                <a:cs typeface="Times New Roman" panose="02020603050405020304" pitchFamily="18" charset="0"/>
              </a:rPr>
              <a:t>Tertiary storage includes optical storage, magnetic tape</a:t>
            </a:r>
          </a:p>
          <a:p>
            <a:pPr lvl="1">
              <a:buFont typeface="Wingdings" panose="05000000000000000000" pitchFamily="2" charset="2"/>
              <a:buChar char="Ø"/>
            </a:pPr>
            <a:r>
              <a:rPr lang="en-US" altLang="en-US" sz="1800" dirty="0">
                <a:solidFill>
                  <a:schemeClr val="tx1"/>
                </a:solidFill>
                <a:latin typeface="Times New Roman" panose="02020603050405020304" pitchFamily="18" charset="0"/>
                <a:cs typeface="Times New Roman" panose="02020603050405020304" pitchFamily="18" charset="0"/>
              </a:rPr>
              <a:t>Still must be managed – by OS or applications</a:t>
            </a:r>
          </a:p>
          <a:p>
            <a:pPr lvl="1">
              <a:buFont typeface="Wingdings" panose="05000000000000000000" pitchFamily="2" charset="2"/>
              <a:buChar char="Ø"/>
            </a:pPr>
            <a:r>
              <a:rPr lang="en-US" altLang="en-US" sz="1800" dirty="0">
                <a:solidFill>
                  <a:schemeClr val="tx1"/>
                </a:solidFill>
                <a:latin typeface="Times New Roman" panose="02020603050405020304" pitchFamily="18" charset="0"/>
                <a:cs typeface="Times New Roman" panose="02020603050405020304" pitchFamily="18" charset="0"/>
              </a:rPr>
              <a:t>Varies between WORM (write-once, read-many-times) and RW (read-write)</a:t>
            </a:r>
          </a:p>
          <a:p>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85B1EDB-A26C-1301-7C7A-61C0B4CE5B33}"/>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2471534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1052</TotalTime>
  <Words>2213</Words>
  <Application>Microsoft Office PowerPoint</Application>
  <PresentationFormat>Widescreen</PresentationFormat>
  <Paragraphs>290</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Century Gothic</vt:lpstr>
      <vt:lpstr>Times New Roman</vt:lpstr>
      <vt:lpstr>Wingdings</vt:lpstr>
      <vt:lpstr>Wingdings 3</vt:lpstr>
      <vt:lpstr>Wisp</vt:lpstr>
      <vt:lpstr>Unit 1 – Overview of OS</vt:lpstr>
      <vt:lpstr>PowerPoint Presentation</vt:lpstr>
      <vt:lpstr>Computer System</vt:lpstr>
      <vt:lpstr>Computer System (contd.)</vt:lpstr>
      <vt:lpstr>Operating System</vt:lpstr>
      <vt:lpstr>Aspects of OS</vt:lpstr>
      <vt:lpstr>Evolution of OS</vt:lpstr>
      <vt:lpstr>Evolution of OS (contd.)</vt:lpstr>
      <vt:lpstr>Types of OS</vt:lpstr>
      <vt:lpstr>Types of OS (contd.)</vt:lpstr>
      <vt:lpstr>Types of OS (contd.)</vt:lpstr>
      <vt:lpstr>Types of OS (contd.)</vt:lpstr>
      <vt:lpstr>Structure of OS</vt:lpstr>
      <vt:lpstr>Structure of OS (contd.)</vt:lpstr>
      <vt:lpstr>Structure of OS (contd.)</vt:lpstr>
      <vt:lpstr>Structure of OS (contd.)</vt:lpstr>
      <vt:lpstr>System Calls</vt:lpstr>
      <vt:lpstr>System Calls (contd.)</vt:lpstr>
      <vt:lpstr>Handling System Calls</vt:lpstr>
      <vt:lpstr>Handling System Calls (contd.)</vt:lpstr>
      <vt:lpstr>The Shell</vt:lpstr>
      <vt:lpstr>Open Source Operating System</vt:lpstr>
      <vt:lpstr>What OS Do</vt:lpstr>
      <vt:lpstr>System Program</vt:lpstr>
      <vt:lpstr>Common OS Concepts</vt:lpstr>
      <vt:lpstr>Process Management</vt:lpstr>
      <vt:lpstr>Memory Management</vt:lpstr>
      <vt:lpstr>Storage Management</vt:lpstr>
      <vt:lpstr>File-System Management</vt:lpstr>
      <vt:lpstr>Mass-Storage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 Overview of OS</dc:title>
  <dc:creator>Rishav Acharya</dc:creator>
  <cp:lastModifiedBy>Rishav</cp:lastModifiedBy>
  <cp:revision>46</cp:revision>
  <dcterms:created xsi:type="dcterms:W3CDTF">2023-01-22T03:43:54Z</dcterms:created>
  <dcterms:modified xsi:type="dcterms:W3CDTF">2023-02-11T13:13:53Z</dcterms:modified>
</cp:coreProperties>
</file>