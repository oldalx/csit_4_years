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media/image19.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71" r:id="rId15"/>
    <p:sldId id="269" r:id="rId16"/>
    <p:sldId id="270" r:id="rId17"/>
    <p:sldId id="272" r:id="rId18"/>
    <p:sldId id="273" r:id="rId19"/>
    <p:sldId id="274" r:id="rId20"/>
    <p:sldId id="275" r:id="rId21"/>
    <p:sldId id="276" r:id="rId22"/>
    <p:sldId id="278" r:id="rId23"/>
    <p:sldId id="308" r:id="rId24"/>
    <p:sldId id="279" r:id="rId25"/>
    <p:sldId id="277" r:id="rId26"/>
    <p:sldId id="280" r:id="rId27"/>
    <p:sldId id="281" r:id="rId28"/>
    <p:sldId id="282" r:id="rId29"/>
    <p:sldId id="283" r:id="rId30"/>
    <p:sldId id="284" r:id="rId31"/>
    <p:sldId id="285" r:id="rId32"/>
    <p:sldId id="288" r:id="rId33"/>
    <p:sldId id="287" r:id="rId34"/>
    <p:sldId id="286" r:id="rId35"/>
    <p:sldId id="289" r:id="rId36"/>
    <p:sldId id="290" r:id="rId37"/>
    <p:sldId id="297" r:id="rId38"/>
    <p:sldId id="291" r:id="rId39"/>
    <p:sldId id="292" r:id="rId40"/>
    <p:sldId id="293" r:id="rId41"/>
    <p:sldId id="294" r:id="rId42"/>
    <p:sldId id="295" r:id="rId43"/>
    <p:sldId id="296" r:id="rId44"/>
    <p:sldId id="298" r:id="rId45"/>
    <p:sldId id="299" r:id="rId46"/>
    <p:sldId id="300" r:id="rId47"/>
    <p:sldId id="301" r:id="rId48"/>
    <p:sldId id="302" r:id="rId49"/>
    <p:sldId id="303" r:id="rId50"/>
    <p:sldId id="304" r:id="rId51"/>
    <p:sldId id="305" r:id="rId52"/>
    <p:sldId id="306" r:id="rId53"/>
    <p:sldId id="307"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07" d="100"/>
          <a:sy n="107" d="100"/>
        </p:scale>
        <p:origin x="67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7/25/2024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7/25/2024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7/25/2024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7/25/2024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7/25/2024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393F8-04C1-4A57-8EE5-5268BF5514B1}"/>
              </a:ext>
            </a:extLst>
          </p:cNvPr>
          <p:cNvSpPr>
            <a:spLocks noGrp="1"/>
          </p:cNvSpPr>
          <p:nvPr>
            <p:ph type="ctrTitle"/>
          </p:nvPr>
        </p:nvSpPr>
        <p:spPr>
          <a:xfrm>
            <a:off x="2520974" y="2883090"/>
            <a:ext cx="8915399" cy="2262781"/>
          </a:xfrm>
        </p:spPr>
        <p:txBody>
          <a:bodyPr/>
          <a:lstStyle/>
          <a:p>
            <a:r>
              <a:rPr lang="en-US" dirty="0">
                <a:solidFill>
                  <a:schemeClr val="tx1"/>
                </a:solidFill>
                <a:latin typeface="Times New Roman" panose="02020603050405020304" pitchFamily="18" charset="0"/>
                <a:cs typeface="Times New Roman" panose="02020603050405020304" pitchFamily="18" charset="0"/>
              </a:rPr>
              <a:t>Unit 4 – Memory Management</a:t>
            </a:r>
          </a:p>
        </p:txBody>
      </p:sp>
    </p:spTree>
    <p:extLst>
      <p:ext uri="{BB962C8B-B14F-4D97-AF65-F5344CB8AC3E}">
        <p14:creationId xmlns:p14="http://schemas.microsoft.com/office/powerpoint/2010/main" val="3991655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7C6E2-68C1-4987-95E8-696764B0F702}"/>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DD7C163D-7AE6-4C39-BE0E-C70FCAB0BBBC}"/>
              </a:ext>
            </a:extLst>
          </p:cNvPr>
          <p:cNvSpPr>
            <a:spLocks noGrp="1"/>
          </p:cNvSpPr>
          <p:nvPr>
            <p:ph idx="1"/>
          </p:nvPr>
        </p:nvSpPr>
        <p:spPr>
          <a:xfrm>
            <a:off x="2592925" y="1746914"/>
            <a:ext cx="8915400" cy="4585647"/>
          </a:xfrm>
        </p:spPr>
        <p:txBody>
          <a:bodyPr>
            <a:normAutofit/>
          </a:bodyPr>
          <a:lstStyle/>
          <a:p>
            <a:r>
              <a:rPr lang="en-US" altLang="en-US" sz="2000" dirty="0">
                <a:solidFill>
                  <a:schemeClr val="tx1"/>
                </a:solidFill>
                <a:latin typeface="Times New Roman" panose="02020603050405020304" pitchFamily="18" charset="0"/>
                <a:cs typeface="Times New Roman" panose="02020603050405020304" pitchFamily="18" charset="0"/>
              </a:rPr>
              <a:t>Program must be brought (from disk)  into memory and placed within a process for it to be run</a:t>
            </a:r>
          </a:p>
          <a:p>
            <a:endParaRPr lang="en-US" altLang="en-US" sz="2000" dirty="0">
              <a:solidFill>
                <a:schemeClr val="tx1"/>
              </a:solidFill>
              <a:latin typeface="Times New Roman" panose="02020603050405020304" pitchFamily="18" charset="0"/>
              <a:cs typeface="Times New Roman" panose="02020603050405020304" pitchFamily="18" charset="0"/>
            </a:endParaRPr>
          </a:p>
          <a:p>
            <a:r>
              <a:rPr lang="en-US" altLang="en-US" sz="2000" dirty="0">
                <a:solidFill>
                  <a:schemeClr val="tx1"/>
                </a:solidFill>
                <a:latin typeface="Times New Roman" panose="02020603050405020304" pitchFamily="18" charset="0"/>
                <a:cs typeface="Times New Roman" panose="02020603050405020304" pitchFamily="18" charset="0"/>
              </a:rPr>
              <a:t>Main memory and registers are only storage CPU can access directly</a:t>
            </a:r>
          </a:p>
          <a:p>
            <a:endParaRPr lang="en-US" altLang="en-US" sz="2000" dirty="0">
              <a:solidFill>
                <a:schemeClr val="tx1"/>
              </a:solidFill>
              <a:latin typeface="Times New Roman" panose="02020603050405020304" pitchFamily="18" charset="0"/>
              <a:cs typeface="Times New Roman" panose="02020603050405020304" pitchFamily="18" charset="0"/>
            </a:endParaRPr>
          </a:p>
          <a:p>
            <a:r>
              <a:rPr lang="en-US" altLang="en-US" sz="2000" dirty="0">
                <a:solidFill>
                  <a:schemeClr val="tx1"/>
                </a:solidFill>
                <a:latin typeface="Times New Roman" panose="02020603050405020304" pitchFamily="18" charset="0"/>
                <a:cs typeface="Times New Roman" panose="02020603050405020304" pitchFamily="18" charset="0"/>
              </a:rPr>
              <a:t>Memory unit only sees a stream of addresses + read requests, or address + data and write requests</a:t>
            </a:r>
          </a:p>
          <a:p>
            <a:endParaRPr lang="en-US" alt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A functionality of OS which manages memory</a:t>
            </a:r>
          </a:p>
        </p:txBody>
      </p:sp>
    </p:spTree>
    <p:extLst>
      <p:ext uri="{BB962C8B-B14F-4D97-AF65-F5344CB8AC3E}">
        <p14:creationId xmlns:p14="http://schemas.microsoft.com/office/powerpoint/2010/main" val="1679351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7C6E2-68C1-4987-95E8-696764B0F702}"/>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Introduction (contd.)</a:t>
            </a:r>
          </a:p>
        </p:txBody>
      </p:sp>
      <p:sp>
        <p:nvSpPr>
          <p:cNvPr id="3" name="Content Placeholder 2">
            <a:extLst>
              <a:ext uri="{FF2B5EF4-FFF2-40B4-BE49-F238E27FC236}">
                <a16:creationId xmlns:a16="http://schemas.microsoft.com/office/drawing/2014/main" id="{DD7C163D-7AE6-4C39-BE0E-C70FCAB0BBBC}"/>
              </a:ext>
            </a:extLst>
          </p:cNvPr>
          <p:cNvSpPr>
            <a:spLocks noGrp="1"/>
          </p:cNvSpPr>
          <p:nvPr>
            <p:ph idx="1"/>
          </p:nvPr>
        </p:nvSpPr>
        <p:spPr>
          <a:xfrm>
            <a:off x="2592925" y="1905000"/>
            <a:ext cx="8915400" cy="4408227"/>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The entire program and data of a process must be in main memory for the process to execute</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It keeps track of the each and every memory allocation either it is allocated to some process or not</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It decides which process gets the memory at what time</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The part of OS which manages the memory is called memory manager</a:t>
            </a:r>
          </a:p>
        </p:txBody>
      </p:sp>
    </p:spTree>
    <p:extLst>
      <p:ext uri="{BB962C8B-B14F-4D97-AF65-F5344CB8AC3E}">
        <p14:creationId xmlns:p14="http://schemas.microsoft.com/office/powerpoint/2010/main" val="539664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0520D-46B3-4A44-966D-8AF9672BA42F}"/>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Memory Manager</a:t>
            </a:r>
          </a:p>
        </p:txBody>
      </p:sp>
      <p:sp>
        <p:nvSpPr>
          <p:cNvPr id="3" name="Content Placeholder 2">
            <a:extLst>
              <a:ext uri="{FF2B5EF4-FFF2-40B4-BE49-F238E27FC236}">
                <a16:creationId xmlns:a16="http://schemas.microsoft.com/office/drawing/2014/main" id="{DAA9E39E-71FB-40E2-9087-9C64784A5BAA}"/>
              </a:ext>
            </a:extLst>
          </p:cNvPr>
          <p:cNvSpPr>
            <a:spLocks noGrp="1"/>
          </p:cNvSpPr>
          <p:nvPr>
            <p:ph idx="1"/>
          </p:nvPr>
        </p:nvSpPr>
        <p:spPr>
          <a:xfrm>
            <a:off x="2589212" y="1848700"/>
            <a:ext cx="8915400" cy="4385190"/>
          </a:xfrm>
        </p:spPr>
        <p:txBody>
          <a:bodyPr>
            <a:normAutofit/>
          </a:bodyPr>
          <a:lstStyle/>
          <a:p>
            <a:r>
              <a:rPr lang="en-US" sz="2000">
                <a:solidFill>
                  <a:schemeClr val="tx1"/>
                </a:solidFill>
                <a:latin typeface="Times New Roman" panose="02020603050405020304" pitchFamily="18" charset="0"/>
                <a:cs typeface="Times New Roman" panose="02020603050405020304" pitchFamily="18" charset="0"/>
              </a:rPr>
              <a:t>It’s </a:t>
            </a:r>
            <a:r>
              <a:rPr lang="en-US" sz="2000" dirty="0">
                <a:solidFill>
                  <a:schemeClr val="tx1"/>
                </a:solidFill>
                <a:latin typeface="Times New Roman" panose="02020603050405020304" pitchFamily="18" charset="0"/>
                <a:cs typeface="Times New Roman" panose="02020603050405020304" pitchFamily="18" charset="0"/>
              </a:rPr>
              <a:t>job is to:</a:t>
            </a:r>
          </a:p>
          <a:p>
            <a:endParaRPr lang="en-US" sz="2000" dirty="0">
              <a:solidFill>
                <a:schemeClr val="tx1"/>
              </a:solidFill>
              <a:latin typeface="Times New Roman" panose="02020603050405020304" pitchFamily="18" charset="0"/>
              <a:cs typeface="Times New Roman" panose="02020603050405020304" pitchFamily="18" charset="0"/>
            </a:endParaRPr>
          </a:p>
          <a:p>
            <a:pPr marL="6270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keep track of which parts of memory are in use</a:t>
            </a:r>
          </a:p>
          <a:p>
            <a:pPr marL="627063">
              <a:buFont typeface="Wingdings" panose="05000000000000000000" pitchFamily="2" charset="2"/>
              <a:buChar char="Ø"/>
            </a:pPr>
            <a:endParaRPr lang="en-US" sz="2000" dirty="0">
              <a:solidFill>
                <a:schemeClr val="tx1"/>
              </a:solidFill>
              <a:latin typeface="Times New Roman" panose="02020603050405020304" pitchFamily="18" charset="0"/>
              <a:cs typeface="Times New Roman" panose="02020603050405020304" pitchFamily="18" charset="0"/>
            </a:endParaRPr>
          </a:p>
          <a:p>
            <a:pPr marL="6270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allocate memory to processes</a:t>
            </a:r>
          </a:p>
          <a:p>
            <a:pPr marL="627063">
              <a:buFont typeface="Wingdings" panose="05000000000000000000" pitchFamily="2" charset="2"/>
              <a:buChar char="Ø"/>
            </a:pPr>
            <a:endParaRPr lang="en-US" sz="2000" dirty="0">
              <a:solidFill>
                <a:schemeClr val="tx1"/>
              </a:solidFill>
              <a:latin typeface="Times New Roman" panose="02020603050405020304" pitchFamily="18" charset="0"/>
              <a:cs typeface="Times New Roman" panose="02020603050405020304" pitchFamily="18" charset="0"/>
            </a:endParaRPr>
          </a:p>
          <a:p>
            <a:pPr marL="6270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deallocate memory when processes are done</a:t>
            </a:r>
          </a:p>
          <a:p>
            <a:pPr marL="627063">
              <a:buFont typeface="Wingdings" panose="05000000000000000000" pitchFamily="2" charset="2"/>
              <a:buChar char="Ø"/>
            </a:pPr>
            <a:endParaRPr lang="en-US" sz="2000" dirty="0">
              <a:solidFill>
                <a:schemeClr val="tx1"/>
              </a:solidFill>
              <a:latin typeface="Times New Roman" panose="02020603050405020304" pitchFamily="18" charset="0"/>
              <a:cs typeface="Times New Roman" panose="02020603050405020304" pitchFamily="18" charset="0"/>
            </a:endParaRPr>
          </a:p>
          <a:p>
            <a:pPr marL="6270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manage swapping between main memory and disk </a:t>
            </a:r>
          </a:p>
        </p:txBody>
      </p:sp>
    </p:spTree>
    <p:extLst>
      <p:ext uri="{BB962C8B-B14F-4D97-AF65-F5344CB8AC3E}">
        <p14:creationId xmlns:p14="http://schemas.microsoft.com/office/powerpoint/2010/main" val="3994868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93FEE-D430-47E4-8575-C0B979869C1D}"/>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Mono vs Multi Programming</a:t>
            </a:r>
          </a:p>
        </p:txBody>
      </p:sp>
      <p:graphicFrame>
        <p:nvGraphicFramePr>
          <p:cNvPr id="4" name="Table 4">
            <a:extLst>
              <a:ext uri="{FF2B5EF4-FFF2-40B4-BE49-F238E27FC236}">
                <a16:creationId xmlns:a16="http://schemas.microsoft.com/office/drawing/2014/main" id="{6C6E2B3E-DD6B-4455-B6EB-B261D3481875}"/>
              </a:ext>
            </a:extLst>
          </p:cNvPr>
          <p:cNvGraphicFramePr>
            <a:graphicFrameLocks noGrp="1"/>
          </p:cNvGraphicFramePr>
          <p:nvPr>
            <p:ph idx="1"/>
            <p:extLst>
              <p:ext uri="{D42A27DB-BD31-4B8C-83A1-F6EECF244321}">
                <p14:modId xmlns:p14="http://schemas.microsoft.com/office/powerpoint/2010/main" val="957312526"/>
              </p:ext>
            </p:extLst>
          </p:nvPr>
        </p:nvGraphicFramePr>
        <p:xfrm>
          <a:off x="2388358" y="1724167"/>
          <a:ext cx="9116254" cy="3978550"/>
        </p:xfrm>
        <a:graphic>
          <a:graphicData uri="http://schemas.openxmlformats.org/drawingml/2006/table">
            <a:tbl>
              <a:tblPr firstRow="1" bandRow="1">
                <a:tableStyleId>{5940675A-B579-460E-94D1-54222C63F5DA}</a:tableStyleId>
              </a:tblPr>
              <a:tblGrid>
                <a:gridCol w="4135272">
                  <a:extLst>
                    <a:ext uri="{9D8B030D-6E8A-4147-A177-3AD203B41FA5}">
                      <a16:colId xmlns:a16="http://schemas.microsoft.com/office/drawing/2014/main" val="2088101683"/>
                    </a:ext>
                  </a:extLst>
                </a:gridCol>
                <a:gridCol w="4980982">
                  <a:extLst>
                    <a:ext uri="{9D8B030D-6E8A-4147-A177-3AD203B41FA5}">
                      <a16:colId xmlns:a16="http://schemas.microsoft.com/office/drawing/2014/main" val="741863333"/>
                    </a:ext>
                  </a:extLst>
                </a:gridCol>
              </a:tblGrid>
              <a:tr h="370840">
                <a:tc>
                  <a:txBody>
                    <a:bodyPr/>
                    <a:lstStyle/>
                    <a:p>
                      <a:pPr algn="ctr"/>
                      <a:r>
                        <a:rPr lang="en-US" sz="2400" b="1" dirty="0">
                          <a:solidFill>
                            <a:schemeClr val="tx1"/>
                          </a:solidFill>
                          <a:latin typeface="Times New Roman" panose="02020603050405020304" pitchFamily="18" charset="0"/>
                          <a:cs typeface="Times New Roman" panose="02020603050405020304" pitchFamily="18" charset="0"/>
                        </a:rPr>
                        <a:t>Mono-Programming</a:t>
                      </a:r>
                    </a:p>
                  </a:txBody>
                  <a:tcPr/>
                </a:tc>
                <a:tc>
                  <a:txBody>
                    <a:bodyPr/>
                    <a:lstStyle/>
                    <a:p>
                      <a:pPr algn="ctr"/>
                      <a:r>
                        <a:rPr lang="en-US" sz="2400" b="1" dirty="0">
                          <a:solidFill>
                            <a:schemeClr val="tx1"/>
                          </a:solidFill>
                          <a:latin typeface="Times New Roman" panose="02020603050405020304" pitchFamily="18" charset="0"/>
                          <a:cs typeface="Times New Roman" panose="02020603050405020304" pitchFamily="18" charset="0"/>
                        </a:rPr>
                        <a:t>Multi-Programming</a:t>
                      </a:r>
                    </a:p>
                  </a:txBody>
                  <a:tcPr/>
                </a:tc>
                <a:extLst>
                  <a:ext uri="{0D108BD9-81ED-4DB2-BD59-A6C34878D82A}">
                    <a16:rowId xmlns:a16="http://schemas.microsoft.com/office/drawing/2014/main" val="1391351521"/>
                  </a:ext>
                </a:extLst>
              </a:tr>
              <a:tr h="370840">
                <a:tc>
                  <a:txBody>
                    <a:bodyPr/>
                    <a:lstStyle/>
                    <a:p>
                      <a:pPr algn="just"/>
                      <a:r>
                        <a:rPr lang="en-US" sz="2000" dirty="0">
                          <a:solidFill>
                            <a:schemeClr val="tx1"/>
                          </a:solidFill>
                          <a:latin typeface="Times New Roman" panose="02020603050405020304" pitchFamily="18" charset="0"/>
                          <a:cs typeface="Times New Roman" panose="02020603050405020304" pitchFamily="18" charset="0"/>
                        </a:rPr>
                        <a:t>Only one program at any point of time</a:t>
                      </a:r>
                    </a:p>
                  </a:txBody>
                  <a:tcPr/>
                </a:tc>
                <a:tc>
                  <a:txBody>
                    <a:bodyPr/>
                    <a:lstStyle/>
                    <a:p>
                      <a:pPr algn="just"/>
                      <a:r>
                        <a:rPr lang="en-US" sz="2000" dirty="0">
                          <a:solidFill>
                            <a:schemeClr val="tx1"/>
                          </a:solidFill>
                          <a:latin typeface="Times New Roman" panose="02020603050405020304" pitchFamily="18" charset="0"/>
                          <a:cs typeface="Times New Roman" panose="02020603050405020304" pitchFamily="18" charset="0"/>
                        </a:rPr>
                        <a:t>Contains more than one program at a time</a:t>
                      </a:r>
                    </a:p>
                  </a:txBody>
                  <a:tcPr/>
                </a:tc>
                <a:extLst>
                  <a:ext uri="{0D108BD9-81ED-4DB2-BD59-A6C34878D82A}">
                    <a16:rowId xmlns:a16="http://schemas.microsoft.com/office/drawing/2014/main" val="2383109900"/>
                  </a:ext>
                </a:extLst>
              </a:tr>
              <a:tr h="370840">
                <a:tc>
                  <a:txBody>
                    <a:bodyPr/>
                    <a:lstStyle/>
                    <a:p>
                      <a:pPr algn="just"/>
                      <a:r>
                        <a:rPr lang="en-US" sz="2000" dirty="0">
                          <a:solidFill>
                            <a:schemeClr val="tx1"/>
                          </a:solidFill>
                          <a:latin typeface="Times New Roman" panose="02020603050405020304" pitchFamily="18" charset="0"/>
                          <a:cs typeface="Times New Roman" panose="02020603050405020304" pitchFamily="18" charset="0"/>
                        </a:rPr>
                        <a:t>CPU executes the program but when I/O operation is encountered, CPU sits ideal. So, CPU isn’t efficiently used</a:t>
                      </a: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Times New Roman" panose="02020603050405020304" pitchFamily="18" charset="0"/>
                          <a:cs typeface="Times New Roman" panose="02020603050405020304" pitchFamily="18" charset="0"/>
                        </a:rPr>
                        <a:t>CPU executes the program but when one program encounters I/O operation, CPU switches to next program. So, CPU is efficiently used</a:t>
                      </a:r>
                    </a:p>
                    <a:p>
                      <a:pPr algn="just"/>
                      <a:endParaRPr lang="en-US"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38082401"/>
                  </a:ext>
                </a:extLst>
              </a:tr>
              <a:tr h="490030">
                <a:tc>
                  <a:txBody>
                    <a:bodyPr/>
                    <a:lstStyle/>
                    <a:p>
                      <a:pPr algn="just"/>
                      <a:r>
                        <a:rPr lang="en-US" sz="2000" dirty="0">
                          <a:solidFill>
                            <a:schemeClr val="tx1"/>
                          </a:solidFill>
                          <a:latin typeface="Times New Roman" panose="02020603050405020304" pitchFamily="18" charset="0"/>
                          <a:cs typeface="Times New Roman" panose="02020603050405020304" pitchFamily="18" charset="0"/>
                        </a:rPr>
                        <a:t>Memory needs less space</a:t>
                      </a:r>
                    </a:p>
                  </a:txBody>
                  <a:tcPr/>
                </a:tc>
                <a:tc>
                  <a:txBody>
                    <a:bodyPr/>
                    <a:lstStyle/>
                    <a:p>
                      <a:pPr algn="just"/>
                      <a:r>
                        <a:rPr lang="en-US" sz="2000" dirty="0">
                          <a:solidFill>
                            <a:schemeClr val="tx1"/>
                          </a:solidFill>
                          <a:latin typeface="Times New Roman" panose="02020603050405020304" pitchFamily="18" charset="0"/>
                          <a:cs typeface="Times New Roman" panose="02020603050405020304" pitchFamily="18" charset="0"/>
                        </a:rPr>
                        <a:t>Memory needs more space</a:t>
                      </a:r>
                    </a:p>
                  </a:txBody>
                  <a:tcPr/>
                </a:tc>
                <a:extLst>
                  <a:ext uri="{0D108BD9-81ED-4DB2-BD59-A6C34878D82A}">
                    <a16:rowId xmlns:a16="http://schemas.microsoft.com/office/drawing/2014/main" val="3416037437"/>
                  </a:ext>
                </a:extLst>
              </a:tr>
              <a:tr h="489576">
                <a:tc>
                  <a:txBody>
                    <a:bodyPr/>
                    <a:lstStyle/>
                    <a:p>
                      <a:pPr algn="just"/>
                      <a:r>
                        <a:rPr lang="en-US" sz="2000" dirty="0">
                          <a:solidFill>
                            <a:schemeClr val="tx1"/>
                          </a:solidFill>
                          <a:latin typeface="Times New Roman" panose="02020603050405020304" pitchFamily="18" charset="0"/>
                          <a:cs typeface="Times New Roman" panose="02020603050405020304" pitchFamily="18" charset="0"/>
                        </a:rPr>
                        <a:t>Fixed size partition is used</a:t>
                      </a:r>
                    </a:p>
                  </a:txBody>
                  <a:tcPr/>
                </a:tc>
                <a:tc>
                  <a:txBody>
                    <a:bodyPr/>
                    <a:lstStyle/>
                    <a:p>
                      <a:pPr algn="just"/>
                      <a:r>
                        <a:rPr lang="en-US" sz="2000" dirty="0">
                          <a:solidFill>
                            <a:schemeClr val="tx1"/>
                          </a:solidFill>
                          <a:latin typeface="Times New Roman" panose="02020603050405020304" pitchFamily="18" charset="0"/>
                          <a:cs typeface="Times New Roman" panose="02020603050405020304" pitchFamily="18" charset="0"/>
                        </a:rPr>
                        <a:t>Both fixed and variable sized are used</a:t>
                      </a:r>
                    </a:p>
                  </a:txBody>
                  <a:tcPr/>
                </a:tc>
                <a:extLst>
                  <a:ext uri="{0D108BD9-81ED-4DB2-BD59-A6C34878D82A}">
                    <a16:rowId xmlns:a16="http://schemas.microsoft.com/office/drawing/2014/main" val="1552903851"/>
                  </a:ext>
                </a:extLst>
              </a:tr>
              <a:tr h="530064">
                <a:tc>
                  <a:txBody>
                    <a:bodyPr/>
                    <a:lstStyle/>
                    <a:p>
                      <a:pPr algn="just"/>
                      <a:r>
                        <a:rPr lang="en-US" sz="2000" dirty="0">
                          <a:solidFill>
                            <a:schemeClr val="tx1"/>
                          </a:solidFill>
                          <a:latin typeface="Times New Roman" panose="02020603050405020304" pitchFamily="18" charset="0"/>
                          <a:cs typeface="Times New Roman" panose="02020603050405020304" pitchFamily="18" charset="0"/>
                        </a:rPr>
                        <a:t>Example: Old mobile OS</a:t>
                      </a:r>
                    </a:p>
                  </a:txBody>
                  <a:tcPr/>
                </a:tc>
                <a:tc>
                  <a:txBody>
                    <a:bodyPr/>
                    <a:lstStyle/>
                    <a:p>
                      <a:pPr algn="just"/>
                      <a:r>
                        <a:rPr lang="en-US" sz="2000" dirty="0">
                          <a:solidFill>
                            <a:schemeClr val="tx1"/>
                          </a:solidFill>
                          <a:latin typeface="Times New Roman" panose="02020603050405020304" pitchFamily="18" charset="0"/>
                          <a:cs typeface="Times New Roman" panose="02020603050405020304" pitchFamily="18" charset="0"/>
                        </a:rPr>
                        <a:t>Example: Windows 7/8/10/11</a:t>
                      </a:r>
                    </a:p>
                  </a:txBody>
                  <a:tcPr/>
                </a:tc>
                <a:extLst>
                  <a:ext uri="{0D108BD9-81ED-4DB2-BD59-A6C34878D82A}">
                    <a16:rowId xmlns:a16="http://schemas.microsoft.com/office/drawing/2014/main" val="2917626365"/>
                  </a:ext>
                </a:extLst>
              </a:tr>
            </a:tbl>
          </a:graphicData>
        </a:graphic>
      </p:graphicFrame>
    </p:spTree>
    <p:extLst>
      <p:ext uri="{BB962C8B-B14F-4D97-AF65-F5344CB8AC3E}">
        <p14:creationId xmlns:p14="http://schemas.microsoft.com/office/powerpoint/2010/main" val="855981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61192-B5C8-421B-AFC7-75B9FE096D5A}"/>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Multiprogramming with fixed partition</a:t>
            </a:r>
          </a:p>
        </p:txBody>
      </p:sp>
      <p:sp>
        <p:nvSpPr>
          <p:cNvPr id="3" name="Content Placeholder 2">
            <a:extLst>
              <a:ext uri="{FF2B5EF4-FFF2-40B4-BE49-F238E27FC236}">
                <a16:creationId xmlns:a16="http://schemas.microsoft.com/office/drawing/2014/main" id="{2927370C-FAD4-4AD4-8BBB-2A994FC8553B}"/>
              </a:ext>
            </a:extLst>
          </p:cNvPr>
          <p:cNvSpPr>
            <a:spLocks noGrp="1"/>
          </p:cNvSpPr>
          <p:nvPr>
            <p:ph idx="1"/>
          </p:nvPr>
        </p:nvSpPr>
        <p:spPr>
          <a:xfrm>
            <a:off x="2592925" y="1639144"/>
            <a:ext cx="8915400" cy="4898134"/>
          </a:xfrm>
        </p:spPr>
        <p:txBody>
          <a:bodyPr>
            <a:noAutofit/>
          </a:bodyPr>
          <a:lstStyle/>
          <a:p>
            <a:r>
              <a:rPr lang="en-US" sz="2000" dirty="0">
                <a:solidFill>
                  <a:schemeClr val="tx1"/>
                </a:solidFill>
                <a:latin typeface="Times New Roman" panose="02020603050405020304" pitchFamily="18" charset="0"/>
                <a:cs typeface="Times New Roman" panose="02020603050405020304" pitchFamily="18" charset="0"/>
              </a:rPr>
              <a:t>Multiple processes run at the same time</a:t>
            </a:r>
          </a:p>
          <a:p>
            <a:r>
              <a:rPr lang="en-US" sz="2000" dirty="0">
                <a:solidFill>
                  <a:schemeClr val="tx1"/>
                </a:solidFill>
                <a:latin typeface="Times New Roman" panose="02020603050405020304" pitchFamily="18" charset="0"/>
                <a:cs typeface="Times New Roman" panose="02020603050405020304" pitchFamily="18" charset="0"/>
              </a:rPr>
              <a:t>Memory partitioned into fixed no. of partitions</a:t>
            </a:r>
          </a:p>
          <a:p>
            <a:r>
              <a:rPr lang="en-US" sz="2000" dirty="0">
                <a:solidFill>
                  <a:schemeClr val="tx1"/>
                </a:solidFill>
                <a:latin typeface="Times New Roman" panose="02020603050405020304" pitchFamily="18" charset="0"/>
                <a:cs typeface="Times New Roman" panose="02020603050405020304" pitchFamily="18" charset="0"/>
              </a:rPr>
              <a:t>In multiple input queues: </a:t>
            </a:r>
          </a:p>
          <a:p>
            <a:pPr marL="6270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Large partition could be empty while the queue for a small partition is full</a:t>
            </a:r>
          </a:p>
          <a:p>
            <a:pPr marL="627063">
              <a:buFont typeface="Wingdings" panose="05000000000000000000" pitchFamily="2" charset="2"/>
              <a:buChar char="Ø"/>
            </a:pPr>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In separate input queues: </a:t>
            </a:r>
          </a:p>
          <a:p>
            <a:pPr marL="573088">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Since it is undesirable to waste a large partition on a small job</a:t>
            </a:r>
          </a:p>
          <a:p>
            <a:pPr marL="573088">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pick the largest job that fits </a:t>
            </a:r>
          </a:p>
          <a:p>
            <a:pPr marL="968375">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discrimination against small jobs </a:t>
            </a:r>
          </a:p>
          <a:p>
            <a:pPr marL="968375">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usually it is desirable to give the smallest jobs (often interactive jobs) the best service, not the worst</a:t>
            </a:r>
          </a:p>
        </p:txBody>
      </p:sp>
    </p:spTree>
    <p:extLst>
      <p:ext uri="{BB962C8B-B14F-4D97-AF65-F5344CB8AC3E}">
        <p14:creationId xmlns:p14="http://schemas.microsoft.com/office/powerpoint/2010/main" val="2029883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2D062-2EE1-4289-ADC9-7F74EAF02B7C}"/>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Multiprogramming with fixed partition (contd.)</a:t>
            </a:r>
            <a:endParaRPr lang="en-US" dirty="0"/>
          </a:p>
        </p:txBody>
      </p:sp>
      <p:pic>
        <p:nvPicPr>
          <p:cNvPr id="5" name="Picture 4">
            <a:extLst>
              <a:ext uri="{FF2B5EF4-FFF2-40B4-BE49-F238E27FC236}">
                <a16:creationId xmlns:a16="http://schemas.microsoft.com/office/drawing/2014/main" id="{1E568342-37FD-45A3-BC69-9228716BB4AC}"/>
              </a:ext>
            </a:extLst>
          </p:cNvPr>
          <p:cNvPicPr>
            <a:picLocks noChangeAspect="1"/>
          </p:cNvPicPr>
          <p:nvPr/>
        </p:nvPicPr>
        <p:blipFill>
          <a:blip r:embed="rId2"/>
          <a:stretch>
            <a:fillRect/>
          </a:stretch>
        </p:blipFill>
        <p:spPr>
          <a:xfrm>
            <a:off x="2119240" y="1905000"/>
            <a:ext cx="3476341" cy="4892202"/>
          </a:xfrm>
          <a:prstGeom prst="rect">
            <a:avLst/>
          </a:prstGeom>
        </p:spPr>
      </p:pic>
      <p:pic>
        <p:nvPicPr>
          <p:cNvPr id="7" name="Picture 6">
            <a:extLst>
              <a:ext uri="{FF2B5EF4-FFF2-40B4-BE49-F238E27FC236}">
                <a16:creationId xmlns:a16="http://schemas.microsoft.com/office/drawing/2014/main" id="{3EF4A180-DAC1-4D5B-A38D-49DA514C2726}"/>
              </a:ext>
            </a:extLst>
          </p:cNvPr>
          <p:cNvPicPr>
            <a:picLocks noChangeAspect="1"/>
          </p:cNvPicPr>
          <p:nvPr/>
        </p:nvPicPr>
        <p:blipFill>
          <a:blip r:embed="rId3"/>
          <a:stretch>
            <a:fillRect/>
          </a:stretch>
        </p:blipFill>
        <p:spPr>
          <a:xfrm>
            <a:off x="7351511" y="1589965"/>
            <a:ext cx="4256893" cy="4781552"/>
          </a:xfrm>
          <a:prstGeom prst="rect">
            <a:avLst/>
          </a:prstGeom>
        </p:spPr>
      </p:pic>
    </p:spTree>
    <p:extLst>
      <p:ext uri="{BB962C8B-B14F-4D97-AF65-F5344CB8AC3E}">
        <p14:creationId xmlns:p14="http://schemas.microsoft.com/office/powerpoint/2010/main" val="2735806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96883-5569-49CF-9EB1-CB62E4AC3040}"/>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Multiprogramming with dynamic partition</a:t>
            </a:r>
            <a:endParaRPr lang="en-US" dirty="0"/>
          </a:p>
        </p:txBody>
      </p:sp>
      <p:sp>
        <p:nvSpPr>
          <p:cNvPr id="3" name="Content Placeholder 2">
            <a:extLst>
              <a:ext uri="{FF2B5EF4-FFF2-40B4-BE49-F238E27FC236}">
                <a16:creationId xmlns:a16="http://schemas.microsoft.com/office/drawing/2014/main" id="{2498179E-6E97-4E11-AB60-FFAAA24CDED3}"/>
              </a:ext>
            </a:extLst>
          </p:cNvPr>
          <p:cNvSpPr>
            <a:spLocks noGrp="1"/>
          </p:cNvSpPr>
          <p:nvPr>
            <p:ph idx="1"/>
          </p:nvPr>
        </p:nvSpPr>
        <p:spPr>
          <a:xfrm>
            <a:off x="2589212" y="1905000"/>
            <a:ext cx="8915400" cy="3777622"/>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Multiple processes run at the same time</a:t>
            </a:r>
          </a:p>
          <a:p>
            <a:r>
              <a:rPr lang="en-US" sz="2000" dirty="0">
                <a:solidFill>
                  <a:schemeClr val="tx1"/>
                </a:solidFill>
                <a:latin typeface="Times New Roman" panose="02020603050405020304" pitchFamily="18" charset="0"/>
                <a:cs typeface="Times New Roman" panose="02020603050405020304" pitchFamily="18" charset="0"/>
              </a:rPr>
              <a:t>Memory partitioned dynamically</a:t>
            </a:r>
          </a:p>
          <a:p>
            <a:r>
              <a:rPr lang="en-US" sz="2000" dirty="0">
                <a:solidFill>
                  <a:schemeClr val="tx1"/>
                </a:solidFill>
                <a:latin typeface="Times New Roman" panose="02020603050405020304" pitchFamily="18" charset="0"/>
                <a:cs typeface="Times New Roman" panose="02020603050405020304" pitchFamily="18" charset="0"/>
              </a:rPr>
              <a:t>Meets the requirement of each </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requesting process – </a:t>
            </a:r>
            <a:r>
              <a:rPr lang="en-US" sz="2000" b="1" dirty="0">
                <a:solidFill>
                  <a:schemeClr val="tx1"/>
                </a:solidFill>
                <a:latin typeface="Times New Roman" panose="02020603050405020304" pitchFamily="18" charset="0"/>
                <a:cs typeface="Times New Roman" panose="02020603050405020304" pitchFamily="18" charset="0"/>
              </a:rPr>
              <a:t>variable partitioning</a:t>
            </a:r>
          </a:p>
          <a:p>
            <a:r>
              <a:rPr lang="en-US" sz="2000" dirty="0">
                <a:solidFill>
                  <a:schemeClr val="tx1"/>
                </a:solidFill>
                <a:latin typeface="Times New Roman" panose="02020603050405020304" pitchFamily="18" charset="0"/>
                <a:cs typeface="Times New Roman" panose="02020603050405020304" pitchFamily="18" charset="0"/>
              </a:rPr>
              <a:t>When a process terminates or swapped, memory </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manager free up the space</a:t>
            </a:r>
          </a:p>
          <a:p>
            <a:endParaRPr lang="en-US" sz="2000" dirty="0">
              <a:solidFill>
                <a:schemeClr val="tx1"/>
              </a:solidFill>
            </a:endParaRPr>
          </a:p>
        </p:txBody>
      </p:sp>
      <p:grpSp>
        <p:nvGrpSpPr>
          <p:cNvPr id="9" name="Group 8">
            <a:extLst>
              <a:ext uri="{FF2B5EF4-FFF2-40B4-BE49-F238E27FC236}">
                <a16:creationId xmlns:a16="http://schemas.microsoft.com/office/drawing/2014/main" id="{9F02CFC3-0506-4905-8CB2-D12FF6D24238}"/>
              </a:ext>
            </a:extLst>
          </p:cNvPr>
          <p:cNvGrpSpPr/>
          <p:nvPr/>
        </p:nvGrpSpPr>
        <p:grpSpPr>
          <a:xfrm>
            <a:off x="9130353" y="2128784"/>
            <a:ext cx="1719618" cy="2878294"/>
            <a:chOff x="5076967" y="3807725"/>
            <a:chExt cx="1719618" cy="2878294"/>
          </a:xfrm>
        </p:grpSpPr>
        <p:sp>
          <p:nvSpPr>
            <p:cNvPr id="5" name="TextBox 4">
              <a:extLst>
                <a:ext uri="{FF2B5EF4-FFF2-40B4-BE49-F238E27FC236}">
                  <a16:creationId xmlns:a16="http://schemas.microsoft.com/office/drawing/2014/main" id="{93EE47DD-E64D-41C6-8A6F-A8F30475C8A5}"/>
                </a:ext>
              </a:extLst>
            </p:cNvPr>
            <p:cNvSpPr txBox="1"/>
            <p:nvPr/>
          </p:nvSpPr>
          <p:spPr>
            <a:xfrm>
              <a:off x="5076967" y="3807725"/>
              <a:ext cx="1719618" cy="707886"/>
            </a:xfrm>
            <a:prstGeom prst="rect">
              <a:avLst/>
            </a:prstGeom>
            <a:solidFill>
              <a:schemeClr val="bg1">
                <a:lumMod val="85000"/>
              </a:schemeClr>
            </a:solidFill>
            <a:ln w="28575">
              <a:solidFill>
                <a:schemeClr val="tx1"/>
              </a:solidFill>
            </a:ln>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Free Space for RAM</a:t>
              </a:r>
            </a:p>
          </p:txBody>
        </p:sp>
        <p:sp>
          <p:nvSpPr>
            <p:cNvPr id="6" name="TextBox 5">
              <a:extLst>
                <a:ext uri="{FF2B5EF4-FFF2-40B4-BE49-F238E27FC236}">
                  <a16:creationId xmlns:a16="http://schemas.microsoft.com/office/drawing/2014/main" id="{3453E49F-161F-41AD-9F95-8FF5BF699A3F}"/>
                </a:ext>
              </a:extLst>
            </p:cNvPr>
            <p:cNvSpPr txBox="1"/>
            <p:nvPr/>
          </p:nvSpPr>
          <p:spPr>
            <a:xfrm>
              <a:off x="5076967" y="4533331"/>
              <a:ext cx="1719618" cy="1015663"/>
            </a:xfrm>
            <a:prstGeom prst="rect">
              <a:avLst/>
            </a:prstGeom>
            <a:solidFill>
              <a:schemeClr val="bg1"/>
            </a:solidFill>
            <a:ln w="28575">
              <a:solidFill>
                <a:schemeClr val="tx1"/>
              </a:solidFill>
            </a:ln>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P1 = 30MB</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1B4E12C-0FB8-4A20-9554-7FE364D57477}"/>
                </a:ext>
              </a:extLst>
            </p:cNvPr>
            <p:cNvSpPr txBox="1"/>
            <p:nvPr/>
          </p:nvSpPr>
          <p:spPr>
            <a:xfrm>
              <a:off x="5076967" y="5566714"/>
              <a:ext cx="1719618" cy="400110"/>
            </a:xfrm>
            <a:prstGeom prst="rect">
              <a:avLst/>
            </a:prstGeom>
            <a:solidFill>
              <a:schemeClr val="bg1"/>
            </a:solidFill>
            <a:ln w="28575">
              <a:solidFill>
                <a:schemeClr val="tx1"/>
              </a:solidFill>
            </a:ln>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P2 = 3MB</a:t>
              </a:r>
            </a:p>
          </p:txBody>
        </p:sp>
        <p:sp>
          <p:nvSpPr>
            <p:cNvPr id="8" name="TextBox 7">
              <a:extLst>
                <a:ext uri="{FF2B5EF4-FFF2-40B4-BE49-F238E27FC236}">
                  <a16:creationId xmlns:a16="http://schemas.microsoft.com/office/drawing/2014/main" id="{4973BE05-9AAE-41C5-AC11-BF0875B09D61}"/>
                </a:ext>
              </a:extLst>
            </p:cNvPr>
            <p:cNvSpPr txBox="1"/>
            <p:nvPr/>
          </p:nvSpPr>
          <p:spPr>
            <a:xfrm>
              <a:off x="5076967" y="5978133"/>
              <a:ext cx="1719618" cy="707886"/>
            </a:xfrm>
            <a:prstGeom prst="rect">
              <a:avLst/>
            </a:prstGeom>
            <a:noFill/>
            <a:ln w="28575">
              <a:solidFill>
                <a:schemeClr val="tx1"/>
              </a:solidFill>
            </a:ln>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Operating System</a:t>
              </a:r>
            </a:p>
          </p:txBody>
        </p:sp>
      </p:grpSp>
    </p:spTree>
    <p:extLst>
      <p:ext uri="{BB962C8B-B14F-4D97-AF65-F5344CB8AC3E}">
        <p14:creationId xmlns:p14="http://schemas.microsoft.com/office/powerpoint/2010/main" val="3305053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D1AFB-5C02-4D4C-BBE9-14A83C2C2FCB}"/>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Relocation</a:t>
            </a:r>
          </a:p>
        </p:txBody>
      </p:sp>
      <p:sp>
        <p:nvSpPr>
          <p:cNvPr id="3" name="Content Placeholder 2">
            <a:extLst>
              <a:ext uri="{FF2B5EF4-FFF2-40B4-BE49-F238E27FC236}">
                <a16:creationId xmlns:a16="http://schemas.microsoft.com/office/drawing/2014/main" id="{4D112248-92B4-4F60-8E23-316B28B4294F}"/>
              </a:ext>
            </a:extLst>
          </p:cNvPr>
          <p:cNvSpPr>
            <a:spLocks noGrp="1"/>
          </p:cNvSpPr>
          <p:nvPr>
            <p:ph idx="1"/>
          </p:nvPr>
        </p:nvSpPr>
        <p:spPr>
          <a:xfrm>
            <a:off x="2589212" y="1540189"/>
            <a:ext cx="8915400" cy="3777622"/>
          </a:xfrm>
        </p:spPr>
        <p:txBody>
          <a:bodyPr>
            <a:normAutofit/>
          </a:bodyPr>
          <a:lstStyle/>
          <a:p>
            <a:r>
              <a:rPr lang="en-US" sz="2000" b="0" i="0" dirty="0">
                <a:solidFill>
                  <a:schemeClr val="tx1"/>
                </a:solidFill>
                <a:effectLst/>
                <a:latin typeface="Times New Roman" panose="02020603050405020304" pitchFamily="18" charset="0"/>
                <a:cs typeface="Times New Roman" panose="02020603050405020304" pitchFamily="18" charset="0"/>
              </a:rPr>
              <a:t>the ability to load and execute a given program into memory</a:t>
            </a:r>
          </a:p>
          <a:p>
            <a:r>
              <a:rPr lang="en-US" sz="2000" b="0" i="0" dirty="0">
                <a:solidFill>
                  <a:schemeClr val="tx1"/>
                </a:solidFill>
                <a:effectLst/>
                <a:latin typeface="Times New Roman" panose="02020603050405020304" pitchFamily="18" charset="0"/>
                <a:cs typeface="Times New Roman" panose="02020603050405020304" pitchFamily="18" charset="0"/>
              </a:rPr>
              <a:t>the program may be loaded at different memory locations, which are called physical addresses</a:t>
            </a:r>
            <a:endParaRPr lang="en-US" sz="2000" dirty="0">
              <a:solidFill>
                <a:schemeClr val="tx1"/>
              </a:solidFill>
              <a:latin typeface="Times New Roman" panose="02020603050405020304" pitchFamily="18" charset="0"/>
              <a:cs typeface="Times New Roman" panose="02020603050405020304" pitchFamily="18" charset="0"/>
            </a:endParaRPr>
          </a:p>
          <a:p>
            <a:r>
              <a:rPr lang="en-US" sz="2000" i="0" dirty="0">
                <a:solidFill>
                  <a:schemeClr val="tx1"/>
                </a:solidFill>
                <a:effectLst/>
                <a:latin typeface="Times New Roman" panose="02020603050405020304" pitchFamily="18" charset="0"/>
                <a:cs typeface="Times New Roman" panose="02020603050405020304" pitchFamily="18" charset="0"/>
              </a:rPr>
              <a:t>Relocation is way to map logical addresses into physical addresses</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81C7871-A70A-4ACD-9E11-63A7CF784C5D}"/>
              </a:ext>
            </a:extLst>
          </p:cNvPr>
          <p:cNvPicPr>
            <a:picLocks noChangeAspect="1"/>
          </p:cNvPicPr>
          <p:nvPr/>
        </p:nvPicPr>
        <p:blipFill>
          <a:blip r:embed="rId2"/>
          <a:stretch>
            <a:fillRect/>
          </a:stretch>
        </p:blipFill>
        <p:spPr>
          <a:xfrm>
            <a:off x="2971348" y="3080377"/>
            <a:ext cx="7892270" cy="3704001"/>
          </a:xfrm>
          <a:prstGeom prst="rect">
            <a:avLst/>
          </a:prstGeom>
        </p:spPr>
      </p:pic>
    </p:spTree>
    <p:extLst>
      <p:ext uri="{BB962C8B-B14F-4D97-AF65-F5344CB8AC3E}">
        <p14:creationId xmlns:p14="http://schemas.microsoft.com/office/powerpoint/2010/main" val="715603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68663-FC3E-4FED-9469-468E83B3B9A7}"/>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Types of Relocation – Static and Dynamic</a:t>
            </a:r>
          </a:p>
        </p:txBody>
      </p:sp>
      <p:sp>
        <p:nvSpPr>
          <p:cNvPr id="3" name="Content Placeholder 2">
            <a:extLst>
              <a:ext uri="{FF2B5EF4-FFF2-40B4-BE49-F238E27FC236}">
                <a16:creationId xmlns:a16="http://schemas.microsoft.com/office/drawing/2014/main" id="{60396509-56E2-4068-B161-76F9DF8FD9B0}"/>
              </a:ext>
            </a:extLst>
          </p:cNvPr>
          <p:cNvSpPr>
            <a:spLocks noGrp="1"/>
          </p:cNvSpPr>
          <p:nvPr>
            <p:ph idx="1"/>
          </p:nvPr>
        </p:nvSpPr>
        <p:spPr/>
        <p:txBody>
          <a:bodyPr>
            <a:normAutofit/>
          </a:bodyPr>
          <a:lstStyle/>
          <a:p>
            <a:r>
              <a:rPr lang="en-US" sz="2000" b="1" dirty="0">
                <a:solidFill>
                  <a:schemeClr val="tx1"/>
                </a:solidFill>
                <a:latin typeface="Times New Roman" panose="02020603050405020304" pitchFamily="18" charset="0"/>
                <a:cs typeface="Times New Roman" panose="02020603050405020304" pitchFamily="18" charset="0"/>
              </a:rPr>
              <a:t>Static</a:t>
            </a:r>
          </a:p>
          <a:p>
            <a:pPr marL="682625">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Program must be relocated before or during loading of process into memory</a:t>
            </a:r>
          </a:p>
          <a:p>
            <a:pPr marL="682625">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Program must be loaded into same memory address space in memory</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b="1" dirty="0">
                <a:solidFill>
                  <a:schemeClr val="tx1"/>
                </a:solidFill>
                <a:latin typeface="Times New Roman" panose="02020603050405020304" pitchFamily="18" charset="0"/>
                <a:cs typeface="Times New Roman" panose="02020603050405020304" pitchFamily="18" charset="0"/>
              </a:rPr>
              <a:t>Dynamic</a:t>
            </a:r>
          </a:p>
          <a:p>
            <a:pPr marL="682625">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Process can be freely moved around the memory</a:t>
            </a:r>
          </a:p>
          <a:p>
            <a:pPr marL="682625">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Logical-to-Physical address mapping can be done at run time</a:t>
            </a:r>
          </a:p>
        </p:txBody>
      </p:sp>
    </p:spTree>
    <p:extLst>
      <p:ext uri="{BB962C8B-B14F-4D97-AF65-F5344CB8AC3E}">
        <p14:creationId xmlns:p14="http://schemas.microsoft.com/office/powerpoint/2010/main" val="1449540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3AC23-6AAA-492B-A795-986ABE2C2211}"/>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Protection</a:t>
            </a:r>
          </a:p>
        </p:txBody>
      </p:sp>
      <p:sp>
        <p:nvSpPr>
          <p:cNvPr id="3" name="Content Placeholder 2">
            <a:extLst>
              <a:ext uri="{FF2B5EF4-FFF2-40B4-BE49-F238E27FC236}">
                <a16:creationId xmlns:a16="http://schemas.microsoft.com/office/drawing/2014/main" id="{99B9CEAF-CE30-4A89-A44F-7E0EBE098520}"/>
              </a:ext>
            </a:extLst>
          </p:cNvPr>
          <p:cNvSpPr>
            <a:spLocks noGrp="1"/>
          </p:cNvSpPr>
          <p:nvPr>
            <p:ph idx="1"/>
          </p:nvPr>
        </p:nvSpPr>
        <p:spPr>
          <a:xfrm>
            <a:off x="2589212" y="1546746"/>
            <a:ext cx="8915400" cy="4826758"/>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A way to control memory access rights on a computer – </a:t>
            </a:r>
            <a:r>
              <a:rPr lang="en-US" sz="2000" b="1" dirty="0">
                <a:solidFill>
                  <a:schemeClr val="tx1"/>
                </a:solidFill>
                <a:latin typeface="Times New Roman" panose="02020603050405020304" pitchFamily="18" charset="0"/>
                <a:cs typeface="Times New Roman" panose="02020603050405020304" pitchFamily="18" charset="0"/>
              </a:rPr>
              <a:t>memory protection</a:t>
            </a:r>
          </a:p>
          <a:p>
            <a:endParaRPr lang="en-US" sz="2000" b="1"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Main purpose is to prevent the process or program from accessing the memory that has not been allocated to it</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Prevents malware or bugs present in the process to affect other process in the memory</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Prevent data and instructions to be overwritten – </a:t>
            </a:r>
            <a:r>
              <a:rPr lang="en-US" sz="2000" b="1" dirty="0">
                <a:solidFill>
                  <a:schemeClr val="tx1"/>
                </a:solidFill>
                <a:latin typeface="Times New Roman" panose="02020603050405020304" pitchFamily="18" charset="0"/>
                <a:cs typeface="Times New Roman" panose="02020603050405020304" pitchFamily="18" charset="0"/>
              </a:rPr>
              <a:t>write protection</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Ensure the privacy of data and instruction – </a:t>
            </a:r>
            <a:r>
              <a:rPr lang="en-US" sz="2000" b="1" dirty="0">
                <a:solidFill>
                  <a:schemeClr val="tx1"/>
                </a:solidFill>
                <a:latin typeface="Times New Roman" panose="02020603050405020304" pitchFamily="18" charset="0"/>
                <a:cs typeface="Times New Roman" panose="02020603050405020304" pitchFamily="18" charset="0"/>
              </a:rPr>
              <a:t>read protection</a:t>
            </a:r>
          </a:p>
          <a:p>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1104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F9D4A-803E-467B-BFC5-131E331547F8}"/>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Addresses</a:t>
            </a:r>
          </a:p>
        </p:txBody>
      </p:sp>
      <p:sp>
        <p:nvSpPr>
          <p:cNvPr id="3" name="Content Placeholder 2">
            <a:extLst>
              <a:ext uri="{FF2B5EF4-FFF2-40B4-BE49-F238E27FC236}">
                <a16:creationId xmlns:a16="http://schemas.microsoft.com/office/drawing/2014/main" id="{4A5506F0-9337-48AD-A835-C19D358379AF}"/>
              </a:ext>
            </a:extLst>
          </p:cNvPr>
          <p:cNvSpPr>
            <a:spLocks noGrp="1"/>
          </p:cNvSpPr>
          <p:nvPr>
            <p:ph idx="1"/>
          </p:nvPr>
        </p:nvSpPr>
        <p:spPr>
          <a:xfrm>
            <a:off x="2592925" y="1396621"/>
            <a:ext cx="8915400" cy="3777622"/>
          </a:xfrm>
        </p:spPr>
        <p:txBody>
          <a:bodyPr>
            <a:normAutofit/>
          </a:bodyPr>
          <a:lstStyle/>
          <a:p>
            <a:r>
              <a:rPr lang="en-US" sz="2000" b="1" dirty="0">
                <a:solidFill>
                  <a:schemeClr val="tx1"/>
                </a:solidFill>
                <a:latin typeface="Times New Roman" panose="02020603050405020304" pitchFamily="18" charset="0"/>
                <a:cs typeface="Times New Roman" panose="02020603050405020304" pitchFamily="18" charset="0"/>
              </a:rPr>
              <a:t>Logical Address: </a:t>
            </a:r>
            <a:r>
              <a:rPr lang="en-US" sz="2000" dirty="0">
                <a:solidFill>
                  <a:schemeClr val="tx1"/>
                </a:solidFill>
                <a:latin typeface="Times New Roman" panose="02020603050405020304" pitchFamily="18" charset="0"/>
                <a:cs typeface="Times New Roman" panose="02020603050405020304" pitchFamily="18" charset="0"/>
              </a:rPr>
              <a:t>These addresses are generated by CPU and also known as virtual address</a:t>
            </a:r>
          </a:p>
          <a:p>
            <a:r>
              <a:rPr lang="en-US" sz="2000" b="1" dirty="0">
                <a:solidFill>
                  <a:schemeClr val="tx1"/>
                </a:solidFill>
                <a:latin typeface="Times New Roman" panose="02020603050405020304" pitchFamily="18" charset="0"/>
                <a:cs typeface="Times New Roman" panose="02020603050405020304" pitchFamily="18" charset="0"/>
              </a:rPr>
              <a:t>Physical Address: </a:t>
            </a:r>
            <a:r>
              <a:rPr lang="en-US" sz="2000" dirty="0">
                <a:solidFill>
                  <a:schemeClr val="tx1"/>
                </a:solidFill>
                <a:latin typeface="Times New Roman" panose="02020603050405020304" pitchFamily="18" charset="0"/>
                <a:cs typeface="Times New Roman" panose="02020603050405020304" pitchFamily="18" charset="0"/>
              </a:rPr>
              <a:t>These address are actual addresses loaded into memory address register</a:t>
            </a:r>
          </a:p>
          <a:p>
            <a:r>
              <a:rPr lang="en-US" sz="2000" dirty="0">
                <a:solidFill>
                  <a:schemeClr val="tx1"/>
                </a:solidFill>
                <a:latin typeface="Times New Roman" panose="02020603050405020304" pitchFamily="18" charset="0"/>
                <a:cs typeface="Times New Roman" panose="02020603050405020304" pitchFamily="18" charset="0"/>
              </a:rPr>
              <a:t>Mapping uses two register: </a:t>
            </a:r>
            <a:r>
              <a:rPr lang="en-US" sz="2000" b="1" dirty="0">
                <a:solidFill>
                  <a:schemeClr val="tx1"/>
                </a:solidFill>
                <a:latin typeface="Times New Roman" panose="02020603050405020304" pitchFamily="18" charset="0"/>
                <a:cs typeface="Times New Roman" panose="02020603050405020304" pitchFamily="18" charset="0"/>
              </a:rPr>
              <a:t>Base</a:t>
            </a:r>
            <a:r>
              <a:rPr lang="en-US" sz="2000" dirty="0">
                <a:solidFill>
                  <a:schemeClr val="tx1"/>
                </a:solidFill>
                <a:latin typeface="Times New Roman" panose="02020603050405020304" pitchFamily="18" charset="0"/>
                <a:cs typeface="Times New Roman" panose="02020603050405020304" pitchFamily="18" charset="0"/>
              </a:rPr>
              <a:t> and </a:t>
            </a:r>
            <a:r>
              <a:rPr lang="en-US" sz="2000" b="1" dirty="0">
                <a:solidFill>
                  <a:schemeClr val="tx1"/>
                </a:solidFill>
                <a:latin typeface="Times New Roman" panose="02020603050405020304" pitchFamily="18" charset="0"/>
                <a:cs typeface="Times New Roman" panose="02020603050405020304" pitchFamily="18" charset="0"/>
              </a:rPr>
              <a:t>Limit </a:t>
            </a:r>
            <a:r>
              <a:rPr lang="en-US" sz="2000" dirty="0">
                <a:solidFill>
                  <a:schemeClr val="tx1"/>
                </a:solidFill>
                <a:latin typeface="Times New Roman" panose="02020603050405020304" pitchFamily="18" charset="0"/>
                <a:cs typeface="Times New Roman" panose="02020603050405020304" pitchFamily="18" charset="0"/>
              </a:rPr>
              <a:t>registers</a:t>
            </a:r>
          </a:p>
        </p:txBody>
      </p:sp>
      <p:pic>
        <p:nvPicPr>
          <p:cNvPr id="5" name="Picture 4">
            <a:extLst>
              <a:ext uri="{FF2B5EF4-FFF2-40B4-BE49-F238E27FC236}">
                <a16:creationId xmlns:a16="http://schemas.microsoft.com/office/drawing/2014/main" id="{8A1F4849-210A-4A42-B485-BF97BFDF2083}"/>
              </a:ext>
            </a:extLst>
          </p:cNvPr>
          <p:cNvPicPr>
            <a:picLocks noChangeAspect="1"/>
          </p:cNvPicPr>
          <p:nvPr/>
        </p:nvPicPr>
        <p:blipFill>
          <a:blip r:embed="rId2"/>
          <a:stretch>
            <a:fillRect/>
          </a:stretch>
        </p:blipFill>
        <p:spPr>
          <a:xfrm>
            <a:off x="2835464" y="3337332"/>
            <a:ext cx="7686959" cy="3520668"/>
          </a:xfrm>
          <a:prstGeom prst="rect">
            <a:avLst/>
          </a:prstGeom>
        </p:spPr>
      </p:pic>
    </p:spTree>
    <p:extLst>
      <p:ext uri="{BB962C8B-B14F-4D97-AF65-F5344CB8AC3E}">
        <p14:creationId xmlns:p14="http://schemas.microsoft.com/office/powerpoint/2010/main" val="3626880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14F8B-9014-4639-8666-BFC8EB4E3D8C}"/>
              </a:ext>
            </a:extLst>
          </p:cNvPr>
          <p:cNvSpPr>
            <a:spLocks noGrp="1"/>
          </p:cNvSpPr>
          <p:nvPr>
            <p:ph type="title"/>
          </p:nvPr>
        </p:nvSpPr>
        <p:spPr/>
        <p:txBody>
          <a:bodyPr/>
          <a:lstStyle/>
          <a:p>
            <a:r>
              <a:rPr lang="en-US" dirty="0"/>
              <a:t>Base and Limit Registers</a:t>
            </a:r>
          </a:p>
        </p:txBody>
      </p:sp>
      <p:pic>
        <p:nvPicPr>
          <p:cNvPr id="4" name="Picture 5">
            <a:extLst>
              <a:ext uri="{FF2B5EF4-FFF2-40B4-BE49-F238E27FC236}">
                <a16:creationId xmlns:a16="http://schemas.microsoft.com/office/drawing/2014/main" id="{96026784-FE54-4745-B8DE-AF9E2784F2E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82008" y="1792406"/>
            <a:ext cx="4029732" cy="4441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026D426-30CE-4EC2-A861-EAA91F69FEF6}"/>
              </a:ext>
            </a:extLst>
          </p:cNvPr>
          <p:cNvSpPr txBox="1"/>
          <p:nvPr/>
        </p:nvSpPr>
        <p:spPr>
          <a:xfrm>
            <a:off x="7456396" y="4317010"/>
            <a:ext cx="955344" cy="369332"/>
          </a:xfrm>
          <a:prstGeom prst="rect">
            <a:avLst/>
          </a:prstGeom>
          <a:solidFill>
            <a:schemeClr val="bg1">
              <a:lumMod val="75000"/>
            </a:schemeClr>
          </a:solidFill>
          <a:ln>
            <a:solidFill>
              <a:schemeClr val="tx1"/>
            </a:solidFill>
          </a:ln>
        </p:spPr>
        <p:txBody>
          <a:bodyPr wrap="square" rtlCol="0">
            <a:spAutoFit/>
          </a:bodyPr>
          <a:lstStyle/>
          <a:p>
            <a:r>
              <a:rPr lang="en-US" dirty="0"/>
              <a:t>420940</a:t>
            </a:r>
          </a:p>
        </p:txBody>
      </p:sp>
      <p:sp>
        <p:nvSpPr>
          <p:cNvPr id="3" name="TextBox 2">
            <a:extLst>
              <a:ext uri="{FF2B5EF4-FFF2-40B4-BE49-F238E27FC236}">
                <a16:creationId xmlns:a16="http://schemas.microsoft.com/office/drawing/2014/main" id="{89AD2E0C-0E99-ACAF-ED4F-7C0E6129A8AF}"/>
              </a:ext>
            </a:extLst>
          </p:cNvPr>
          <p:cNvSpPr txBox="1"/>
          <p:nvPr/>
        </p:nvSpPr>
        <p:spPr>
          <a:xfrm>
            <a:off x="7677338" y="4794984"/>
            <a:ext cx="615635"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976364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B35D6-862B-0092-2D97-9D03CAD2CB5D}"/>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Modelling Multiprogramming</a:t>
            </a:r>
          </a:p>
        </p:txBody>
      </p:sp>
      <p:sp>
        <p:nvSpPr>
          <p:cNvPr id="3" name="Content Placeholder 2">
            <a:extLst>
              <a:ext uri="{FF2B5EF4-FFF2-40B4-BE49-F238E27FC236}">
                <a16:creationId xmlns:a16="http://schemas.microsoft.com/office/drawing/2014/main" id="{DC3A53F0-5FAA-DE5E-0584-FE2016468734}"/>
              </a:ext>
            </a:extLst>
          </p:cNvPr>
          <p:cNvSpPr>
            <a:spLocks noGrp="1"/>
          </p:cNvSpPr>
          <p:nvPr>
            <p:ph idx="1"/>
          </p:nvPr>
        </p:nvSpPr>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In monoprogramming, CPU utilization is (1-p)</a:t>
            </a:r>
          </a:p>
          <a:p>
            <a:pPr lvl="1"/>
            <a:r>
              <a:rPr lang="en-US" sz="2000" dirty="0">
                <a:solidFill>
                  <a:schemeClr val="tx1"/>
                </a:solidFill>
                <a:latin typeface="Times New Roman" panose="02020603050405020304" pitchFamily="18" charset="0"/>
                <a:cs typeface="Times New Roman" panose="02020603050405020304" pitchFamily="18" charset="0"/>
              </a:rPr>
              <a:t>where, p is often &gt; 0.5 which shows the utilization of CPU is poor</a:t>
            </a:r>
          </a:p>
          <a:p>
            <a:pPr lvl="1"/>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In multiprogramming, CPU utilization is (1-p</a:t>
            </a:r>
            <a:r>
              <a:rPr lang="en-US" sz="2000" baseline="30000" dirty="0">
                <a:solidFill>
                  <a:schemeClr val="tx1"/>
                </a:solidFill>
                <a:latin typeface="Times New Roman" panose="02020603050405020304" pitchFamily="18" charset="0"/>
                <a:cs typeface="Times New Roman" panose="02020603050405020304" pitchFamily="18" charset="0"/>
              </a:rPr>
              <a:t>n</a:t>
            </a:r>
            <a:r>
              <a:rPr lang="en-US" sz="2000" dirty="0">
                <a:solidFill>
                  <a:schemeClr val="tx1"/>
                </a:solidFill>
                <a:latin typeface="Times New Roman" panose="02020603050405020304" pitchFamily="18" charset="0"/>
                <a:cs typeface="Times New Roman" panose="02020603050405020304" pitchFamily="18" charset="0"/>
              </a:rPr>
              <a:t>)</a:t>
            </a:r>
          </a:p>
          <a:p>
            <a:pPr lvl="1"/>
            <a:r>
              <a:rPr lang="en-US" sz="2000" dirty="0">
                <a:solidFill>
                  <a:schemeClr val="tx1"/>
                </a:solidFill>
                <a:latin typeface="Times New Roman" panose="02020603050405020304" pitchFamily="18" charset="0"/>
                <a:cs typeface="Times New Roman" panose="02020603050405020304" pitchFamily="18" charset="0"/>
              </a:rPr>
              <a:t>where, n is the number of processes in memory waiting for I/O</a:t>
            </a:r>
          </a:p>
        </p:txBody>
      </p:sp>
    </p:spTree>
    <p:extLst>
      <p:ext uri="{BB962C8B-B14F-4D97-AF65-F5344CB8AC3E}">
        <p14:creationId xmlns:p14="http://schemas.microsoft.com/office/powerpoint/2010/main" val="873056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9A08C-3A79-BE97-0AA5-6D1E0F9E1742}"/>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Fragmentation</a:t>
            </a:r>
          </a:p>
        </p:txBody>
      </p:sp>
      <p:sp>
        <p:nvSpPr>
          <p:cNvPr id="3" name="Content Placeholder 2">
            <a:extLst>
              <a:ext uri="{FF2B5EF4-FFF2-40B4-BE49-F238E27FC236}">
                <a16:creationId xmlns:a16="http://schemas.microsoft.com/office/drawing/2014/main" id="{EDB0EBF8-7A3B-163D-E987-4DDC6C2146DD}"/>
              </a:ext>
            </a:extLst>
          </p:cNvPr>
          <p:cNvSpPr>
            <a:spLocks noGrp="1"/>
          </p:cNvSpPr>
          <p:nvPr>
            <p:ph idx="1"/>
          </p:nvPr>
        </p:nvSpPr>
        <p:spPr>
          <a:xfrm>
            <a:off x="2589212" y="1667435"/>
            <a:ext cx="8915400" cy="5059935"/>
          </a:xfrm>
        </p:spPr>
        <p:txBody>
          <a:bodyPr>
            <a:normAutofit/>
          </a:bodyPr>
          <a:lstStyle/>
          <a:p>
            <a:r>
              <a:rPr lang="en-US" sz="2000" b="0" i="0" dirty="0">
                <a:solidFill>
                  <a:schemeClr val="tx1"/>
                </a:solidFill>
                <a:effectLst/>
                <a:latin typeface="Times New Roman" panose="02020603050405020304" pitchFamily="18" charset="0"/>
                <a:cs typeface="Times New Roman" panose="02020603050405020304" pitchFamily="18" charset="0"/>
              </a:rPr>
              <a:t>Divided into multiple small parts</a:t>
            </a:r>
          </a:p>
          <a:p>
            <a:r>
              <a:rPr lang="en-US" sz="2000" b="0" i="0" dirty="0">
                <a:solidFill>
                  <a:schemeClr val="tx1"/>
                </a:solidFill>
                <a:effectLst/>
                <a:latin typeface="Times New Roman" panose="02020603050405020304" pitchFamily="18" charset="0"/>
                <a:cs typeface="Times New Roman" panose="02020603050405020304" pitchFamily="18" charset="0"/>
              </a:rPr>
              <a:t>the process is loaded and unloaded from memory, there exists free space which are fragmented that cannot be allocated to incoming processes</a:t>
            </a:r>
          </a:p>
          <a:p>
            <a:r>
              <a:rPr lang="en-US" sz="2000" dirty="0">
                <a:solidFill>
                  <a:schemeClr val="tx1"/>
                </a:solidFill>
                <a:latin typeface="Times New Roman" panose="02020603050405020304" pitchFamily="18" charset="0"/>
                <a:cs typeface="Times New Roman" panose="02020603050405020304" pitchFamily="18" charset="0"/>
              </a:rPr>
              <a:t>It is an unwanted problem is OS</a:t>
            </a:r>
          </a:p>
          <a:p>
            <a:r>
              <a:rPr lang="en-US" sz="2000" dirty="0">
                <a:solidFill>
                  <a:schemeClr val="tx1"/>
                </a:solidFill>
                <a:latin typeface="Times New Roman" panose="02020603050405020304" pitchFamily="18" charset="0"/>
                <a:cs typeface="Times New Roman" panose="02020603050405020304" pitchFamily="18" charset="0"/>
              </a:rPr>
              <a:t>Two types of fragmentation:</a:t>
            </a:r>
          </a:p>
          <a:p>
            <a:pPr marL="858838">
              <a:buFont typeface="Wingdings" panose="05000000000000000000" pitchFamily="2" charset="2"/>
              <a:buChar char="Ø"/>
            </a:pPr>
            <a:r>
              <a:rPr lang="en-US" sz="2000" b="1" dirty="0">
                <a:solidFill>
                  <a:schemeClr val="tx1"/>
                </a:solidFill>
                <a:latin typeface="Times New Roman" panose="02020603050405020304" pitchFamily="18" charset="0"/>
                <a:cs typeface="Times New Roman" panose="02020603050405020304" pitchFamily="18" charset="0"/>
              </a:rPr>
              <a:t>Internal Fragmentation </a:t>
            </a:r>
            <a:r>
              <a:rPr lang="en-US" sz="2000" dirty="0">
                <a:solidFill>
                  <a:schemeClr val="tx1"/>
                </a:solidFill>
                <a:latin typeface="Times New Roman" panose="02020603050405020304" pitchFamily="18" charset="0"/>
                <a:cs typeface="Times New Roman" panose="02020603050405020304" pitchFamily="18" charset="0"/>
              </a:rPr>
              <a:t>- </a:t>
            </a:r>
            <a:r>
              <a:rPr lang="en-US" sz="2000" b="0" i="0" dirty="0">
                <a:solidFill>
                  <a:schemeClr val="tx1"/>
                </a:solidFill>
                <a:effectLst/>
                <a:latin typeface="Times New Roman" panose="02020603050405020304" pitchFamily="18" charset="0"/>
                <a:cs typeface="Times New Roman" panose="02020603050405020304" pitchFamily="18" charset="0"/>
              </a:rPr>
              <a:t>if the process is smaller than the amount of memory requested, a free space is created in the given memory block. Due to this, the free space of the memory block is unused, which causes </a:t>
            </a:r>
            <a:r>
              <a:rPr lang="en-US" sz="2000" i="0" dirty="0">
                <a:solidFill>
                  <a:schemeClr val="tx1"/>
                </a:solidFill>
                <a:effectLst/>
                <a:latin typeface="Times New Roman" panose="02020603050405020304" pitchFamily="18" charset="0"/>
                <a:cs typeface="Times New Roman" panose="02020603050405020304" pitchFamily="18" charset="0"/>
              </a:rPr>
              <a:t>internal</a:t>
            </a:r>
            <a:r>
              <a:rPr lang="en-US" sz="2000" b="0" i="0" dirty="0">
                <a:solidFill>
                  <a:schemeClr val="tx1"/>
                </a:solidFill>
                <a:effectLst/>
                <a:latin typeface="Times New Roman" panose="02020603050405020304" pitchFamily="18" charset="0"/>
                <a:cs typeface="Times New Roman" panose="02020603050405020304" pitchFamily="18" charset="0"/>
              </a:rPr>
              <a:t> fragmentation</a:t>
            </a:r>
            <a:endParaRPr lang="en-US" sz="2000" dirty="0">
              <a:solidFill>
                <a:schemeClr val="tx1"/>
              </a:solidFill>
              <a:latin typeface="Times New Roman" panose="02020603050405020304" pitchFamily="18" charset="0"/>
              <a:cs typeface="Times New Roman" panose="02020603050405020304" pitchFamily="18" charset="0"/>
            </a:endParaRPr>
          </a:p>
          <a:p>
            <a:pPr marL="858838">
              <a:buFont typeface="Wingdings" panose="05000000000000000000" pitchFamily="2" charset="2"/>
              <a:buChar char="Ø"/>
            </a:pPr>
            <a:r>
              <a:rPr lang="en-US" sz="2000" b="1" dirty="0">
                <a:solidFill>
                  <a:schemeClr val="tx1"/>
                </a:solidFill>
                <a:latin typeface="Times New Roman" panose="02020603050405020304" pitchFamily="18" charset="0"/>
                <a:cs typeface="Times New Roman" panose="02020603050405020304" pitchFamily="18" charset="0"/>
              </a:rPr>
              <a:t>External Fragmentation </a:t>
            </a:r>
            <a:r>
              <a:rPr lang="en-US" sz="2000" dirty="0">
                <a:solidFill>
                  <a:schemeClr val="tx1"/>
                </a:solidFill>
                <a:latin typeface="Times New Roman" panose="02020603050405020304" pitchFamily="18" charset="0"/>
                <a:cs typeface="Times New Roman" panose="02020603050405020304" pitchFamily="18" charset="0"/>
              </a:rPr>
              <a:t>- </a:t>
            </a:r>
            <a:r>
              <a:rPr lang="en-US" sz="2000" b="0" i="0" dirty="0">
                <a:solidFill>
                  <a:schemeClr val="tx1"/>
                </a:solidFill>
                <a:effectLst/>
                <a:latin typeface="Times New Roman" panose="02020603050405020304" pitchFamily="18" charset="0"/>
                <a:cs typeface="Times New Roman" panose="02020603050405020304" pitchFamily="18" charset="0"/>
              </a:rPr>
              <a:t>when a dynamic memory allocation method allocates some memory but leaves a small amount of memory unusable</a:t>
            </a: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9279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C8266-9DD9-95FE-CEDA-7556D935D784}"/>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Types of Fragmentation</a:t>
            </a:r>
          </a:p>
        </p:txBody>
      </p:sp>
      <p:pic>
        <p:nvPicPr>
          <p:cNvPr id="5" name="Content Placeholder 4">
            <a:extLst>
              <a:ext uri="{FF2B5EF4-FFF2-40B4-BE49-F238E27FC236}">
                <a16:creationId xmlns:a16="http://schemas.microsoft.com/office/drawing/2014/main" id="{4A6D52A8-3B11-4F68-869B-B40EBE27D578}"/>
              </a:ext>
            </a:extLst>
          </p:cNvPr>
          <p:cNvPicPr>
            <a:picLocks noGrp="1" noChangeAspect="1"/>
          </p:cNvPicPr>
          <p:nvPr>
            <p:ph idx="1"/>
          </p:nvPr>
        </p:nvPicPr>
        <p:blipFill>
          <a:blip r:embed="rId2"/>
          <a:stretch>
            <a:fillRect/>
          </a:stretch>
        </p:blipFill>
        <p:spPr>
          <a:xfrm>
            <a:off x="1995766" y="1723052"/>
            <a:ext cx="4219951" cy="3778250"/>
          </a:xfrm>
        </p:spPr>
      </p:pic>
      <p:pic>
        <p:nvPicPr>
          <p:cNvPr id="7" name="Picture 6">
            <a:extLst>
              <a:ext uri="{FF2B5EF4-FFF2-40B4-BE49-F238E27FC236}">
                <a16:creationId xmlns:a16="http://schemas.microsoft.com/office/drawing/2014/main" id="{FA0BC01A-E07D-D562-CCA4-20A643149D2F}"/>
              </a:ext>
            </a:extLst>
          </p:cNvPr>
          <p:cNvPicPr>
            <a:picLocks noChangeAspect="1"/>
          </p:cNvPicPr>
          <p:nvPr/>
        </p:nvPicPr>
        <p:blipFill>
          <a:blip r:embed="rId3"/>
          <a:stretch>
            <a:fillRect/>
          </a:stretch>
        </p:blipFill>
        <p:spPr>
          <a:xfrm>
            <a:off x="6812876" y="1723052"/>
            <a:ext cx="4864615" cy="3778249"/>
          </a:xfrm>
          <a:prstGeom prst="rect">
            <a:avLst/>
          </a:prstGeom>
        </p:spPr>
      </p:pic>
      <p:sp>
        <p:nvSpPr>
          <p:cNvPr id="8" name="TextBox 7">
            <a:extLst>
              <a:ext uri="{FF2B5EF4-FFF2-40B4-BE49-F238E27FC236}">
                <a16:creationId xmlns:a16="http://schemas.microsoft.com/office/drawing/2014/main" id="{CC93B50E-DDE1-A80A-3C1A-17D1D52CE822}"/>
              </a:ext>
            </a:extLst>
          </p:cNvPr>
          <p:cNvSpPr txBox="1"/>
          <p:nvPr/>
        </p:nvSpPr>
        <p:spPr>
          <a:xfrm>
            <a:off x="3564294" y="5719665"/>
            <a:ext cx="2183363"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Internal</a:t>
            </a:r>
          </a:p>
        </p:txBody>
      </p:sp>
      <p:sp>
        <p:nvSpPr>
          <p:cNvPr id="9" name="TextBox 8">
            <a:extLst>
              <a:ext uri="{FF2B5EF4-FFF2-40B4-BE49-F238E27FC236}">
                <a16:creationId xmlns:a16="http://schemas.microsoft.com/office/drawing/2014/main" id="{0302FD6A-95DD-A53B-75A2-A1B837994733}"/>
              </a:ext>
            </a:extLst>
          </p:cNvPr>
          <p:cNvSpPr txBox="1"/>
          <p:nvPr/>
        </p:nvSpPr>
        <p:spPr>
          <a:xfrm>
            <a:off x="9100457" y="5719665"/>
            <a:ext cx="2183363"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External</a:t>
            </a:r>
          </a:p>
        </p:txBody>
      </p:sp>
    </p:spTree>
    <p:extLst>
      <p:ext uri="{BB962C8B-B14F-4D97-AF65-F5344CB8AC3E}">
        <p14:creationId xmlns:p14="http://schemas.microsoft.com/office/powerpoint/2010/main" val="3669277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0547A-22BB-C3CF-23B5-EC2E85E55C0E}"/>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Bitmap or bit-vector</a:t>
            </a:r>
          </a:p>
        </p:txBody>
      </p:sp>
      <p:sp>
        <p:nvSpPr>
          <p:cNvPr id="3" name="Content Placeholder 2">
            <a:extLst>
              <a:ext uri="{FF2B5EF4-FFF2-40B4-BE49-F238E27FC236}">
                <a16:creationId xmlns:a16="http://schemas.microsoft.com/office/drawing/2014/main" id="{512E7A1D-5868-4938-5EEC-0934FA422752}"/>
              </a:ext>
            </a:extLst>
          </p:cNvPr>
          <p:cNvSpPr>
            <a:spLocks noGrp="1"/>
          </p:cNvSpPr>
          <p:nvPr>
            <p:ph idx="1"/>
          </p:nvPr>
        </p:nvSpPr>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S</a:t>
            </a:r>
            <a:r>
              <a:rPr lang="en-US" sz="2000" b="0" i="0" dirty="0">
                <a:solidFill>
                  <a:schemeClr val="tx1"/>
                </a:solidFill>
                <a:effectLst/>
                <a:latin typeface="Times New Roman" panose="02020603050405020304" pitchFamily="18" charset="0"/>
                <a:cs typeface="Times New Roman" panose="02020603050405020304" pitchFamily="18" charset="0"/>
              </a:rPr>
              <a:t>eries or collection of bits where each bit corresponds to a disk block</a:t>
            </a:r>
          </a:p>
          <a:p>
            <a:r>
              <a:rPr lang="en-US" sz="2000" dirty="0">
                <a:solidFill>
                  <a:schemeClr val="tx1"/>
                </a:solidFill>
                <a:latin typeface="Times New Roman" panose="02020603050405020304" pitchFamily="18" charset="0"/>
                <a:cs typeface="Times New Roman" panose="02020603050405020304" pitchFamily="18" charset="0"/>
              </a:rPr>
              <a:t>The bit takes two values 0 and 1</a:t>
            </a:r>
          </a:p>
          <a:p>
            <a:pPr lvl="1"/>
            <a:r>
              <a:rPr lang="en-US" sz="1800" dirty="0">
                <a:solidFill>
                  <a:schemeClr val="tx1"/>
                </a:solidFill>
                <a:latin typeface="Times New Roman" panose="02020603050405020304" pitchFamily="18" charset="0"/>
                <a:cs typeface="Times New Roman" panose="02020603050405020304" pitchFamily="18" charset="0"/>
              </a:rPr>
              <a:t>where, 0 is allocated block and 1 is  free block</a:t>
            </a:r>
          </a:p>
        </p:txBody>
      </p:sp>
      <p:pic>
        <p:nvPicPr>
          <p:cNvPr id="42" name="Picture 41">
            <a:extLst>
              <a:ext uri="{FF2B5EF4-FFF2-40B4-BE49-F238E27FC236}">
                <a16:creationId xmlns:a16="http://schemas.microsoft.com/office/drawing/2014/main" id="{F6BF6FB1-E21B-8026-65DE-B7953A7328DA}"/>
              </a:ext>
            </a:extLst>
          </p:cNvPr>
          <p:cNvPicPr>
            <a:picLocks noChangeAspect="1"/>
          </p:cNvPicPr>
          <p:nvPr/>
        </p:nvPicPr>
        <p:blipFill>
          <a:blip r:embed="rId2"/>
          <a:stretch>
            <a:fillRect/>
          </a:stretch>
        </p:blipFill>
        <p:spPr>
          <a:xfrm>
            <a:off x="3444533" y="3801942"/>
            <a:ext cx="5550814" cy="1563160"/>
          </a:xfrm>
          <a:prstGeom prst="rect">
            <a:avLst/>
          </a:prstGeom>
        </p:spPr>
      </p:pic>
    </p:spTree>
    <p:extLst>
      <p:ext uri="{BB962C8B-B14F-4D97-AF65-F5344CB8AC3E}">
        <p14:creationId xmlns:p14="http://schemas.microsoft.com/office/powerpoint/2010/main" val="3482125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1790C-4BB2-217B-627B-0230D026B565}"/>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Linked List</a:t>
            </a:r>
          </a:p>
        </p:txBody>
      </p:sp>
      <p:sp>
        <p:nvSpPr>
          <p:cNvPr id="3" name="Content Placeholder 2">
            <a:extLst>
              <a:ext uri="{FF2B5EF4-FFF2-40B4-BE49-F238E27FC236}">
                <a16:creationId xmlns:a16="http://schemas.microsoft.com/office/drawing/2014/main" id="{3B23BB8B-BE90-B9FB-9668-1B102BB3E311}"/>
              </a:ext>
            </a:extLst>
          </p:cNvPr>
          <p:cNvSpPr>
            <a:spLocks noGrp="1"/>
          </p:cNvSpPr>
          <p:nvPr>
            <p:ph idx="1"/>
          </p:nvPr>
        </p:nvSpPr>
        <p:spPr/>
        <p:txBody>
          <a:bodyPr>
            <a:normAutofit/>
          </a:bodyPr>
          <a:lstStyle/>
          <a:p>
            <a:r>
              <a:rPr lang="en-US" sz="2000" b="0" i="0" dirty="0">
                <a:solidFill>
                  <a:schemeClr val="tx1"/>
                </a:solidFill>
                <a:effectLst/>
                <a:latin typeface="Times New Roman" panose="02020603050405020304" pitchFamily="18" charset="0"/>
                <a:cs typeface="Times New Roman" panose="02020603050405020304" pitchFamily="18" charset="0"/>
              </a:rPr>
              <a:t>The free disk blocks are linked together i.e. a free block contains a pointer to the next free block</a:t>
            </a:r>
          </a:p>
          <a:p>
            <a:r>
              <a:rPr lang="en-US" sz="2000" b="0" i="0" dirty="0">
                <a:solidFill>
                  <a:schemeClr val="tx1"/>
                </a:solidFill>
                <a:effectLst/>
                <a:latin typeface="Times New Roman" panose="02020603050405020304" pitchFamily="18" charset="0"/>
                <a:cs typeface="Times New Roman" panose="02020603050405020304" pitchFamily="18" charset="0"/>
              </a:rPr>
              <a:t> The block number of the very first disk block is stored at a separate location on disk and is also cached in memory</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49C3163-B7AD-DE43-4436-1921F9526A32}"/>
              </a:ext>
            </a:extLst>
          </p:cNvPr>
          <p:cNvPicPr>
            <a:picLocks noChangeAspect="1"/>
          </p:cNvPicPr>
          <p:nvPr/>
        </p:nvPicPr>
        <p:blipFill>
          <a:blip r:embed="rId2"/>
          <a:stretch>
            <a:fillRect/>
          </a:stretch>
        </p:blipFill>
        <p:spPr>
          <a:xfrm>
            <a:off x="2182975" y="4373069"/>
            <a:ext cx="9727873" cy="646800"/>
          </a:xfrm>
          <a:prstGeom prst="rect">
            <a:avLst/>
          </a:prstGeom>
        </p:spPr>
      </p:pic>
    </p:spTree>
    <p:extLst>
      <p:ext uri="{BB962C8B-B14F-4D97-AF65-F5344CB8AC3E}">
        <p14:creationId xmlns:p14="http://schemas.microsoft.com/office/powerpoint/2010/main" val="1677742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CD1B2-67E3-E373-9A83-7D719BB816F3}"/>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Memory Allocation Strategies</a:t>
            </a:r>
          </a:p>
        </p:txBody>
      </p:sp>
      <p:sp>
        <p:nvSpPr>
          <p:cNvPr id="3" name="Content Placeholder 2">
            <a:extLst>
              <a:ext uri="{FF2B5EF4-FFF2-40B4-BE49-F238E27FC236}">
                <a16:creationId xmlns:a16="http://schemas.microsoft.com/office/drawing/2014/main" id="{8FB19F24-79EC-7671-0C24-5C7C89B0160B}"/>
              </a:ext>
            </a:extLst>
          </p:cNvPr>
          <p:cNvSpPr>
            <a:spLocks noGrp="1"/>
          </p:cNvSpPr>
          <p:nvPr>
            <p:ph idx="1"/>
          </p:nvPr>
        </p:nvSpPr>
        <p:spPr>
          <a:xfrm>
            <a:off x="2589212" y="1433803"/>
            <a:ext cx="8915400" cy="4537788"/>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First Fit</a:t>
            </a:r>
          </a:p>
          <a:p>
            <a:pPr lvl="1">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T</a:t>
            </a:r>
            <a:r>
              <a:rPr lang="en-US" sz="2000" b="0" i="0" dirty="0">
                <a:solidFill>
                  <a:schemeClr val="tx1"/>
                </a:solidFill>
                <a:effectLst/>
                <a:latin typeface="Times New Roman" panose="02020603050405020304" pitchFamily="18" charset="0"/>
                <a:cs typeface="Times New Roman" panose="02020603050405020304" pitchFamily="18" charset="0"/>
              </a:rPr>
              <a:t>he partition is allocated which is the first sufficient block from the top of memory</a:t>
            </a:r>
          </a:p>
          <a:p>
            <a:pPr lvl="1">
              <a:buFont typeface="Wingdings" panose="05000000000000000000" pitchFamily="2" charset="2"/>
              <a:buChar char="Ø"/>
            </a:pPr>
            <a:r>
              <a:rPr lang="en-US" sz="2000" b="0" i="0" dirty="0">
                <a:solidFill>
                  <a:schemeClr val="tx1"/>
                </a:solidFill>
                <a:effectLst/>
                <a:latin typeface="Times New Roman" panose="02020603050405020304" pitchFamily="18" charset="0"/>
                <a:cs typeface="Times New Roman" panose="02020603050405020304" pitchFamily="18" charset="0"/>
              </a:rPr>
              <a:t>It scans memory from the beginning and chooses the first available block that is large enough</a:t>
            </a:r>
          </a:p>
          <a:p>
            <a:pPr lvl="1">
              <a:buFont typeface="Wingdings" panose="05000000000000000000" pitchFamily="2" charset="2"/>
              <a:buChar char="Ø"/>
            </a:pPr>
            <a:r>
              <a:rPr lang="en-US" sz="2000" b="0" i="0" dirty="0">
                <a:solidFill>
                  <a:schemeClr val="tx1"/>
                </a:solidFill>
                <a:effectLst/>
                <a:latin typeface="Times New Roman" panose="02020603050405020304" pitchFamily="18" charset="0"/>
                <a:cs typeface="Times New Roman" panose="02020603050405020304" pitchFamily="18" charset="0"/>
              </a:rPr>
              <a:t>Thus it allocates the first hole that is large enough</a:t>
            </a:r>
          </a:p>
          <a:p>
            <a:pPr marL="0" indent="0">
              <a:buNone/>
            </a:pP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4D811CC-FD66-9A20-734E-75E8B4245218}"/>
              </a:ext>
            </a:extLst>
          </p:cNvPr>
          <p:cNvPicPr>
            <a:picLocks noChangeAspect="1"/>
          </p:cNvPicPr>
          <p:nvPr/>
        </p:nvPicPr>
        <p:blipFill rotWithShape="1">
          <a:blip r:embed="rId2"/>
          <a:srcRect l="2713" r="3879"/>
          <a:stretch/>
        </p:blipFill>
        <p:spPr>
          <a:xfrm>
            <a:off x="5218112" y="3702697"/>
            <a:ext cx="3881621" cy="3078587"/>
          </a:xfrm>
          <a:prstGeom prst="rect">
            <a:avLst/>
          </a:prstGeom>
        </p:spPr>
      </p:pic>
    </p:spTree>
    <p:extLst>
      <p:ext uri="{BB962C8B-B14F-4D97-AF65-F5344CB8AC3E}">
        <p14:creationId xmlns:p14="http://schemas.microsoft.com/office/powerpoint/2010/main" val="2265278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E70D8-02BC-D24B-E192-78A3743666A6}"/>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MAS (contd.)</a:t>
            </a:r>
          </a:p>
        </p:txBody>
      </p:sp>
      <p:sp>
        <p:nvSpPr>
          <p:cNvPr id="3" name="Content Placeholder 2">
            <a:extLst>
              <a:ext uri="{FF2B5EF4-FFF2-40B4-BE49-F238E27FC236}">
                <a16:creationId xmlns:a16="http://schemas.microsoft.com/office/drawing/2014/main" id="{19A24A3D-EFB8-1BAC-0347-72FAB04FAE37}"/>
              </a:ext>
            </a:extLst>
          </p:cNvPr>
          <p:cNvSpPr>
            <a:spLocks noGrp="1"/>
          </p:cNvSpPr>
          <p:nvPr>
            <p:ph idx="1"/>
          </p:nvPr>
        </p:nvSpPr>
        <p:spPr>
          <a:xfrm>
            <a:off x="2589212" y="1732383"/>
            <a:ext cx="8915400" cy="3777622"/>
          </a:xfrm>
        </p:spPr>
        <p:txBody>
          <a:bodyPr>
            <a:normAutofit/>
          </a:bodyPr>
          <a:lstStyle/>
          <a:p>
            <a:r>
              <a:rPr lang="en-US" sz="2000" b="0" i="0" dirty="0">
                <a:solidFill>
                  <a:schemeClr val="tx1"/>
                </a:solidFill>
                <a:effectLst/>
                <a:latin typeface="Times New Roman" panose="02020603050405020304" pitchFamily="18" charset="0"/>
                <a:cs typeface="Times New Roman" panose="02020603050405020304" pitchFamily="18" charset="0"/>
              </a:rPr>
              <a:t>Best Fit</a:t>
            </a:r>
          </a:p>
          <a:p>
            <a:pPr lvl="1">
              <a:buFont typeface="Wingdings" panose="05000000000000000000" pitchFamily="2" charset="2"/>
              <a:buChar char="Ø"/>
            </a:pPr>
            <a:r>
              <a:rPr lang="en-US" sz="2000" b="0" i="0" dirty="0">
                <a:solidFill>
                  <a:schemeClr val="tx1"/>
                </a:solidFill>
                <a:effectLst/>
                <a:latin typeface="Times New Roman" panose="02020603050405020304" pitchFamily="18" charset="0"/>
                <a:cs typeface="Times New Roman" panose="02020603050405020304" pitchFamily="18" charset="0"/>
              </a:rPr>
              <a:t>Allocate the process to the partition which is the first smallest sufficient partition among the free available partition</a:t>
            </a:r>
          </a:p>
          <a:p>
            <a:pPr lvl="1">
              <a:buFont typeface="Wingdings" panose="05000000000000000000" pitchFamily="2" charset="2"/>
              <a:buChar char="Ø"/>
            </a:pPr>
            <a:r>
              <a:rPr lang="en-US" sz="2000" b="0" i="0" dirty="0">
                <a:solidFill>
                  <a:schemeClr val="tx1"/>
                </a:solidFill>
                <a:effectLst/>
                <a:latin typeface="Times New Roman" panose="02020603050405020304" pitchFamily="18" charset="0"/>
                <a:cs typeface="Times New Roman" panose="02020603050405020304" pitchFamily="18" charset="0"/>
              </a:rPr>
              <a:t>It searches the entire list of holes to find the smallest hole whose size is greater than or equal to the size of the process</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3EB7905-EF78-DAEE-33BE-43DF52DA7D83}"/>
              </a:ext>
            </a:extLst>
          </p:cNvPr>
          <p:cNvPicPr>
            <a:picLocks noChangeAspect="1"/>
          </p:cNvPicPr>
          <p:nvPr/>
        </p:nvPicPr>
        <p:blipFill>
          <a:blip r:embed="rId2"/>
          <a:stretch>
            <a:fillRect/>
          </a:stretch>
        </p:blipFill>
        <p:spPr>
          <a:xfrm>
            <a:off x="3913838" y="3621193"/>
            <a:ext cx="4409068" cy="3159633"/>
          </a:xfrm>
          <a:prstGeom prst="rect">
            <a:avLst/>
          </a:prstGeom>
        </p:spPr>
      </p:pic>
    </p:spTree>
    <p:extLst>
      <p:ext uri="{BB962C8B-B14F-4D97-AF65-F5344CB8AC3E}">
        <p14:creationId xmlns:p14="http://schemas.microsoft.com/office/powerpoint/2010/main" val="153211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57DBE-321A-74BD-6D2A-B643CC98EC75}"/>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MAS (contd.)</a:t>
            </a:r>
          </a:p>
        </p:txBody>
      </p:sp>
      <p:sp>
        <p:nvSpPr>
          <p:cNvPr id="3" name="Content Placeholder 2">
            <a:extLst>
              <a:ext uri="{FF2B5EF4-FFF2-40B4-BE49-F238E27FC236}">
                <a16:creationId xmlns:a16="http://schemas.microsoft.com/office/drawing/2014/main" id="{7830709C-CD6F-0AEC-4684-2AEF059E8A67}"/>
              </a:ext>
            </a:extLst>
          </p:cNvPr>
          <p:cNvSpPr>
            <a:spLocks noGrp="1"/>
          </p:cNvSpPr>
          <p:nvPr>
            <p:ph idx="1"/>
          </p:nvPr>
        </p:nvSpPr>
        <p:spPr>
          <a:xfrm>
            <a:off x="2592925" y="1540189"/>
            <a:ext cx="8915400" cy="3777622"/>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Worst Fit</a:t>
            </a:r>
          </a:p>
          <a:p>
            <a:pPr lvl="1">
              <a:buFont typeface="Wingdings" panose="05000000000000000000" pitchFamily="2" charset="2"/>
              <a:buChar char="Ø"/>
            </a:pPr>
            <a:r>
              <a:rPr lang="en-US" sz="2000" b="0" i="0" dirty="0">
                <a:solidFill>
                  <a:schemeClr val="tx1"/>
                </a:solidFill>
                <a:effectLst/>
                <a:latin typeface="Times New Roman" panose="02020603050405020304" pitchFamily="18" charset="0"/>
                <a:cs typeface="Times New Roman" panose="02020603050405020304" pitchFamily="18" charset="0"/>
              </a:rPr>
              <a:t>Allocate the process to the partition which is the largest sufficient among the freely available partitions available in the memory</a:t>
            </a:r>
          </a:p>
          <a:p>
            <a:pPr lvl="1">
              <a:buFont typeface="Wingdings" panose="05000000000000000000" pitchFamily="2" charset="2"/>
              <a:buChar char="Ø"/>
            </a:pPr>
            <a:r>
              <a:rPr lang="en-US" sz="2000" b="0" i="0" dirty="0">
                <a:solidFill>
                  <a:schemeClr val="tx1"/>
                </a:solidFill>
                <a:effectLst/>
                <a:latin typeface="Times New Roman" panose="02020603050405020304" pitchFamily="18" charset="0"/>
                <a:cs typeface="Times New Roman" panose="02020603050405020304" pitchFamily="18" charset="0"/>
              </a:rPr>
              <a:t>It is opposite to the best-fit algorithm. It searches the entire list of holes to find the largest hole and allocate it to process</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D51DFFD-6D75-5795-DD44-E57328F810C5}"/>
              </a:ext>
            </a:extLst>
          </p:cNvPr>
          <p:cNvPicPr>
            <a:picLocks noChangeAspect="1"/>
          </p:cNvPicPr>
          <p:nvPr/>
        </p:nvPicPr>
        <p:blipFill>
          <a:blip r:embed="rId2"/>
          <a:stretch>
            <a:fillRect/>
          </a:stretch>
        </p:blipFill>
        <p:spPr>
          <a:xfrm>
            <a:off x="4823107" y="3711044"/>
            <a:ext cx="4096957" cy="2984765"/>
          </a:xfrm>
          <a:prstGeom prst="rect">
            <a:avLst/>
          </a:prstGeom>
        </p:spPr>
      </p:pic>
    </p:spTree>
    <p:extLst>
      <p:ext uri="{BB962C8B-B14F-4D97-AF65-F5344CB8AC3E}">
        <p14:creationId xmlns:p14="http://schemas.microsoft.com/office/powerpoint/2010/main" val="18030703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78646-4B13-4FAC-9CCF-ADF26D62DD76}"/>
              </a:ext>
            </a:extLst>
          </p:cNvPr>
          <p:cNvSpPr>
            <a:spLocks noGrp="1"/>
          </p:cNvSpPr>
          <p:nvPr>
            <p:ph type="title"/>
          </p:nvPr>
        </p:nvSpPr>
        <p:spPr>
          <a:xfrm>
            <a:off x="2596638" y="0"/>
            <a:ext cx="8911687" cy="1280890"/>
          </a:xfrm>
        </p:spPr>
        <p:txBody>
          <a:bodyPr/>
          <a:lstStyle/>
          <a:p>
            <a:r>
              <a:rPr lang="en-US" b="1" dirty="0">
                <a:solidFill>
                  <a:schemeClr val="tx1"/>
                </a:solidFill>
                <a:latin typeface="Times New Roman" panose="02020603050405020304" pitchFamily="18" charset="0"/>
                <a:cs typeface="Times New Roman" panose="02020603050405020304" pitchFamily="18" charset="0"/>
              </a:rPr>
              <a:t>MAS - Numerical</a:t>
            </a:r>
          </a:p>
        </p:txBody>
      </p:sp>
      <p:sp>
        <p:nvSpPr>
          <p:cNvPr id="3" name="Content Placeholder 2">
            <a:extLst>
              <a:ext uri="{FF2B5EF4-FFF2-40B4-BE49-F238E27FC236}">
                <a16:creationId xmlns:a16="http://schemas.microsoft.com/office/drawing/2014/main" id="{66ABE208-24B1-42A2-90FE-1B71D60F6D6C}"/>
              </a:ext>
            </a:extLst>
          </p:cNvPr>
          <p:cNvSpPr>
            <a:spLocks noGrp="1"/>
          </p:cNvSpPr>
          <p:nvPr>
            <p:ph idx="1"/>
          </p:nvPr>
        </p:nvSpPr>
        <p:spPr>
          <a:xfrm>
            <a:off x="2596638" y="733567"/>
            <a:ext cx="8915400" cy="5871949"/>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Given memory partitions of 100 KB, 500 KB, 200 KB, 300 KB, 600 KB in order. How would it fit under best, worst and first algorithms when processes of 212 KB, 417 KB, 112 KB and 426 KB in order needs to be executed. Which algorithm makes the most efficient use of the memory?</a:t>
            </a:r>
          </a:p>
          <a:p>
            <a:pPr>
              <a:buFont typeface="Wingdings" panose="05000000000000000000" pitchFamily="2" charset="2"/>
              <a:buChar char="Ø"/>
            </a:pP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D617A67-8253-40ED-91D5-24EE28641580}"/>
              </a:ext>
            </a:extLst>
          </p:cNvPr>
          <p:cNvSpPr txBox="1"/>
          <p:nvPr/>
        </p:nvSpPr>
        <p:spPr>
          <a:xfrm>
            <a:off x="7165076" y="2014457"/>
            <a:ext cx="2948902" cy="400110"/>
          </a:xfrm>
          <a:prstGeom prst="rect">
            <a:avLst/>
          </a:prstGeom>
          <a:noFill/>
        </p:spPr>
        <p:txBody>
          <a:bodyPr wrap="square" rtlCol="0">
            <a:spAutoFit/>
          </a:bodyPr>
          <a:lstStyle/>
          <a:p>
            <a:pPr marL="742950" lvl="1" indent="-285750">
              <a:spcBef>
                <a:spcPts val="1000"/>
              </a:spcBef>
              <a:buClr>
                <a:schemeClr val="accent1"/>
              </a:buCl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5917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78646-4B13-4FAC-9CCF-ADF26D62DD76}"/>
              </a:ext>
            </a:extLst>
          </p:cNvPr>
          <p:cNvSpPr>
            <a:spLocks noGrp="1"/>
          </p:cNvSpPr>
          <p:nvPr>
            <p:ph type="title"/>
          </p:nvPr>
        </p:nvSpPr>
        <p:spPr>
          <a:xfrm>
            <a:off x="2596638" y="0"/>
            <a:ext cx="8911687" cy="1280890"/>
          </a:xfrm>
        </p:spPr>
        <p:txBody>
          <a:bodyPr/>
          <a:lstStyle/>
          <a:p>
            <a:r>
              <a:rPr lang="en-US" b="1" dirty="0">
                <a:solidFill>
                  <a:schemeClr val="tx1"/>
                </a:solidFill>
                <a:latin typeface="Times New Roman" panose="02020603050405020304" pitchFamily="18" charset="0"/>
                <a:cs typeface="Times New Roman" panose="02020603050405020304" pitchFamily="18" charset="0"/>
              </a:rPr>
              <a:t>MAS - Numerical</a:t>
            </a:r>
          </a:p>
        </p:txBody>
      </p:sp>
      <p:sp>
        <p:nvSpPr>
          <p:cNvPr id="3" name="Content Placeholder 2">
            <a:extLst>
              <a:ext uri="{FF2B5EF4-FFF2-40B4-BE49-F238E27FC236}">
                <a16:creationId xmlns:a16="http://schemas.microsoft.com/office/drawing/2014/main" id="{66ABE208-24B1-42A2-90FE-1B71D60F6D6C}"/>
              </a:ext>
            </a:extLst>
          </p:cNvPr>
          <p:cNvSpPr>
            <a:spLocks noGrp="1"/>
          </p:cNvSpPr>
          <p:nvPr>
            <p:ph idx="1"/>
          </p:nvPr>
        </p:nvSpPr>
        <p:spPr>
          <a:xfrm>
            <a:off x="2596638" y="733567"/>
            <a:ext cx="8915400" cy="5871949"/>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Given memory partitions of 100 KB, 500 KB, 200 KB, 300 KB, 600 KB in order. How would it fit under best, worst and first algorithms when processes of 212 KB, 417 KB, 112 KB and 426 KB in order needs to be executed. Which algorithm makes the most efficient use of the memory?</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First</a:t>
            </a:r>
          </a:p>
          <a:p>
            <a:pPr lvl="1">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212- 500</a:t>
            </a:r>
          </a:p>
          <a:p>
            <a:pPr lvl="1">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417- 600</a:t>
            </a:r>
          </a:p>
          <a:p>
            <a:pPr lvl="1">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112- 288 (500-212)</a:t>
            </a:r>
          </a:p>
          <a:p>
            <a:pPr lvl="1">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426 must wait</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Best</a:t>
            </a:r>
          </a:p>
          <a:p>
            <a:pPr lvl="1">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212 - 300</a:t>
            </a:r>
          </a:p>
          <a:p>
            <a:pPr lvl="1">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417 – 500</a:t>
            </a:r>
          </a:p>
          <a:p>
            <a:pPr lvl="1">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112 – 200</a:t>
            </a:r>
          </a:p>
          <a:p>
            <a:pPr lvl="1">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426 - 600</a:t>
            </a:r>
          </a:p>
        </p:txBody>
      </p:sp>
      <p:sp>
        <p:nvSpPr>
          <p:cNvPr id="4" name="TextBox 3">
            <a:extLst>
              <a:ext uri="{FF2B5EF4-FFF2-40B4-BE49-F238E27FC236}">
                <a16:creationId xmlns:a16="http://schemas.microsoft.com/office/drawing/2014/main" id="{CD617A67-8253-40ED-91D5-24EE28641580}"/>
              </a:ext>
            </a:extLst>
          </p:cNvPr>
          <p:cNvSpPr txBox="1"/>
          <p:nvPr/>
        </p:nvSpPr>
        <p:spPr>
          <a:xfrm>
            <a:off x="7165076" y="2014457"/>
            <a:ext cx="2948902" cy="2144177"/>
          </a:xfrm>
          <a:prstGeom prst="rect">
            <a:avLst/>
          </a:prstGeom>
          <a:noFill/>
        </p:spPr>
        <p:txBody>
          <a:bodyPr wrap="square" rtlCol="0">
            <a:spAutoFit/>
          </a:bodyPr>
          <a:lstStyle/>
          <a:p>
            <a:pPr marL="742950" lvl="1" indent="-285750">
              <a:spcBef>
                <a:spcPts val="1000"/>
              </a:spcBef>
              <a:buClr>
                <a:schemeClr val="accent1"/>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Worst</a:t>
            </a:r>
          </a:p>
          <a:p>
            <a:pPr marL="1200150" lvl="2" indent="-285750">
              <a:spcBef>
                <a:spcPts val="1000"/>
              </a:spcBef>
              <a:buClr>
                <a:schemeClr val="accent1"/>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212 – 600</a:t>
            </a:r>
          </a:p>
          <a:p>
            <a:pPr marL="1200150" lvl="2" indent="-285750">
              <a:spcBef>
                <a:spcPts val="1000"/>
              </a:spcBef>
              <a:buClr>
                <a:schemeClr val="accent1"/>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417 – 500</a:t>
            </a:r>
          </a:p>
          <a:p>
            <a:pPr marL="1200150" lvl="2" indent="-285750">
              <a:spcBef>
                <a:spcPts val="1000"/>
              </a:spcBef>
              <a:buClr>
                <a:schemeClr val="accent1"/>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112 – 388</a:t>
            </a:r>
          </a:p>
          <a:p>
            <a:pPr marL="1200150" lvl="2" indent="-285750">
              <a:spcBef>
                <a:spcPts val="1000"/>
              </a:spcBef>
              <a:buClr>
                <a:schemeClr val="accent1"/>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426 must wait</a:t>
            </a:r>
          </a:p>
        </p:txBody>
      </p:sp>
    </p:spTree>
    <p:extLst>
      <p:ext uri="{BB962C8B-B14F-4D97-AF65-F5344CB8AC3E}">
        <p14:creationId xmlns:p14="http://schemas.microsoft.com/office/powerpoint/2010/main" val="4901472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78646-4B13-4FAC-9CCF-ADF26D62DD76}"/>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MAS - Numerical</a:t>
            </a:r>
          </a:p>
        </p:txBody>
      </p:sp>
      <p:sp>
        <p:nvSpPr>
          <p:cNvPr id="3" name="Content Placeholder 2">
            <a:extLst>
              <a:ext uri="{FF2B5EF4-FFF2-40B4-BE49-F238E27FC236}">
                <a16:creationId xmlns:a16="http://schemas.microsoft.com/office/drawing/2014/main" id="{66ABE208-24B1-42A2-90FE-1B71D60F6D6C}"/>
              </a:ext>
            </a:extLst>
          </p:cNvPr>
          <p:cNvSpPr>
            <a:spLocks noGrp="1"/>
          </p:cNvSpPr>
          <p:nvPr>
            <p:ph idx="1"/>
          </p:nvPr>
        </p:nvSpPr>
        <p:spPr>
          <a:xfrm>
            <a:off x="2592925" y="1540189"/>
            <a:ext cx="8915400" cy="3777622"/>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Given memory partitions of 100KB, 200KB, 300KB, 400KB, 500KB in order. How would it fit under best, worst and first algorithms when processes of 202KB, 404KB and 90KB in order needs to be executed. Which algorithm makes the most efficient use of the memory?</a:t>
            </a:r>
          </a:p>
          <a:p>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51464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8D7DF-2613-4BE5-B1D8-1EC1B84A5708}"/>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Compaction</a:t>
            </a:r>
          </a:p>
        </p:txBody>
      </p:sp>
      <p:sp>
        <p:nvSpPr>
          <p:cNvPr id="3" name="Content Placeholder 2">
            <a:extLst>
              <a:ext uri="{FF2B5EF4-FFF2-40B4-BE49-F238E27FC236}">
                <a16:creationId xmlns:a16="http://schemas.microsoft.com/office/drawing/2014/main" id="{8AB0230F-7A8D-4DC3-B1C4-B6C49601F858}"/>
              </a:ext>
            </a:extLst>
          </p:cNvPr>
          <p:cNvSpPr>
            <a:spLocks noGrp="1"/>
          </p:cNvSpPr>
          <p:nvPr>
            <p:ph idx="1"/>
          </p:nvPr>
        </p:nvSpPr>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Technique to collect and combine the free spaces and relocate it so that the space is big enough to be allocated by some programs</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The merging of those free partitions and allocating according to the needs of process - </a:t>
            </a:r>
            <a:r>
              <a:rPr lang="en-US" sz="2000" b="1" dirty="0">
                <a:solidFill>
                  <a:schemeClr val="tx1"/>
                </a:solidFill>
                <a:latin typeface="Times New Roman" panose="02020603050405020304" pitchFamily="18" charset="0"/>
                <a:cs typeface="Times New Roman" panose="02020603050405020304" pitchFamily="18" charset="0"/>
              </a:rPr>
              <a:t>defragmentation</a:t>
            </a:r>
          </a:p>
        </p:txBody>
      </p:sp>
    </p:spTree>
    <p:extLst>
      <p:ext uri="{BB962C8B-B14F-4D97-AF65-F5344CB8AC3E}">
        <p14:creationId xmlns:p14="http://schemas.microsoft.com/office/powerpoint/2010/main" val="2290130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F2AEF-4D0C-4EDA-B95C-387B234CB15A}"/>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Virtual Memory</a:t>
            </a:r>
          </a:p>
        </p:txBody>
      </p:sp>
      <p:sp>
        <p:nvSpPr>
          <p:cNvPr id="3" name="Content Placeholder 2">
            <a:extLst>
              <a:ext uri="{FF2B5EF4-FFF2-40B4-BE49-F238E27FC236}">
                <a16:creationId xmlns:a16="http://schemas.microsoft.com/office/drawing/2014/main" id="{5AA3C820-FE45-452B-8AF6-F3453AFDC5FD}"/>
              </a:ext>
            </a:extLst>
          </p:cNvPr>
          <p:cNvSpPr>
            <a:spLocks noGrp="1"/>
          </p:cNvSpPr>
          <p:nvPr>
            <p:ph idx="1"/>
          </p:nvPr>
        </p:nvSpPr>
        <p:spPr>
          <a:xfrm>
            <a:off x="2592925" y="1683223"/>
            <a:ext cx="9253332" cy="4908645"/>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Combined size of the program, data, and stack may exceed the amount of physical memory available for it</a:t>
            </a:r>
          </a:p>
          <a:p>
            <a:r>
              <a:rPr lang="en-US" sz="2000" dirty="0">
                <a:solidFill>
                  <a:schemeClr val="tx1"/>
                </a:solidFill>
                <a:latin typeface="Times New Roman" panose="02020603050405020304" pitchFamily="18" charset="0"/>
                <a:cs typeface="Times New Roman" panose="02020603050405020304" pitchFamily="18" charset="0"/>
              </a:rPr>
              <a:t>The operating system keeps those parts of the program currently in use in main memory, and the rest on the disk</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Only part of the program needs to be in memory for execution</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Logical address space can therefore be much larger than physical address space</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Allows address spaces to be shared by several processes</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Allows for more efficient process creation</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More programs running concurrently</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Less I/O needed to load or swap processes</a:t>
            </a:r>
          </a:p>
          <a:p>
            <a:pPr marL="1588" lvl="1" indent="0">
              <a:buNone/>
            </a:pPr>
            <a:endParaRPr lang="en-US" altLang="en-US" sz="2000" dirty="0">
              <a:solidFill>
                <a:schemeClr val="tx1"/>
              </a:solidFill>
              <a:latin typeface="Times New Roman" panose="02020603050405020304" pitchFamily="18" charset="0"/>
              <a:cs typeface="Times New Roman" panose="02020603050405020304" pitchFamily="18" charset="0"/>
            </a:endParaRPr>
          </a:p>
          <a:p>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39617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6BDAD-529F-4D3C-8F8D-F0261DC333B7}"/>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Virtual Memory (contd.)</a:t>
            </a:r>
            <a:endParaRPr lang="en-US" dirty="0"/>
          </a:p>
        </p:txBody>
      </p:sp>
      <p:sp>
        <p:nvSpPr>
          <p:cNvPr id="3" name="Content Placeholder 2">
            <a:extLst>
              <a:ext uri="{FF2B5EF4-FFF2-40B4-BE49-F238E27FC236}">
                <a16:creationId xmlns:a16="http://schemas.microsoft.com/office/drawing/2014/main" id="{F9FA5B17-14D6-4C08-9145-0B78FC1F5FC2}"/>
              </a:ext>
            </a:extLst>
          </p:cNvPr>
          <p:cNvSpPr>
            <a:spLocks noGrp="1"/>
          </p:cNvSpPr>
          <p:nvPr>
            <p:ph idx="1"/>
          </p:nvPr>
        </p:nvSpPr>
        <p:spPr>
          <a:xfrm>
            <a:off x="2589212" y="1905000"/>
            <a:ext cx="8915400" cy="4700516"/>
          </a:xfrm>
        </p:spPr>
        <p:txBody>
          <a:bodyPr>
            <a:normAutofit/>
          </a:bodyPr>
          <a:lstStyle/>
          <a:p>
            <a:pPr algn="just"/>
            <a:r>
              <a:rPr lang="en-US" sz="2000" dirty="0">
                <a:solidFill>
                  <a:schemeClr val="tx1"/>
                </a:solidFill>
                <a:latin typeface="Times New Roman" panose="02020603050405020304" pitchFamily="18" charset="0"/>
                <a:cs typeface="Times New Roman" panose="02020603050405020304" pitchFamily="18" charset="0"/>
              </a:rPr>
              <a:t>For example, a 16-MB program can run on a 4-MB machine by carefully choosing which 4 MB to keep in memory at each instant, with pieces of the program being swapped between disk and memory as needed</a:t>
            </a:r>
          </a:p>
          <a:p>
            <a:pPr algn="just"/>
            <a:endParaRPr lang="en-US" sz="2000" dirty="0">
              <a:solidFill>
                <a:schemeClr val="tx1"/>
              </a:solidFill>
              <a:latin typeface="Times New Roman" panose="02020603050405020304" pitchFamily="18" charset="0"/>
              <a:cs typeface="Times New Roman" panose="02020603050405020304" pitchFamily="18" charset="0"/>
            </a:endParaRPr>
          </a:p>
          <a:p>
            <a:pPr algn="just"/>
            <a:r>
              <a:rPr lang="en-US" sz="2000" dirty="0">
                <a:solidFill>
                  <a:schemeClr val="tx1"/>
                </a:solidFill>
                <a:latin typeface="Times New Roman" panose="02020603050405020304" pitchFamily="18" charset="0"/>
                <a:cs typeface="Times New Roman" panose="02020603050405020304" pitchFamily="18" charset="0"/>
              </a:rPr>
              <a:t>Virtual memory can be implemented by two most commonly used methods :</a:t>
            </a:r>
          </a:p>
          <a:p>
            <a:pPr lvl="1" algn="just">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Paging</a:t>
            </a:r>
          </a:p>
          <a:p>
            <a:pPr lvl="1" algn="just">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Segmentation</a:t>
            </a:r>
          </a:p>
          <a:p>
            <a:pPr lvl="2" algn="just">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or mix of both</a:t>
            </a:r>
          </a:p>
        </p:txBody>
      </p:sp>
    </p:spTree>
    <p:extLst>
      <p:ext uri="{BB962C8B-B14F-4D97-AF65-F5344CB8AC3E}">
        <p14:creationId xmlns:p14="http://schemas.microsoft.com/office/powerpoint/2010/main" val="30892348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CD3C6-4B1F-461F-886A-46DF2808F57D}"/>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Virtual Address Space</a:t>
            </a:r>
          </a:p>
        </p:txBody>
      </p:sp>
      <p:sp>
        <p:nvSpPr>
          <p:cNvPr id="3" name="Content Placeholder 2">
            <a:extLst>
              <a:ext uri="{FF2B5EF4-FFF2-40B4-BE49-F238E27FC236}">
                <a16:creationId xmlns:a16="http://schemas.microsoft.com/office/drawing/2014/main" id="{2E5AA4BB-1DBB-4A74-92BB-B552AF38D9C6}"/>
              </a:ext>
            </a:extLst>
          </p:cNvPr>
          <p:cNvSpPr>
            <a:spLocks noGrp="1"/>
          </p:cNvSpPr>
          <p:nvPr>
            <p:ph idx="1"/>
          </p:nvPr>
        </p:nvSpPr>
        <p:spPr/>
        <p:txBody>
          <a:bodyPr>
            <a:normAutofit/>
          </a:bodyPr>
          <a:lstStyle/>
          <a:p>
            <a:r>
              <a:rPr lang="en-US" altLang="en-US" sz="2000" dirty="0">
                <a:latin typeface="Times New Roman" panose="02020603050405020304" pitchFamily="18" charset="0"/>
                <a:cs typeface="Times New Roman" panose="02020603050405020304" pitchFamily="18" charset="0"/>
              </a:rPr>
              <a:t>Logical view of how process is stored in memory</a:t>
            </a:r>
          </a:p>
          <a:p>
            <a:pPr lvl="1">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Usually start at address 0, contiguous addresses until end of space</a:t>
            </a:r>
          </a:p>
          <a:p>
            <a:pPr lvl="1">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Meanwhile, physical memory organized in page frames</a:t>
            </a:r>
          </a:p>
          <a:p>
            <a:pPr lvl="1">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MMU must map logical to physical</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33277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C2824-31F6-4AD2-937E-DF3E263C7E3A}"/>
              </a:ext>
            </a:extLst>
          </p:cNvPr>
          <p:cNvSpPr>
            <a:spLocks noGrp="1"/>
          </p:cNvSpPr>
          <p:nvPr>
            <p:ph type="title"/>
          </p:nvPr>
        </p:nvSpPr>
        <p:spPr>
          <a:xfrm>
            <a:off x="1808875" y="132791"/>
            <a:ext cx="10404143" cy="1280890"/>
          </a:xfrm>
        </p:spPr>
        <p:txBody>
          <a:bodyPr/>
          <a:lstStyle/>
          <a:p>
            <a:r>
              <a:rPr lang="en-US" altLang="en-US" sz="3600" b="1" dirty="0">
                <a:solidFill>
                  <a:schemeClr val="tx1"/>
                </a:solidFill>
                <a:latin typeface="Times New Roman" panose="02020603050405020304" pitchFamily="18" charset="0"/>
                <a:cs typeface="Times New Roman" panose="02020603050405020304" pitchFamily="18" charset="0"/>
              </a:rPr>
              <a:t>Virtual Memory That is Larger Than Physical Memory</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5" descr="9">
            <a:extLst>
              <a:ext uri="{FF2B5EF4-FFF2-40B4-BE49-F238E27FC236}">
                <a16:creationId xmlns:a16="http://schemas.microsoft.com/office/drawing/2014/main" id="{36898DFD-8B41-4FAC-B348-49AAAF6A8EE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15262" y="1051515"/>
            <a:ext cx="6951564" cy="5513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59564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9FD05-F5BD-41E0-B69B-814D64641EF8}"/>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Paging</a:t>
            </a:r>
          </a:p>
        </p:txBody>
      </p:sp>
      <p:sp>
        <p:nvSpPr>
          <p:cNvPr id="3" name="Content Placeholder 2">
            <a:extLst>
              <a:ext uri="{FF2B5EF4-FFF2-40B4-BE49-F238E27FC236}">
                <a16:creationId xmlns:a16="http://schemas.microsoft.com/office/drawing/2014/main" id="{96CF2ADC-07D1-4740-AE87-A7CD94CFBD85}"/>
              </a:ext>
            </a:extLst>
          </p:cNvPr>
          <p:cNvSpPr>
            <a:spLocks noGrp="1"/>
          </p:cNvSpPr>
          <p:nvPr>
            <p:ph idx="1"/>
          </p:nvPr>
        </p:nvSpPr>
        <p:spPr>
          <a:xfrm>
            <a:off x="2319970" y="1540189"/>
            <a:ext cx="5582084" cy="3777622"/>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The virtual address space is divided up into units - </a:t>
            </a:r>
            <a:r>
              <a:rPr lang="en-US" sz="2000" b="1" dirty="0">
                <a:solidFill>
                  <a:schemeClr val="tx1"/>
                </a:solidFill>
                <a:latin typeface="Times New Roman" panose="02020603050405020304" pitchFamily="18" charset="0"/>
                <a:cs typeface="Times New Roman" panose="02020603050405020304" pitchFamily="18" charset="0"/>
              </a:rPr>
              <a:t>pages</a:t>
            </a:r>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The corresponding units in the physical memory - </a:t>
            </a:r>
            <a:r>
              <a:rPr lang="en-US" sz="2000" b="1" dirty="0">
                <a:solidFill>
                  <a:schemeClr val="tx1"/>
                </a:solidFill>
                <a:latin typeface="Times New Roman" panose="02020603050405020304" pitchFamily="18" charset="0"/>
                <a:cs typeface="Times New Roman" panose="02020603050405020304" pitchFamily="18" charset="0"/>
              </a:rPr>
              <a:t>page frames</a:t>
            </a:r>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The pages and page frames are always the same size</a:t>
            </a:r>
          </a:p>
          <a:p>
            <a:r>
              <a:rPr lang="en-US" sz="2000" dirty="0">
                <a:solidFill>
                  <a:schemeClr val="tx1"/>
                </a:solidFill>
                <a:latin typeface="Times New Roman" panose="02020603050405020304" pitchFamily="18" charset="0"/>
                <a:cs typeface="Times New Roman" panose="02020603050405020304" pitchFamily="18" charset="0"/>
              </a:rPr>
              <a:t>Transfers between RAM and disk are always in units of a page</a:t>
            </a:r>
          </a:p>
        </p:txBody>
      </p:sp>
      <p:pic>
        <p:nvPicPr>
          <p:cNvPr id="4" name="Picture 4" descr="9">
            <a:extLst>
              <a:ext uri="{FF2B5EF4-FFF2-40B4-BE49-F238E27FC236}">
                <a16:creationId xmlns:a16="http://schemas.microsoft.com/office/drawing/2014/main" id="{F34B6026-3870-4B4E-9384-DCEFFFA4D8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9304" y="1400196"/>
            <a:ext cx="4124374" cy="470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8159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7281A-4F27-45D2-84FD-3D356B8354AB}"/>
              </a:ext>
            </a:extLst>
          </p:cNvPr>
          <p:cNvSpPr>
            <a:spLocks noGrp="1"/>
          </p:cNvSpPr>
          <p:nvPr>
            <p:ph type="title"/>
          </p:nvPr>
        </p:nvSpPr>
        <p:spPr/>
        <p:txBody>
          <a:bodyPr/>
          <a:lstStyle/>
          <a:p>
            <a:r>
              <a:rPr lang="en-US" altLang="en-US" dirty="0"/>
              <a:t>Valid-Invalid Bit</a:t>
            </a:r>
            <a:endParaRPr lang="en-US" dirty="0"/>
          </a:p>
        </p:txBody>
      </p:sp>
      <p:sp>
        <p:nvSpPr>
          <p:cNvPr id="3" name="Content Placeholder 2">
            <a:extLst>
              <a:ext uri="{FF2B5EF4-FFF2-40B4-BE49-F238E27FC236}">
                <a16:creationId xmlns:a16="http://schemas.microsoft.com/office/drawing/2014/main" id="{2A4E7761-2C0F-48D1-BDC8-0B35DAD4B650}"/>
              </a:ext>
            </a:extLst>
          </p:cNvPr>
          <p:cNvSpPr>
            <a:spLocks noGrp="1"/>
          </p:cNvSpPr>
          <p:nvPr>
            <p:ph idx="1"/>
          </p:nvPr>
        </p:nvSpPr>
        <p:spPr>
          <a:xfrm>
            <a:off x="2589212" y="2133600"/>
            <a:ext cx="5367433" cy="3777622"/>
          </a:xfrm>
        </p:spPr>
        <p:txBody>
          <a:bodyPr>
            <a:normAutofit/>
          </a:bodyPr>
          <a:lstStyle/>
          <a:p>
            <a:pPr>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rPr>
              <a:t>With each page table entry a valid–invalid bit is associated (</a:t>
            </a:r>
            <a:r>
              <a:rPr lang="en-US" altLang="en-US" sz="2000" b="1" dirty="0">
                <a:solidFill>
                  <a:schemeClr val="tx1"/>
                </a:solidFill>
                <a:latin typeface="Times New Roman" panose="02020603050405020304" pitchFamily="18" charset="0"/>
                <a:cs typeface="Times New Roman" panose="02020603050405020304" pitchFamily="18" charset="0"/>
              </a:rPr>
              <a:t>v</a:t>
            </a: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in-memory – </a:t>
            </a:r>
            <a:r>
              <a:rPr lang="en-US" altLang="en-US" sz="20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memory resident</a:t>
            </a:r>
            <a:r>
              <a:rPr lang="en-US"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sz="2000" b="1"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i</a:t>
            </a:r>
            <a:r>
              <a:rPr lang="en-US"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 not-in-memory)</a:t>
            </a:r>
          </a:p>
          <a:p>
            <a:pPr>
              <a:lnSpc>
                <a:spcPct val="90000"/>
              </a:lnSpc>
            </a:pPr>
            <a:endParaRPr lang="en-US"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pPr>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Initially valid–invalid bit is set to</a:t>
            </a:r>
            <a:r>
              <a:rPr lang="en-US" altLang="en-US" sz="20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sz="2000" b="1"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i</a:t>
            </a:r>
            <a:r>
              <a:rPr lang="en-US" altLang="en-US" sz="20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on all entries</a:t>
            </a:r>
          </a:p>
          <a:p>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4" name="Picture 1">
            <a:extLst>
              <a:ext uri="{FF2B5EF4-FFF2-40B4-BE49-F238E27FC236}">
                <a16:creationId xmlns:a16="http://schemas.microsoft.com/office/drawing/2014/main" id="{BE7112AD-2F41-4B94-803C-3B245CD400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97696" y="2038066"/>
            <a:ext cx="3816800" cy="4403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038287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85652-0445-45E1-9316-3DA3AFB12575}"/>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Address Translation Scheme</a:t>
            </a:r>
          </a:p>
        </p:txBody>
      </p:sp>
      <p:sp>
        <p:nvSpPr>
          <p:cNvPr id="3" name="Content Placeholder 2">
            <a:extLst>
              <a:ext uri="{FF2B5EF4-FFF2-40B4-BE49-F238E27FC236}">
                <a16:creationId xmlns:a16="http://schemas.microsoft.com/office/drawing/2014/main" id="{190ACF55-2C6F-4D71-AB97-BA95CB7458C0}"/>
              </a:ext>
            </a:extLst>
          </p:cNvPr>
          <p:cNvSpPr>
            <a:spLocks noGrp="1"/>
          </p:cNvSpPr>
          <p:nvPr>
            <p:ph idx="1"/>
          </p:nvPr>
        </p:nvSpPr>
        <p:spPr>
          <a:xfrm>
            <a:off x="2592925" y="1669575"/>
            <a:ext cx="8915400" cy="5086067"/>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Address generated by CPU is divided into</a:t>
            </a:r>
          </a:p>
          <a:p>
            <a:pPr lvl="1">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Page Number (p)</a:t>
            </a:r>
          </a:p>
          <a:p>
            <a:pPr lvl="2">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Used as an index into a page table which contains base address of each page in memory</a:t>
            </a:r>
          </a:p>
          <a:p>
            <a:pPr lvl="1">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Page Offset (d)</a:t>
            </a:r>
          </a:p>
          <a:p>
            <a:pPr lvl="2">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The part of a virtual address that specifies the location of a byte within a page</a:t>
            </a:r>
          </a:p>
          <a:p>
            <a:pPr lvl="2">
              <a:buFont typeface="Wingdings" panose="05000000000000000000" pitchFamily="2" charset="2"/>
              <a:buChar char="§"/>
            </a:pPr>
            <a:endParaRPr lang="en-US" sz="2000" dirty="0">
              <a:solidFill>
                <a:schemeClr val="tx1"/>
              </a:solidFill>
              <a:latin typeface="Times New Roman" panose="02020603050405020304" pitchFamily="18" charset="0"/>
              <a:cs typeface="Times New Roman" panose="02020603050405020304" pitchFamily="18" charset="0"/>
            </a:endParaRPr>
          </a:p>
          <a:p>
            <a:pPr marL="1541463" indent="-635000">
              <a:buNone/>
            </a:pPr>
            <a:r>
              <a:rPr lang="en-US" sz="2000" dirty="0">
                <a:solidFill>
                  <a:schemeClr val="tx1"/>
                </a:solidFill>
                <a:latin typeface="Times New Roman" panose="02020603050405020304" pitchFamily="18" charset="0"/>
                <a:cs typeface="Times New Roman" panose="02020603050405020304" pitchFamily="18" charset="0"/>
              </a:rPr>
              <a:t>Page Number(p)					Page offset (d)</a:t>
            </a:r>
          </a:p>
          <a:p>
            <a:pPr marL="1541463" lvl="1" indent="-635000">
              <a:buNone/>
            </a:pPr>
            <a:r>
              <a:rPr lang="en-US" sz="2000" dirty="0">
                <a:solidFill>
                  <a:schemeClr val="tx1"/>
                </a:solidFill>
                <a:latin typeface="Times New Roman" panose="02020603050405020304" pitchFamily="18" charset="0"/>
                <a:cs typeface="Times New Roman" panose="02020603050405020304" pitchFamily="18" charset="0"/>
              </a:rPr>
              <a:t>	m-n bit							n bit</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Logical address is 2</a:t>
            </a:r>
            <a:r>
              <a:rPr lang="en-US" sz="2000" baseline="30000" dirty="0">
                <a:solidFill>
                  <a:schemeClr val="tx1"/>
                </a:solidFill>
                <a:latin typeface="Times New Roman" panose="02020603050405020304" pitchFamily="18" charset="0"/>
                <a:cs typeface="Times New Roman" panose="02020603050405020304" pitchFamily="18" charset="0"/>
              </a:rPr>
              <a:t>m</a:t>
            </a:r>
            <a:r>
              <a:rPr lang="en-US" sz="2000" dirty="0">
                <a:solidFill>
                  <a:schemeClr val="tx1"/>
                </a:solidFill>
                <a:latin typeface="Times New Roman" panose="02020603050405020304" pitchFamily="18" charset="0"/>
                <a:cs typeface="Times New Roman" panose="02020603050405020304" pitchFamily="18" charset="0"/>
              </a:rPr>
              <a:t> and page size 2</a:t>
            </a:r>
            <a:r>
              <a:rPr lang="en-US" sz="2000" baseline="30000" dirty="0">
                <a:solidFill>
                  <a:schemeClr val="tx1"/>
                </a:solidFill>
                <a:latin typeface="Times New Roman" panose="02020603050405020304" pitchFamily="18" charset="0"/>
                <a:cs typeface="Times New Roman" panose="02020603050405020304" pitchFamily="18" charset="0"/>
              </a:rPr>
              <a:t>n</a:t>
            </a:r>
          </a:p>
        </p:txBody>
      </p:sp>
      <p:sp>
        <p:nvSpPr>
          <p:cNvPr id="4" name="Rectangle: Rounded Corners 3">
            <a:extLst>
              <a:ext uri="{FF2B5EF4-FFF2-40B4-BE49-F238E27FC236}">
                <a16:creationId xmlns:a16="http://schemas.microsoft.com/office/drawing/2014/main" id="{C2038B64-E03B-4498-AFB9-2AB2D3E71EF6}"/>
              </a:ext>
            </a:extLst>
          </p:cNvPr>
          <p:cNvSpPr/>
          <p:nvPr/>
        </p:nvSpPr>
        <p:spPr>
          <a:xfrm>
            <a:off x="3343703" y="4816524"/>
            <a:ext cx="5745707" cy="1064525"/>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dirty="0"/>
          </a:p>
        </p:txBody>
      </p:sp>
    </p:spTree>
    <p:extLst>
      <p:ext uri="{BB962C8B-B14F-4D97-AF65-F5344CB8AC3E}">
        <p14:creationId xmlns:p14="http://schemas.microsoft.com/office/powerpoint/2010/main" val="14567331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F5F7C-A6E4-4192-BAB8-22534DEF88F6}"/>
              </a:ext>
            </a:extLst>
          </p:cNvPr>
          <p:cNvSpPr>
            <a:spLocks noGrp="1"/>
          </p:cNvSpPr>
          <p:nvPr>
            <p:ph type="title"/>
          </p:nvPr>
        </p:nvSpPr>
        <p:spPr>
          <a:xfrm>
            <a:off x="2401857" y="327471"/>
            <a:ext cx="8911687" cy="1280890"/>
          </a:xfrm>
        </p:spPr>
        <p:txBody>
          <a:bodyPr/>
          <a:lstStyle/>
          <a:p>
            <a:r>
              <a:rPr lang="en-US" b="1" dirty="0">
                <a:solidFill>
                  <a:schemeClr val="tx1"/>
                </a:solidFill>
                <a:latin typeface="Times New Roman" panose="02020603050405020304" pitchFamily="18" charset="0"/>
                <a:cs typeface="Times New Roman" panose="02020603050405020304" pitchFamily="18" charset="0"/>
              </a:rPr>
              <a:t>Paging (contd.)</a:t>
            </a:r>
          </a:p>
        </p:txBody>
      </p:sp>
      <p:pic>
        <p:nvPicPr>
          <p:cNvPr id="5" name="Content Placeholder 4">
            <a:extLst>
              <a:ext uri="{FF2B5EF4-FFF2-40B4-BE49-F238E27FC236}">
                <a16:creationId xmlns:a16="http://schemas.microsoft.com/office/drawing/2014/main" id="{47E2EF68-E73F-45C9-B163-DF874A5827AE}"/>
              </a:ext>
            </a:extLst>
          </p:cNvPr>
          <p:cNvPicPr>
            <a:picLocks noGrp="1" noChangeAspect="1"/>
          </p:cNvPicPr>
          <p:nvPr>
            <p:ph idx="1"/>
          </p:nvPr>
        </p:nvPicPr>
        <p:blipFill>
          <a:blip r:embed="rId2"/>
          <a:stretch>
            <a:fillRect/>
          </a:stretch>
        </p:blipFill>
        <p:spPr>
          <a:xfrm>
            <a:off x="2753910" y="1189630"/>
            <a:ext cx="7864048" cy="5058422"/>
          </a:xfrm>
        </p:spPr>
      </p:pic>
    </p:spTree>
    <p:extLst>
      <p:ext uri="{BB962C8B-B14F-4D97-AF65-F5344CB8AC3E}">
        <p14:creationId xmlns:p14="http://schemas.microsoft.com/office/powerpoint/2010/main" val="5194265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3BB0A-BE39-496A-8A4A-A34D9A7AE12F}"/>
              </a:ext>
            </a:extLst>
          </p:cNvPr>
          <p:cNvSpPr>
            <a:spLocks noGrp="1"/>
          </p:cNvSpPr>
          <p:nvPr>
            <p:ph type="title"/>
          </p:nvPr>
        </p:nvSpPr>
        <p:spPr>
          <a:xfrm>
            <a:off x="2115253" y="0"/>
            <a:ext cx="8911687" cy="1280890"/>
          </a:xfrm>
        </p:spPr>
        <p:txBody>
          <a:bodyPr/>
          <a:lstStyle/>
          <a:p>
            <a:r>
              <a:rPr lang="en-US" altLang="en-US" sz="3600" b="1" dirty="0">
                <a:solidFill>
                  <a:schemeClr val="tx1"/>
                </a:solidFill>
                <a:latin typeface="Times New Roman" panose="02020603050405020304" pitchFamily="18" charset="0"/>
                <a:cs typeface="Times New Roman" panose="02020603050405020304" pitchFamily="18" charset="0"/>
              </a:rPr>
              <a:t>Page Table</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4" descr="9">
            <a:extLst>
              <a:ext uri="{FF2B5EF4-FFF2-40B4-BE49-F238E27FC236}">
                <a16:creationId xmlns:a16="http://schemas.microsoft.com/office/drawing/2014/main" id="{720371A1-BD21-4109-A7FD-61FBE9327E3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21990" y="543260"/>
            <a:ext cx="6371936" cy="618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10883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F8696-AFAE-4DD2-90D1-5303DCFAA1D9}"/>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Implementation of page table</a:t>
            </a:r>
          </a:p>
        </p:txBody>
      </p:sp>
      <p:sp>
        <p:nvSpPr>
          <p:cNvPr id="3" name="Content Placeholder 2">
            <a:extLst>
              <a:ext uri="{FF2B5EF4-FFF2-40B4-BE49-F238E27FC236}">
                <a16:creationId xmlns:a16="http://schemas.microsoft.com/office/drawing/2014/main" id="{0D15F495-48BA-4D9F-AE90-A0B7896AFFC7}"/>
              </a:ext>
            </a:extLst>
          </p:cNvPr>
          <p:cNvSpPr>
            <a:spLocks noGrp="1"/>
          </p:cNvSpPr>
          <p:nvPr>
            <p:ph idx="1"/>
          </p:nvPr>
        </p:nvSpPr>
        <p:spPr>
          <a:xfrm>
            <a:off x="2589212" y="1751463"/>
            <a:ext cx="8915400" cy="3777622"/>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Page table base register (PTBR) points to page table</a:t>
            </a:r>
          </a:p>
          <a:p>
            <a:r>
              <a:rPr lang="en-US" sz="2000" dirty="0">
                <a:solidFill>
                  <a:schemeClr val="tx1"/>
                </a:solidFill>
                <a:latin typeface="Times New Roman" panose="02020603050405020304" pitchFamily="18" charset="0"/>
                <a:cs typeface="Times New Roman" panose="02020603050405020304" pitchFamily="18" charset="0"/>
              </a:rPr>
              <a:t>Page table length register (PTLR) indicates the size of page table</a:t>
            </a:r>
          </a:p>
          <a:p>
            <a:r>
              <a:rPr lang="en-US" sz="2000" dirty="0">
                <a:solidFill>
                  <a:schemeClr val="tx1"/>
                </a:solidFill>
                <a:latin typeface="Times New Roman" panose="02020603050405020304" pitchFamily="18" charset="0"/>
                <a:cs typeface="Times New Roman" panose="02020603050405020304" pitchFamily="18" charset="0"/>
              </a:rPr>
              <a:t>Here, Every data/instruction access requires two memory accesses</a:t>
            </a:r>
          </a:p>
          <a:p>
            <a:pPr lvl="1"/>
            <a:r>
              <a:rPr lang="en-US" sz="2000" dirty="0">
                <a:solidFill>
                  <a:schemeClr val="tx1"/>
                </a:solidFill>
                <a:latin typeface="Times New Roman" panose="02020603050405020304" pitchFamily="18" charset="0"/>
                <a:cs typeface="Times New Roman" panose="02020603050405020304" pitchFamily="18" charset="0"/>
              </a:rPr>
              <a:t>One for page table another for data/instructions</a:t>
            </a:r>
          </a:p>
          <a:p>
            <a:r>
              <a:rPr lang="en-US" sz="2000" dirty="0">
                <a:solidFill>
                  <a:schemeClr val="tx1"/>
                </a:solidFill>
                <a:latin typeface="Times New Roman" panose="02020603050405020304" pitchFamily="18" charset="0"/>
                <a:cs typeface="Times New Roman" panose="02020603050405020304" pitchFamily="18" charset="0"/>
              </a:rPr>
              <a:t>The two memory access problem can be solved by using a special fast lookup hardware cache called </a:t>
            </a:r>
            <a:r>
              <a:rPr lang="en-US" sz="2000" b="1" dirty="0">
                <a:solidFill>
                  <a:schemeClr val="tx1"/>
                </a:solidFill>
                <a:latin typeface="Times New Roman" panose="02020603050405020304" pitchFamily="18" charset="0"/>
                <a:cs typeface="Times New Roman" panose="02020603050405020304" pitchFamily="18" charset="0"/>
              </a:rPr>
              <a:t>Translation look aside buffers (TLB)</a:t>
            </a:r>
          </a:p>
          <a:p>
            <a:r>
              <a:rPr lang="en-US" sz="2000" dirty="0">
                <a:solidFill>
                  <a:schemeClr val="tx1"/>
                </a:solidFill>
                <a:latin typeface="Times New Roman" panose="02020603050405020304" pitchFamily="18" charset="0"/>
                <a:cs typeface="Times New Roman" panose="02020603050405020304" pitchFamily="18" charset="0"/>
              </a:rPr>
              <a:t>TLB is typically small to  entries </a:t>
            </a:r>
          </a:p>
        </p:txBody>
      </p:sp>
    </p:spTree>
    <p:extLst>
      <p:ext uri="{BB962C8B-B14F-4D97-AF65-F5344CB8AC3E}">
        <p14:creationId xmlns:p14="http://schemas.microsoft.com/office/powerpoint/2010/main" val="16451995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4AB31-5142-415A-99FC-457CAEB54A50}"/>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Paging with TLB</a:t>
            </a:r>
          </a:p>
        </p:txBody>
      </p:sp>
      <p:pic>
        <p:nvPicPr>
          <p:cNvPr id="5" name="Content Placeholder 4">
            <a:extLst>
              <a:ext uri="{FF2B5EF4-FFF2-40B4-BE49-F238E27FC236}">
                <a16:creationId xmlns:a16="http://schemas.microsoft.com/office/drawing/2014/main" id="{E3008820-D946-4FD8-8C29-8461F22D226A}"/>
              </a:ext>
            </a:extLst>
          </p:cNvPr>
          <p:cNvPicPr>
            <a:picLocks noGrp="1" noChangeAspect="1"/>
          </p:cNvPicPr>
          <p:nvPr>
            <p:ph idx="1"/>
          </p:nvPr>
        </p:nvPicPr>
        <p:blipFill rotWithShape="1">
          <a:blip r:embed="rId2"/>
          <a:srcRect t="1158"/>
          <a:stretch/>
        </p:blipFill>
        <p:spPr>
          <a:xfrm>
            <a:off x="3449234" y="1501254"/>
            <a:ext cx="6308915" cy="5130210"/>
          </a:xfrm>
        </p:spPr>
      </p:pic>
    </p:spTree>
    <p:extLst>
      <p:ext uri="{BB962C8B-B14F-4D97-AF65-F5344CB8AC3E}">
        <p14:creationId xmlns:p14="http://schemas.microsoft.com/office/powerpoint/2010/main" val="30815201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4292B-DDF8-457B-AECC-71DC7181CDF1}"/>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Hash Page Table</a:t>
            </a:r>
          </a:p>
        </p:txBody>
      </p:sp>
      <p:pic>
        <p:nvPicPr>
          <p:cNvPr id="5" name="Content Placeholder 4">
            <a:extLst>
              <a:ext uri="{FF2B5EF4-FFF2-40B4-BE49-F238E27FC236}">
                <a16:creationId xmlns:a16="http://schemas.microsoft.com/office/drawing/2014/main" id="{99A6BE01-4027-4FE8-8854-B7E84AB5904D}"/>
              </a:ext>
            </a:extLst>
          </p:cNvPr>
          <p:cNvPicPr>
            <a:picLocks noGrp="1" noChangeAspect="1"/>
          </p:cNvPicPr>
          <p:nvPr>
            <p:ph idx="1"/>
          </p:nvPr>
        </p:nvPicPr>
        <p:blipFill>
          <a:blip r:embed="rId2"/>
          <a:stretch>
            <a:fillRect/>
          </a:stretch>
        </p:blipFill>
        <p:spPr>
          <a:xfrm>
            <a:off x="2592925" y="1785534"/>
            <a:ext cx="8133193" cy="4694015"/>
          </a:xfrm>
        </p:spPr>
      </p:pic>
    </p:spTree>
    <p:extLst>
      <p:ext uri="{BB962C8B-B14F-4D97-AF65-F5344CB8AC3E}">
        <p14:creationId xmlns:p14="http://schemas.microsoft.com/office/powerpoint/2010/main" val="36454794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BE13A-503B-4094-92B5-E3CC7AA39375}"/>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Segmentation</a:t>
            </a:r>
          </a:p>
        </p:txBody>
      </p:sp>
      <p:sp>
        <p:nvSpPr>
          <p:cNvPr id="3" name="Content Placeholder 2">
            <a:extLst>
              <a:ext uri="{FF2B5EF4-FFF2-40B4-BE49-F238E27FC236}">
                <a16:creationId xmlns:a16="http://schemas.microsoft.com/office/drawing/2014/main" id="{B778DE49-6696-4DC3-A153-FDF83FCF8021}"/>
              </a:ext>
            </a:extLst>
          </p:cNvPr>
          <p:cNvSpPr>
            <a:spLocks noGrp="1"/>
          </p:cNvSpPr>
          <p:nvPr>
            <p:ph idx="1"/>
          </p:nvPr>
        </p:nvSpPr>
        <p:spPr>
          <a:xfrm>
            <a:off x="2589212" y="1737815"/>
            <a:ext cx="8915400" cy="3777622"/>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The memory is divided into the variable size parts.</a:t>
            </a:r>
          </a:p>
          <a:p>
            <a:r>
              <a:rPr lang="en-US" sz="2000" dirty="0">
                <a:solidFill>
                  <a:schemeClr val="tx1"/>
                </a:solidFill>
                <a:latin typeface="Times New Roman" panose="02020603050405020304" pitchFamily="18" charset="0"/>
                <a:cs typeface="Times New Roman" panose="02020603050405020304" pitchFamily="18" charset="0"/>
              </a:rPr>
              <a:t>Each parts is known as segments</a:t>
            </a:r>
          </a:p>
          <a:p>
            <a:r>
              <a:rPr lang="en-US" sz="2000" dirty="0">
                <a:solidFill>
                  <a:schemeClr val="tx1"/>
                </a:solidFill>
                <a:latin typeface="Times New Roman" panose="02020603050405020304" pitchFamily="18" charset="0"/>
                <a:cs typeface="Times New Roman" panose="02020603050405020304" pitchFamily="18" charset="0"/>
              </a:rPr>
              <a:t>These segments are allocated to a process</a:t>
            </a:r>
          </a:p>
          <a:p>
            <a:r>
              <a:rPr lang="en-US" sz="2000" dirty="0">
                <a:solidFill>
                  <a:schemeClr val="tx1"/>
                </a:solidFill>
                <a:latin typeface="Times New Roman" panose="02020603050405020304" pitchFamily="18" charset="0"/>
                <a:cs typeface="Times New Roman" panose="02020603050405020304" pitchFamily="18" charset="0"/>
              </a:rPr>
              <a:t>Details about the segments are stored in a table called </a:t>
            </a:r>
            <a:r>
              <a:rPr lang="en-US" sz="2000" b="1" dirty="0">
                <a:solidFill>
                  <a:schemeClr val="tx1"/>
                </a:solidFill>
                <a:latin typeface="Times New Roman" panose="02020603050405020304" pitchFamily="18" charset="0"/>
                <a:cs typeface="Times New Roman" panose="02020603050405020304" pitchFamily="18" charset="0"/>
              </a:rPr>
              <a:t>segment table</a:t>
            </a:r>
          </a:p>
          <a:p>
            <a:r>
              <a:rPr lang="en-US" sz="2000" dirty="0">
                <a:solidFill>
                  <a:schemeClr val="tx1"/>
                </a:solidFill>
                <a:latin typeface="Times New Roman" panose="02020603050405020304" pitchFamily="18" charset="0"/>
                <a:cs typeface="Times New Roman" panose="02020603050405020304" pitchFamily="18" charset="0"/>
              </a:rPr>
              <a:t>Segment table mainly contains:</a:t>
            </a:r>
          </a:p>
          <a:p>
            <a:pPr lvl="1">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Base Address</a:t>
            </a:r>
          </a:p>
          <a:p>
            <a:pPr lvl="1">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Limit</a:t>
            </a:r>
          </a:p>
        </p:txBody>
      </p:sp>
    </p:spTree>
    <p:extLst>
      <p:ext uri="{BB962C8B-B14F-4D97-AF65-F5344CB8AC3E}">
        <p14:creationId xmlns:p14="http://schemas.microsoft.com/office/powerpoint/2010/main" val="31077178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967AC-1736-4427-94A9-786F60E9C1D6}"/>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Why Segmentation?</a:t>
            </a:r>
          </a:p>
        </p:txBody>
      </p:sp>
      <p:sp>
        <p:nvSpPr>
          <p:cNvPr id="3" name="Content Placeholder 2">
            <a:extLst>
              <a:ext uri="{FF2B5EF4-FFF2-40B4-BE49-F238E27FC236}">
                <a16:creationId xmlns:a16="http://schemas.microsoft.com/office/drawing/2014/main" id="{F7B77A5C-6B13-4435-9294-1B3164A25050}"/>
              </a:ext>
            </a:extLst>
          </p:cNvPr>
          <p:cNvSpPr>
            <a:spLocks noGrp="1"/>
          </p:cNvSpPr>
          <p:nvPr>
            <p:ph idx="1"/>
          </p:nvPr>
        </p:nvSpPr>
        <p:spPr/>
        <p:txBody>
          <a:bodyPr>
            <a:normAutofit/>
          </a:bodyPr>
          <a:lstStyle/>
          <a:p>
            <a:r>
              <a:rPr lang="en-US" sz="2000" b="0" i="0" dirty="0">
                <a:solidFill>
                  <a:schemeClr val="tx1"/>
                </a:solidFill>
                <a:effectLst/>
                <a:latin typeface="Times New Roman" panose="02020603050405020304" pitchFamily="18" charset="0"/>
                <a:cs typeface="Times New Roman" panose="02020603050405020304" pitchFamily="18" charset="0"/>
              </a:rPr>
              <a:t>A process is divided into Segments</a:t>
            </a:r>
          </a:p>
          <a:p>
            <a:r>
              <a:rPr lang="en-US" sz="2000" b="0" i="0" dirty="0">
                <a:solidFill>
                  <a:schemeClr val="tx1"/>
                </a:solidFill>
                <a:effectLst/>
                <a:latin typeface="Times New Roman" panose="02020603050405020304" pitchFamily="18" charset="0"/>
                <a:cs typeface="Times New Roman" panose="02020603050405020304" pitchFamily="18" charset="0"/>
              </a:rPr>
              <a:t>The chunks that a program is divided into which are not necessarily all of the same sizes are called segments</a:t>
            </a:r>
          </a:p>
          <a:p>
            <a:r>
              <a:rPr lang="en-US" sz="2000" b="0" i="0" dirty="0">
                <a:solidFill>
                  <a:schemeClr val="tx1"/>
                </a:solidFill>
                <a:effectLst/>
                <a:latin typeface="Times New Roman" panose="02020603050405020304" pitchFamily="18" charset="0"/>
                <a:cs typeface="Times New Roman" panose="02020603050405020304" pitchFamily="18" charset="0"/>
              </a:rPr>
              <a:t>Segmentation gives the user’s view of the process which paging does not give because paging is more close to the OS more than user</a:t>
            </a:r>
          </a:p>
          <a:p>
            <a:r>
              <a:rPr lang="en-US" sz="2000" dirty="0">
                <a:solidFill>
                  <a:schemeClr val="tx1"/>
                </a:solidFill>
                <a:latin typeface="Times New Roman" panose="02020603050405020304" pitchFamily="18" charset="0"/>
                <a:cs typeface="Times New Roman" panose="02020603050405020304" pitchFamily="18" charset="0"/>
              </a:rPr>
              <a:t>It may divide the same computation function into multiple parts and those pages may or may not be loaded at same time into the memory</a:t>
            </a:r>
          </a:p>
          <a:p>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09322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9B8BB-F66D-4A81-8967-348C611026DD}"/>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Segmentation (contd.)</a:t>
            </a:r>
          </a:p>
        </p:txBody>
      </p:sp>
      <p:pic>
        <p:nvPicPr>
          <p:cNvPr id="5" name="Content Placeholder 4">
            <a:extLst>
              <a:ext uri="{FF2B5EF4-FFF2-40B4-BE49-F238E27FC236}">
                <a16:creationId xmlns:a16="http://schemas.microsoft.com/office/drawing/2014/main" id="{88205383-8E22-4278-BADC-02F023C9BC70}"/>
              </a:ext>
            </a:extLst>
          </p:cNvPr>
          <p:cNvPicPr>
            <a:picLocks noGrp="1" noChangeAspect="1"/>
          </p:cNvPicPr>
          <p:nvPr>
            <p:ph idx="1"/>
          </p:nvPr>
        </p:nvPicPr>
        <p:blipFill rotWithShape="1">
          <a:blip r:embed="rId2"/>
          <a:srcRect t="2521"/>
          <a:stretch/>
        </p:blipFill>
        <p:spPr>
          <a:xfrm>
            <a:off x="2018804" y="2292824"/>
            <a:ext cx="4586712" cy="4138138"/>
          </a:xfrm>
        </p:spPr>
      </p:pic>
      <p:pic>
        <p:nvPicPr>
          <p:cNvPr id="7" name="Picture 6">
            <a:extLst>
              <a:ext uri="{FF2B5EF4-FFF2-40B4-BE49-F238E27FC236}">
                <a16:creationId xmlns:a16="http://schemas.microsoft.com/office/drawing/2014/main" id="{E50B4D48-107F-42A9-B2D4-99F4257F5888}"/>
              </a:ext>
            </a:extLst>
          </p:cNvPr>
          <p:cNvPicPr>
            <a:picLocks noChangeAspect="1"/>
          </p:cNvPicPr>
          <p:nvPr/>
        </p:nvPicPr>
        <p:blipFill>
          <a:blip r:embed="rId3"/>
          <a:stretch>
            <a:fillRect/>
          </a:stretch>
        </p:blipFill>
        <p:spPr>
          <a:xfrm>
            <a:off x="6605516" y="2185814"/>
            <a:ext cx="5342759" cy="3832849"/>
          </a:xfrm>
          <a:prstGeom prst="rect">
            <a:avLst/>
          </a:prstGeom>
        </p:spPr>
      </p:pic>
      <p:cxnSp>
        <p:nvCxnSpPr>
          <p:cNvPr id="9" name="Straight Connector 8">
            <a:extLst>
              <a:ext uri="{FF2B5EF4-FFF2-40B4-BE49-F238E27FC236}">
                <a16:creationId xmlns:a16="http://schemas.microsoft.com/office/drawing/2014/main" id="{35DBFE66-B269-4300-B67D-FB523C738B4D}"/>
              </a:ext>
            </a:extLst>
          </p:cNvPr>
          <p:cNvCxnSpPr/>
          <p:nvPr/>
        </p:nvCxnSpPr>
        <p:spPr>
          <a:xfrm>
            <a:off x="6605516" y="1905000"/>
            <a:ext cx="0" cy="4645925"/>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456210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B8CF3-201E-4AF0-B93E-9AD0E6928DF5}"/>
              </a:ext>
            </a:extLst>
          </p:cNvPr>
          <p:cNvSpPr>
            <a:spLocks noGrp="1"/>
          </p:cNvSpPr>
          <p:nvPr>
            <p:ph type="title"/>
          </p:nvPr>
        </p:nvSpPr>
        <p:spPr>
          <a:xfrm>
            <a:off x="2592925" y="433041"/>
            <a:ext cx="8911687" cy="1280890"/>
          </a:xfrm>
        </p:spPr>
        <p:txBody>
          <a:bodyPr/>
          <a:lstStyle/>
          <a:p>
            <a:r>
              <a:rPr lang="en-US" b="1" dirty="0">
                <a:solidFill>
                  <a:schemeClr val="tx1"/>
                </a:solidFill>
                <a:latin typeface="Times New Roman" panose="02020603050405020304" pitchFamily="18" charset="0"/>
                <a:cs typeface="Times New Roman" panose="02020603050405020304" pitchFamily="18" charset="0"/>
              </a:rPr>
              <a:t>Segmentation (contd.)</a:t>
            </a:r>
            <a:endParaRPr lang="en-US" dirty="0"/>
          </a:p>
        </p:txBody>
      </p:sp>
      <p:pic>
        <p:nvPicPr>
          <p:cNvPr id="5" name="Content Placeholder 4">
            <a:extLst>
              <a:ext uri="{FF2B5EF4-FFF2-40B4-BE49-F238E27FC236}">
                <a16:creationId xmlns:a16="http://schemas.microsoft.com/office/drawing/2014/main" id="{22BB2B94-E52F-49E8-93AD-0F1A22C972BD}"/>
              </a:ext>
            </a:extLst>
          </p:cNvPr>
          <p:cNvPicPr>
            <a:picLocks noGrp="1" noChangeAspect="1"/>
          </p:cNvPicPr>
          <p:nvPr>
            <p:ph idx="1"/>
          </p:nvPr>
        </p:nvPicPr>
        <p:blipFill>
          <a:blip r:embed="rId2"/>
          <a:stretch>
            <a:fillRect/>
          </a:stretch>
        </p:blipFill>
        <p:spPr>
          <a:xfrm>
            <a:off x="3029288" y="1267275"/>
            <a:ext cx="6569787" cy="5436537"/>
          </a:xfrm>
        </p:spPr>
      </p:pic>
    </p:spTree>
    <p:extLst>
      <p:ext uri="{BB962C8B-B14F-4D97-AF65-F5344CB8AC3E}">
        <p14:creationId xmlns:p14="http://schemas.microsoft.com/office/powerpoint/2010/main" val="32323890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A62CC-A955-4D12-99C9-584E0C3614B3}"/>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Adv. / Dis Adv. Of Segmentation</a:t>
            </a:r>
          </a:p>
        </p:txBody>
      </p:sp>
      <p:sp>
        <p:nvSpPr>
          <p:cNvPr id="3" name="Content Placeholder 2">
            <a:extLst>
              <a:ext uri="{FF2B5EF4-FFF2-40B4-BE49-F238E27FC236}">
                <a16:creationId xmlns:a16="http://schemas.microsoft.com/office/drawing/2014/main" id="{C57D3C83-1724-4E36-BE59-5266D8A78D2A}"/>
              </a:ext>
            </a:extLst>
          </p:cNvPr>
          <p:cNvSpPr>
            <a:spLocks noGrp="1"/>
          </p:cNvSpPr>
          <p:nvPr>
            <p:ph idx="1"/>
          </p:nvPr>
        </p:nvSpPr>
        <p:spPr>
          <a:xfrm>
            <a:off x="2589212" y="1751463"/>
            <a:ext cx="8915400" cy="4717576"/>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Advantages</a:t>
            </a:r>
          </a:p>
          <a:p>
            <a:pPr lvl="1">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No internal fragmentation</a:t>
            </a:r>
          </a:p>
          <a:p>
            <a:pPr lvl="1">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Less overhead</a:t>
            </a:r>
          </a:p>
          <a:p>
            <a:pPr lvl="1">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Easier to reallocate segments than entire address space</a:t>
            </a:r>
          </a:p>
          <a:p>
            <a:pPr lvl="1">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Segmentation table is lesser in size than page table</a:t>
            </a:r>
          </a:p>
          <a:p>
            <a:pPr lvl="1">
              <a:buFont typeface="Wingdings" panose="05000000000000000000" pitchFamily="2" charset="2"/>
              <a:buChar char="Ø"/>
            </a:pPr>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Disadvantages</a:t>
            </a:r>
          </a:p>
          <a:p>
            <a:pPr lvl="1">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May have external fragmentation</a:t>
            </a:r>
          </a:p>
          <a:p>
            <a:pPr lvl="1">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Difficult to allocate contiguous memory to variable sized partition</a:t>
            </a:r>
          </a:p>
          <a:p>
            <a:pPr lvl="1"/>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97853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A19FA-0E65-43C5-93D7-3FCBCCA751A9}"/>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Implementation of Segmentation</a:t>
            </a:r>
          </a:p>
        </p:txBody>
      </p:sp>
      <p:pic>
        <p:nvPicPr>
          <p:cNvPr id="5" name="Content Placeholder 4">
            <a:extLst>
              <a:ext uri="{FF2B5EF4-FFF2-40B4-BE49-F238E27FC236}">
                <a16:creationId xmlns:a16="http://schemas.microsoft.com/office/drawing/2014/main" id="{D4BCC445-A5A0-44E4-999F-4706DFFDBAA9}"/>
              </a:ext>
            </a:extLst>
          </p:cNvPr>
          <p:cNvPicPr>
            <a:picLocks noGrp="1" noChangeAspect="1"/>
          </p:cNvPicPr>
          <p:nvPr>
            <p:ph idx="1"/>
          </p:nvPr>
        </p:nvPicPr>
        <p:blipFill>
          <a:blip r:embed="rId2"/>
          <a:stretch>
            <a:fillRect/>
          </a:stretch>
        </p:blipFill>
        <p:spPr>
          <a:xfrm>
            <a:off x="1710069" y="1530827"/>
            <a:ext cx="9133485" cy="4703063"/>
          </a:xfrm>
        </p:spPr>
      </p:pic>
    </p:spTree>
    <p:extLst>
      <p:ext uri="{BB962C8B-B14F-4D97-AF65-F5344CB8AC3E}">
        <p14:creationId xmlns:p14="http://schemas.microsoft.com/office/powerpoint/2010/main" val="42023132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FBDF5-4565-4979-9E1E-BC243B6387D1}"/>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Page Replacement Algorithms</a:t>
            </a:r>
          </a:p>
        </p:txBody>
      </p:sp>
      <p:sp>
        <p:nvSpPr>
          <p:cNvPr id="3" name="Content Placeholder 2">
            <a:extLst>
              <a:ext uri="{FF2B5EF4-FFF2-40B4-BE49-F238E27FC236}">
                <a16:creationId xmlns:a16="http://schemas.microsoft.com/office/drawing/2014/main" id="{788C0B70-AADB-4FCF-8BC6-880F841355AF}"/>
              </a:ext>
            </a:extLst>
          </p:cNvPr>
          <p:cNvSpPr>
            <a:spLocks noGrp="1"/>
          </p:cNvSpPr>
          <p:nvPr>
            <p:ph idx="1"/>
          </p:nvPr>
        </p:nvSpPr>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Algorithms decides which page is replace by which page</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When a page fault occurs, the OS has to choose a page to remove from memory to make the room for the page that has to be brought in</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Pages should exist in order to not have page fault</a:t>
            </a:r>
          </a:p>
        </p:txBody>
      </p:sp>
    </p:spTree>
    <p:extLst>
      <p:ext uri="{BB962C8B-B14F-4D97-AF65-F5344CB8AC3E}">
        <p14:creationId xmlns:p14="http://schemas.microsoft.com/office/powerpoint/2010/main" val="15532563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F333B-0BCF-4DF4-9915-77101A3F19C2}"/>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FIFO</a:t>
            </a:r>
          </a:p>
        </p:txBody>
      </p:sp>
      <p:sp>
        <p:nvSpPr>
          <p:cNvPr id="3" name="Content Placeholder 2">
            <a:extLst>
              <a:ext uri="{FF2B5EF4-FFF2-40B4-BE49-F238E27FC236}">
                <a16:creationId xmlns:a16="http://schemas.microsoft.com/office/drawing/2014/main" id="{5B5EA181-D235-477A-8352-2EBC25E12504}"/>
              </a:ext>
            </a:extLst>
          </p:cNvPr>
          <p:cNvSpPr>
            <a:spLocks noGrp="1"/>
          </p:cNvSpPr>
          <p:nvPr>
            <p:ph idx="1"/>
          </p:nvPr>
        </p:nvSpPr>
        <p:spPr>
          <a:xfrm>
            <a:off x="2589212" y="1540189"/>
            <a:ext cx="8915400" cy="5147214"/>
          </a:xfrm>
        </p:spPr>
        <p:txBody>
          <a:bodyPr>
            <a:normAutofit/>
          </a:bodyPr>
          <a:lstStyle/>
          <a:p>
            <a:pPr marL="0" indent="0">
              <a:buNone/>
            </a:pPr>
            <a:r>
              <a:rPr lang="en-US" altLang="en-US" sz="2000" dirty="0">
                <a:solidFill>
                  <a:schemeClr val="tx1"/>
                </a:solidFill>
                <a:latin typeface="Times New Roman" panose="02020603050405020304" pitchFamily="18" charset="0"/>
                <a:cs typeface="Times New Roman" panose="02020603050405020304" pitchFamily="18" charset="0"/>
              </a:rPr>
              <a:t>Reference string: </a:t>
            </a:r>
            <a:r>
              <a:rPr lang="en-US" altLang="en-US" sz="2000" b="1" dirty="0">
                <a:solidFill>
                  <a:srgbClr val="FF0000"/>
                </a:solidFill>
                <a:latin typeface="Times New Roman" panose="02020603050405020304" pitchFamily="18" charset="0"/>
                <a:cs typeface="Times New Roman" panose="02020603050405020304" pitchFamily="18" charset="0"/>
              </a:rPr>
              <a:t>7,0,1,2,0,3,0,4,2,3,0,3,0,3,2,1,2,0,1,7,0,1</a:t>
            </a:r>
          </a:p>
          <a:p>
            <a:pPr marL="0" indent="0">
              <a:buNone/>
            </a:pPr>
            <a:r>
              <a:rPr lang="en-US" altLang="en-US" sz="2000" dirty="0">
                <a:solidFill>
                  <a:schemeClr val="tx1"/>
                </a:solidFill>
                <a:latin typeface="Times New Roman" panose="02020603050405020304" pitchFamily="18" charset="0"/>
                <a:cs typeface="Times New Roman" panose="02020603050405020304" pitchFamily="18" charset="0"/>
              </a:rPr>
              <a:t>3 frames (3 pages can be in memory at a time per process)</a:t>
            </a:r>
            <a:br>
              <a:rPr lang="en-US" altLang="en-US" sz="2000" dirty="0">
                <a:solidFill>
                  <a:schemeClr val="tx1"/>
                </a:solidFill>
                <a:latin typeface="Times New Roman" panose="02020603050405020304" pitchFamily="18" charset="0"/>
                <a:cs typeface="Times New Roman" panose="02020603050405020304" pitchFamily="18" charset="0"/>
              </a:rPr>
            </a:br>
            <a:br>
              <a:rPr lang="en-US" altLang="en-US" sz="2000" dirty="0">
                <a:solidFill>
                  <a:schemeClr val="tx1"/>
                </a:solidFill>
                <a:latin typeface="Times New Roman" panose="02020603050405020304" pitchFamily="18" charset="0"/>
                <a:cs typeface="Times New Roman" panose="02020603050405020304" pitchFamily="18" charset="0"/>
              </a:rPr>
            </a:br>
            <a:br>
              <a:rPr lang="en-US" altLang="en-US" sz="2000" dirty="0">
                <a:solidFill>
                  <a:schemeClr val="tx1"/>
                </a:solidFill>
                <a:latin typeface="Times New Roman" panose="02020603050405020304" pitchFamily="18" charset="0"/>
                <a:cs typeface="Times New Roman" panose="02020603050405020304" pitchFamily="18" charset="0"/>
              </a:rPr>
            </a:br>
            <a:br>
              <a:rPr lang="en-US" altLang="en-US" sz="2000" dirty="0">
                <a:solidFill>
                  <a:schemeClr val="tx1"/>
                </a:solidFill>
                <a:latin typeface="Times New Roman" panose="02020603050405020304" pitchFamily="18" charset="0"/>
                <a:cs typeface="Times New Roman" panose="02020603050405020304" pitchFamily="18" charset="0"/>
              </a:rPr>
            </a:br>
            <a:br>
              <a:rPr lang="en-US" altLang="en-US" sz="2000" dirty="0">
                <a:solidFill>
                  <a:schemeClr val="tx1"/>
                </a:solidFill>
                <a:latin typeface="Times New Roman" panose="02020603050405020304" pitchFamily="18" charset="0"/>
                <a:cs typeface="Times New Roman" panose="02020603050405020304" pitchFamily="18" charset="0"/>
              </a:rPr>
            </a:br>
            <a:br>
              <a:rPr lang="en-US" altLang="en-US" sz="2000" dirty="0">
                <a:solidFill>
                  <a:schemeClr val="tx1"/>
                </a:solidFill>
                <a:latin typeface="Times New Roman" panose="02020603050405020304" pitchFamily="18" charset="0"/>
                <a:cs typeface="Times New Roman" panose="02020603050405020304" pitchFamily="18" charset="0"/>
              </a:rPr>
            </a:br>
            <a:br>
              <a:rPr lang="en-US" altLang="en-US" sz="2000" dirty="0">
                <a:solidFill>
                  <a:schemeClr val="tx1"/>
                </a:solidFill>
                <a:latin typeface="Times New Roman" panose="02020603050405020304" pitchFamily="18" charset="0"/>
                <a:cs typeface="Times New Roman" panose="02020603050405020304" pitchFamily="18" charset="0"/>
              </a:rPr>
            </a:br>
            <a:br>
              <a:rPr lang="en-US" altLang="en-US" sz="2000" dirty="0">
                <a:solidFill>
                  <a:schemeClr val="tx1"/>
                </a:solidFill>
                <a:latin typeface="Times New Roman" panose="02020603050405020304" pitchFamily="18" charset="0"/>
                <a:cs typeface="Times New Roman" panose="02020603050405020304" pitchFamily="18" charset="0"/>
              </a:rPr>
            </a:br>
            <a:br>
              <a:rPr lang="en-US" altLang="en-US" sz="2000" dirty="0">
                <a:solidFill>
                  <a:schemeClr val="tx1"/>
                </a:solidFill>
                <a:latin typeface="Times New Roman" panose="02020603050405020304" pitchFamily="18" charset="0"/>
                <a:cs typeface="Times New Roman" panose="02020603050405020304" pitchFamily="18" charset="0"/>
              </a:rPr>
            </a:br>
            <a:br>
              <a:rPr lang="en-US" altLang="en-US" sz="2000" dirty="0">
                <a:solidFill>
                  <a:schemeClr val="tx1"/>
                </a:solidFill>
                <a:latin typeface="Times New Roman" panose="02020603050405020304" pitchFamily="18" charset="0"/>
                <a:cs typeface="Times New Roman" panose="02020603050405020304" pitchFamily="18" charset="0"/>
              </a:rPr>
            </a:br>
            <a:br>
              <a:rPr lang="en-US" altLang="en-US" sz="2000" dirty="0">
                <a:solidFill>
                  <a:schemeClr val="tx1"/>
                </a:solidFill>
                <a:latin typeface="Times New Roman" panose="02020603050405020304" pitchFamily="18" charset="0"/>
                <a:cs typeface="Times New Roman" panose="02020603050405020304" pitchFamily="18" charset="0"/>
              </a:rPr>
            </a:br>
            <a:br>
              <a:rPr lang="en-US" altLang="en-US" sz="2000" dirty="0">
                <a:solidFill>
                  <a:schemeClr val="tx1"/>
                </a:solidFill>
                <a:latin typeface="Times New Roman" panose="02020603050405020304" pitchFamily="18" charset="0"/>
                <a:cs typeface="Times New Roman" panose="02020603050405020304" pitchFamily="18" charset="0"/>
              </a:rPr>
            </a:br>
            <a:br>
              <a:rPr lang="en-US" altLang="en-US" sz="2000" dirty="0">
                <a:solidFill>
                  <a:schemeClr val="tx1"/>
                </a:solidFill>
                <a:latin typeface="Times New Roman" panose="02020603050405020304" pitchFamily="18" charset="0"/>
                <a:cs typeface="Times New Roman" panose="02020603050405020304" pitchFamily="18" charset="0"/>
              </a:rPr>
            </a:br>
            <a:r>
              <a:rPr lang="en-US" altLang="en-US" sz="2000" dirty="0">
                <a:solidFill>
                  <a:schemeClr val="tx1"/>
                </a:solidFill>
                <a:latin typeface="Times New Roman" panose="02020603050405020304" pitchFamily="18" charset="0"/>
                <a:cs typeface="Times New Roman" panose="02020603050405020304" pitchFamily="18" charset="0"/>
              </a:rPr>
              <a:t>15 page faults</a:t>
            </a:r>
          </a:p>
          <a:p>
            <a:pPr marL="0" indent="0">
              <a:buNone/>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altLang="en-US" sz="2000" b="1" dirty="0">
              <a:solidFill>
                <a:schemeClr val="tx1"/>
              </a:solidFill>
              <a:latin typeface="Times New Roman" panose="02020603050405020304" pitchFamily="18" charset="0"/>
              <a:cs typeface="Times New Roman" panose="02020603050405020304" pitchFamily="18" charset="0"/>
            </a:endParaRPr>
          </a:p>
          <a:p>
            <a:pPr marL="0" indent="0">
              <a:buNone/>
            </a:pPr>
            <a:endParaRPr lang="en-US" altLang="en-US" sz="2000" dirty="0">
              <a:solidFill>
                <a:schemeClr val="tx1"/>
              </a:solidFill>
              <a:latin typeface="Times New Roman" panose="02020603050405020304" pitchFamily="18" charset="0"/>
              <a:cs typeface="Times New Roman" panose="02020603050405020304" pitchFamily="18" charset="0"/>
            </a:endParaRPr>
          </a:p>
          <a:p>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4" name="Picture 1">
            <a:extLst>
              <a:ext uri="{FF2B5EF4-FFF2-40B4-BE49-F238E27FC236}">
                <a16:creationId xmlns:a16="http://schemas.microsoft.com/office/drawing/2014/main" id="{EC307F8E-D7EE-493A-82D3-44A2762278E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89212" y="2829012"/>
            <a:ext cx="9147863" cy="2913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40527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3BAF7-01BD-478F-ADF9-34550BCB6860}"/>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Belady’s Anomaly</a:t>
            </a:r>
          </a:p>
        </p:txBody>
      </p:sp>
    </p:spTree>
    <p:extLst>
      <p:ext uri="{BB962C8B-B14F-4D97-AF65-F5344CB8AC3E}">
        <p14:creationId xmlns:p14="http://schemas.microsoft.com/office/powerpoint/2010/main" val="27396982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535E5-4DAE-4489-A64B-8EDA3CAD2098}"/>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OPR (Optimal Page Replacement)</a:t>
            </a:r>
          </a:p>
        </p:txBody>
      </p:sp>
      <p:sp>
        <p:nvSpPr>
          <p:cNvPr id="3" name="Content Placeholder 2">
            <a:extLst>
              <a:ext uri="{FF2B5EF4-FFF2-40B4-BE49-F238E27FC236}">
                <a16:creationId xmlns:a16="http://schemas.microsoft.com/office/drawing/2014/main" id="{6A3B1BAA-1119-4C41-8A9B-B2DDE30BD145}"/>
              </a:ext>
            </a:extLst>
          </p:cNvPr>
          <p:cNvSpPr>
            <a:spLocks noGrp="1"/>
          </p:cNvSpPr>
          <p:nvPr>
            <p:ph idx="1"/>
          </p:nvPr>
        </p:nvSpPr>
        <p:spPr/>
        <p:txBody>
          <a:bodyPr/>
          <a:lstStyle/>
          <a:p>
            <a:r>
              <a:rPr lang="en-US" altLang="en-US" sz="2000" dirty="0">
                <a:solidFill>
                  <a:schemeClr val="tx1"/>
                </a:solidFill>
                <a:latin typeface="Times New Roman" panose="02020603050405020304" pitchFamily="18" charset="0"/>
                <a:cs typeface="Times New Roman" panose="02020603050405020304" pitchFamily="18" charset="0"/>
              </a:rPr>
              <a:t>Replace page that will not be used for longest period of time</a:t>
            </a:r>
          </a:p>
          <a:p>
            <a:endParaRPr lang="en-US" dirty="0"/>
          </a:p>
        </p:txBody>
      </p:sp>
      <p:pic>
        <p:nvPicPr>
          <p:cNvPr id="4" name="Picture 3">
            <a:extLst>
              <a:ext uri="{FF2B5EF4-FFF2-40B4-BE49-F238E27FC236}">
                <a16:creationId xmlns:a16="http://schemas.microsoft.com/office/drawing/2014/main" id="{FF2433DD-A6F7-421B-8622-75255B0132C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77174" y="2837740"/>
            <a:ext cx="9139322" cy="3073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726503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EAFA6-1D02-4CC9-83F6-9A18D28544EF}"/>
              </a:ext>
            </a:extLst>
          </p:cNvPr>
          <p:cNvSpPr>
            <a:spLocks noGrp="1"/>
          </p:cNvSpPr>
          <p:nvPr>
            <p:ph type="title"/>
          </p:nvPr>
        </p:nvSpPr>
        <p:spPr/>
        <p:txBody>
          <a:bodyPr/>
          <a:lstStyle/>
          <a:p>
            <a:r>
              <a:rPr lang="en-US" altLang="en-US" b="1" dirty="0">
                <a:solidFill>
                  <a:schemeClr val="tx1"/>
                </a:solidFill>
                <a:latin typeface="Times New Roman" panose="02020603050405020304" pitchFamily="18" charset="0"/>
                <a:cs typeface="Times New Roman" panose="02020603050405020304" pitchFamily="18" charset="0"/>
              </a:rPr>
              <a:t>Least Recently Used (LRU)</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4045FFB-9BE5-4239-8407-C507A12A2EE0}"/>
              </a:ext>
            </a:extLst>
          </p:cNvPr>
          <p:cNvSpPr>
            <a:spLocks noGrp="1"/>
          </p:cNvSpPr>
          <p:nvPr>
            <p:ph idx="1"/>
          </p:nvPr>
        </p:nvSpPr>
        <p:spPr>
          <a:xfrm>
            <a:off x="2589212" y="1683224"/>
            <a:ext cx="8915400" cy="3777622"/>
          </a:xfrm>
        </p:spPr>
        <p:txBody>
          <a:bodyPr/>
          <a:lstStyle/>
          <a:p>
            <a:r>
              <a:rPr lang="en-US" altLang="en-US" sz="2000" dirty="0">
                <a:solidFill>
                  <a:schemeClr val="tx1"/>
                </a:solidFill>
                <a:latin typeface="Times New Roman" panose="02020603050405020304" pitchFamily="18" charset="0"/>
                <a:cs typeface="Times New Roman" panose="02020603050405020304" pitchFamily="18" charset="0"/>
              </a:rPr>
              <a:t>Replace page that has not been used in the most amount of time</a:t>
            </a:r>
          </a:p>
          <a:p>
            <a:endParaRPr lang="en-US" dirty="0"/>
          </a:p>
        </p:txBody>
      </p:sp>
      <p:pic>
        <p:nvPicPr>
          <p:cNvPr id="4" name="Picture 4" descr="9">
            <a:extLst>
              <a:ext uri="{FF2B5EF4-FFF2-40B4-BE49-F238E27FC236}">
                <a16:creationId xmlns:a16="http://schemas.microsoft.com/office/drawing/2014/main" id="{0C492833-7B01-4259-B208-B18DBACE66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1221" y="2608914"/>
            <a:ext cx="10446675" cy="2851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849364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BFFC2-5559-44D3-8ACE-F6CE31E9EF4E}"/>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Least Frequently Used (LFU)</a:t>
            </a:r>
          </a:p>
        </p:txBody>
      </p:sp>
      <p:sp>
        <p:nvSpPr>
          <p:cNvPr id="3" name="Content Placeholder 2">
            <a:extLst>
              <a:ext uri="{FF2B5EF4-FFF2-40B4-BE49-F238E27FC236}">
                <a16:creationId xmlns:a16="http://schemas.microsoft.com/office/drawing/2014/main" id="{9DC32EA2-686D-47E7-AE86-18EB42E03D2A}"/>
              </a:ext>
            </a:extLst>
          </p:cNvPr>
          <p:cNvSpPr>
            <a:spLocks noGrp="1"/>
          </p:cNvSpPr>
          <p:nvPr>
            <p:ph idx="1"/>
          </p:nvPr>
        </p:nvSpPr>
        <p:spPr/>
        <p:txBody>
          <a:bodyPr>
            <a:normAutofit/>
          </a:bodyPr>
          <a:lstStyle/>
          <a:p>
            <a:pPr marL="0" indent="0">
              <a:buNone/>
            </a:pPr>
            <a:r>
              <a:rPr lang="en-US" altLang="en-US" sz="2000" dirty="0">
                <a:solidFill>
                  <a:schemeClr val="tx1"/>
                </a:solidFill>
                <a:latin typeface="Times New Roman" panose="02020603050405020304" pitchFamily="18" charset="0"/>
                <a:cs typeface="Times New Roman" panose="02020603050405020304" pitchFamily="18" charset="0"/>
              </a:rPr>
              <a:t>Reference string: </a:t>
            </a:r>
            <a:r>
              <a:rPr lang="en-US" altLang="en-US" sz="2000" b="1" dirty="0">
                <a:solidFill>
                  <a:srgbClr val="FF0000"/>
                </a:solidFill>
                <a:latin typeface="Times New Roman" panose="02020603050405020304" pitchFamily="18" charset="0"/>
                <a:cs typeface="Times New Roman" panose="02020603050405020304" pitchFamily="18" charset="0"/>
              </a:rPr>
              <a:t>7,0,1,2,0,3,0,4,2,3,0,3,0,3,2,1,2,0,1,7,0,1</a:t>
            </a:r>
          </a:p>
          <a:p>
            <a:pPr marL="0" indent="0">
              <a:buNone/>
            </a:pPr>
            <a:r>
              <a:rPr lang="en-US" altLang="en-US" sz="2000" dirty="0">
                <a:solidFill>
                  <a:schemeClr val="tx1"/>
                </a:solidFill>
                <a:latin typeface="Times New Roman" panose="02020603050405020304" pitchFamily="18" charset="0"/>
                <a:cs typeface="Times New Roman" panose="02020603050405020304" pitchFamily="18" charset="0"/>
              </a:rPr>
              <a:t>3 frames (3 pages can be in memory at a time per process)</a:t>
            </a:r>
            <a:endParaRPr lang="en-US" sz="2000" dirty="0"/>
          </a:p>
        </p:txBody>
      </p:sp>
    </p:spTree>
    <p:extLst>
      <p:ext uri="{BB962C8B-B14F-4D97-AF65-F5344CB8AC3E}">
        <p14:creationId xmlns:p14="http://schemas.microsoft.com/office/powerpoint/2010/main" val="12886559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C2451-6873-45A8-8549-AA7D265164C1}"/>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Clock Page Replacement (CPR)</a:t>
            </a:r>
            <a:endParaRPr lang="en-US" dirty="0"/>
          </a:p>
        </p:txBody>
      </p:sp>
      <p:sp>
        <p:nvSpPr>
          <p:cNvPr id="3" name="Content Placeholder 2">
            <a:extLst>
              <a:ext uri="{FF2B5EF4-FFF2-40B4-BE49-F238E27FC236}">
                <a16:creationId xmlns:a16="http://schemas.microsoft.com/office/drawing/2014/main" id="{CF7A33F6-CC3F-4C6F-A632-113402BA6509}"/>
              </a:ext>
            </a:extLst>
          </p:cNvPr>
          <p:cNvSpPr>
            <a:spLocks noGrp="1"/>
          </p:cNvSpPr>
          <p:nvPr>
            <p:ph idx="1"/>
          </p:nvPr>
        </p:nvSpPr>
        <p:spPr>
          <a:xfrm>
            <a:off x="2592925" y="1669576"/>
            <a:ext cx="8915400" cy="3777622"/>
          </a:xfrm>
        </p:spPr>
        <p:txBody>
          <a:bodyPr/>
          <a:lstStyle/>
          <a:p>
            <a:pPr marL="0" indent="0">
              <a:buNone/>
            </a:pPr>
            <a:r>
              <a:rPr lang="en-US" altLang="en-US" sz="1800" dirty="0">
                <a:solidFill>
                  <a:schemeClr val="tx1"/>
                </a:solidFill>
                <a:latin typeface="Times New Roman" panose="02020603050405020304" pitchFamily="18" charset="0"/>
                <a:cs typeface="Times New Roman" panose="02020603050405020304" pitchFamily="18" charset="0"/>
              </a:rPr>
              <a:t>Reference string: </a:t>
            </a:r>
            <a:r>
              <a:rPr lang="en-US" altLang="en-US" sz="1800" b="1" dirty="0">
                <a:solidFill>
                  <a:srgbClr val="FF0000"/>
                </a:solidFill>
                <a:latin typeface="Times New Roman" panose="02020603050405020304" pitchFamily="18" charset="0"/>
                <a:cs typeface="Times New Roman" panose="02020603050405020304" pitchFamily="18" charset="0"/>
              </a:rPr>
              <a:t>7,0,1,2,0,3,0,4,2,3,0,3,0,3,2,1,2,0,1,7,0,1</a:t>
            </a:r>
          </a:p>
          <a:p>
            <a:pPr marL="0" indent="0">
              <a:buNone/>
            </a:pPr>
            <a:r>
              <a:rPr lang="en-US" altLang="en-US" sz="1800" dirty="0">
                <a:solidFill>
                  <a:schemeClr val="tx1"/>
                </a:solidFill>
                <a:latin typeface="Times New Roman" panose="02020603050405020304" pitchFamily="18" charset="0"/>
                <a:cs typeface="Times New Roman" panose="02020603050405020304" pitchFamily="18" charset="0"/>
              </a:rPr>
              <a:t>3 frames (3 pages can be in memory at a time per process)</a:t>
            </a:r>
            <a:endParaRPr lang="en-US" sz="1800" dirty="0"/>
          </a:p>
          <a:p>
            <a:endParaRPr lang="en-US" dirty="0"/>
          </a:p>
        </p:txBody>
      </p:sp>
    </p:spTree>
    <p:extLst>
      <p:ext uri="{BB962C8B-B14F-4D97-AF65-F5344CB8AC3E}">
        <p14:creationId xmlns:p14="http://schemas.microsoft.com/office/powerpoint/2010/main" val="420455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756E8-A8E2-4226-B971-FD3D176956D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Second Chance Page Replacement (SCPR)</a:t>
            </a:r>
          </a:p>
        </p:txBody>
      </p:sp>
      <p:sp>
        <p:nvSpPr>
          <p:cNvPr id="3" name="Content Placeholder 2">
            <a:extLst>
              <a:ext uri="{FF2B5EF4-FFF2-40B4-BE49-F238E27FC236}">
                <a16:creationId xmlns:a16="http://schemas.microsoft.com/office/drawing/2014/main" id="{E2293B32-5BD0-48DA-B6CD-E5B889203465}"/>
              </a:ext>
            </a:extLst>
          </p:cNvPr>
          <p:cNvSpPr>
            <a:spLocks noGrp="1"/>
          </p:cNvSpPr>
          <p:nvPr>
            <p:ph idx="1"/>
          </p:nvPr>
        </p:nvSpPr>
        <p:spPr>
          <a:xfrm>
            <a:off x="2592925" y="1683224"/>
            <a:ext cx="8915400" cy="3777622"/>
          </a:xfrm>
        </p:spPr>
        <p:txBody>
          <a:bodyPr>
            <a:normAutofit/>
          </a:bodyPr>
          <a:lstStyle/>
          <a:p>
            <a:pPr marL="0" indent="0">
              <a:buNone/>
            </a:pPr>
            <a:r>
              <a:rPr lang="en-US" altLang="en-US" sz="2000" dirty="0">
                <a:solidFill>
                  <a:schemeClr val="tx1"/>
                </a:solidFill>
                <a:latin typeface="Times New Roman" panose="02020603050405020304" pitchFamily="18" charset="0"/>
                <a:cs typeface="Times New Roman" panose="02020603050405020304" pitchFamily="18" charset="0"/>
              </a:rPr>
              <a:t>Reference string: </a:t>
            </a:r>
            <a:r>
              <a:rPr lang="en-US" altLang="en-US" sz="2000" b="1" dirty="0">
                <a:solidFill>
                  <a:srgbClr val="FF0000"/>
                </a:solidFill>
                <a:latin typeface="Times New Roman" panose="02020603050405020304" pitchFamily="18" charset="0"/>
                <a:cs typeface="Times New Roman" panose="02020603050405020304" pitchFamily="18" charset="0"/>
              </a:rPr>
              <a:t>7,0,1,2,0,3,0,4,2,3,0,3,0,3,2,1,2,0,1,7,0,1</a:t>
            </a:r>
          </a:p>
          <a:p>
            <a:pPr marL="0" indent="0">
              <a:buNone/>
            </a:pPr>
            <a:r>
              <a:rPr lang="en-US" altLang="en-US" sz="2000" dirty="0">
                <a:solidFill>
                  <a:schemeClr val="tx1"/>
                </a:solidFill>
                <a:latin typeface="Times New Roman" panose="02020603050405020304" pitchFamily="18" charset="0"/>
                <a:cs typeface="Times New Roman" panose="02020603050405020304" pitchFamily="18" charset="0"/>
              </a:rPr>
              <a:t>3 frames (3 pages can be in memory at a time per process)</a:t>
            </a:r>
            <a:endParaRPr lang="en-US" sz="2000" dirty="0">
              <a:solidFill>
                <a:schemeClr val="tx1"/>
              </a:solidFill>
              <a:latin typeface="Times New Roman" panose="02020603050405020304" pitchFamily="18" charset="0"/>
              <a:cs typeface="Times New Roman" panose="02020603050405020304" pitchFamily="18" charset="0"/>
            </a:endParaRPr>
          </a:p>
          <a:p>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85506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E031F-A184-41B5-94A1-9FB83EEA5E71}"/>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Segmentation with Paging: MULTICS</a:t>
            </a:r>
          </a:p>
        </p:txBody>
      </p:sp>
      <p:pic>
        <p:nvPicPr>
          <p:cNvPr id="4" name="Picture 4" descr="8">
            <a:extLst>
              <a:ext uri="{FF2B5EF4-FFF2-40B4-BE49-F238E27FC236}">
                <a16:creationId xmlns:a16="http://schemas.microsoft.com/office/drawing/2014/main" id="{1EBFB93B-8DDE-4F95-B128-6A82416C729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98233" y="1595593"/>
            <a:ext cx="6904762" cy="48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15247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B06F2-0797-44EC-96A5-C9802A1DE220}"/>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Banker Algorithm (Practice)</a:t>
            </a:r>
          </a:p>
        </p:txBody>
      </p:sp>
      <p:sp>
        <p:nvSpPr>
          <p:cNvPr id="3" name="Content Placeholder 2">
            <a:extLst>
              <a:ext uri="{FF2B5EF4-FFF2-40B4-BE49-F238E27FC236}">
                <a16:creationId xmlns:a16="http://schemas.microsoft.com/office/drawing/2014/main" id="{D5422B37-9A1D-48AF-B19C-C0C0EB6B57D2}"/>
              </a:ext>
            </a:extLst>
          </p:cNvPr>
          <p:cNvSpPr>
            <a:spLocks noGrp="1"/>
          </p:cNvSpPr>
          <p:nvPr>
            <p:ph idx="1"/>
          </p:nvPr>
        </p:nvSpPr>
        <p:spPr>
          <a:xfrm>
            <a:off x="2589212" y="2133600"/>
            <a:ext cx="8915400" cy="4253552"/>
          </a:xfrm>
        </p:spPr>
        <p:txBody>
          <a:bodyPr>
            <a:normAutofit lnSpcReduction="10000"/>
          </a:bodyPr>
          <a:lstStyle/>
          <a:p>
            <a:pPr marL="0" indent="0">
              <a:buNone/>
            </a:pPr>
            <a:r>
              <a:rPr lang="en-US" sz="2000" b="0" i="0" dirty="0">
                <a:solidFill>
                  <a:srgbClr val="000000"/>
                </a:solidFill>
                <a:effectLst/>
                <a:latin typeface="Times New Roman" panose="02020603050405020304" pitchFamily="18" charset="0"/>
                <a:cs typeface="Times New Roman" panose="02020603050405020304" pitchFamily="18" charset="0"/>
              </a:rPr>
              <a:t>Process 	Allocation 	Available 	    Max</a:t>
            </a:r>
            <a:br>
              <a:rPr lang="az-Cyrl-AZ"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b="0" i="0" dirty="0">
                <a:solidFill>
                  <a:srgbClr val="000000"/>
                </a:solidFill>
                <a:effectLst/>
                <a:latin typeface="Times New Roman" panose="02020603050405020304" pitchFamily="18" charset="0"/>
                <a:cs typeface="Times New Roman" panose="02020603050405020304" pitchFamily="18" charset="0"/>
              </a:rPr>
              <a:t>A  B  C D	A  B  C  D	 A B C D</a:t>
            </a:r>
          </a:p>
          <a:p>
            <a:pPr marL="0" indent="0">
              <a:buNone/>
            </a:pP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Po		0  0  1  2		0  0  1  2		 1  5  2 0</a:t>
            </a:r>
          </a:p>
          <a:p>
            <a:pPr marL="0" indent="0">
              <a:buNone/>
            </a:pP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P1		1  0  0  0		1  7   5  0	</a:t>
            </a:r>
          </a:p>
          <a:p>
            <a:pPr marL="0" indent="0">
              <a:buNone/>
            </a:pPr>
            <a:r>
              <a:rPr lang="en-US" sz="2000" b="0" i="0" dirty="0">
                <a:solidFill>
                  <a:srgbClr val="000000"/>
                </a:solidFill>
                <a:effectLst/>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P2		1  3  5  4		2  3   5  6</a:t>
            </a:r>
          </a:p>
          <a:p>
            <a:pPr marL="0" indent="0">
              <a:buNone/>
            </a:pP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P3		0  6  3  2		0  6   5  2</a:t>
            </a:r>
          </a:p>
          <a:p>
            <a:pPr marL="0" indent="0">
              <a:buNone/>
            </a:pP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P4		0  0  1  4		0  6   5  6</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685680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Default Theme</Template>
  <TotalTime>1206</TotalTime>
  <Words>2225</Words>
  <Application>Microsoft Office PowerPoint</Application>
  <PresentationFormat>Widescreen</PresentationFormat>
  <Paragraphs>262</Paragraphs>
  <Slides>53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Century Gothic</vt:lpstr>
      <vt:lpstr>Times New Roman</vt:lpstr>
      <vt:lpstr>Wingdings</vt:lpstr>
      <vt:lpstr>Wingdings 3</vt:lpstr>
      <vt:lpstr>Wisp</vt:lpstr>
      <vt:lpstr>Unit 4 – Memory Management</vt:lpstr>
      <vt:lpstr>Introduction</vt:lpstr>
      <vt:lpstr>Introduction (contd.)</vt:lpstr>
      <vt:lpstr>Memory Manager</vt:lpstr>
      <vt:lpstr>Mono vs Multi Programming</vt:lpstr>
      <vt:lpstr>Multiprogramming with fixed partition</vt:lpstr>
      <vt:lpstr>Multiprogramming with fixed partition (contd.)</vt:lpstr>
      <vt:lpstr>Multiprogramming with dynamic partition</vt:lpstr>
      <vt:lpstr>Relocation</vt:lpstr>
      <vt:lpstr>Types of Relocation – Static and Dynamic</vt:lpstr>
      <vt:lpstr>Protection</vt:lpstr>
      <vt:lpstr>Addresses</vt:lpstr>
      <vt:lpstr>Base and Limit Registers</vt:lpstr>
      <vt:lpstr>Modelling Multiprogramming</vt:lpstr>
      <vt:lpstr>Fragmentation</vt:lpstr>
      <vt:lpstr>Types of Fragmentation</vt:lpstr>
      <vt:lpstr>Bitmap or bit-vector</vt:lpstr>
      <vt:lpstr>Linked List</vt:lpstr>
      <vt:lpstr>Memory Allocation Strategies</vt:lpstr>
      <vt:lpstr>MAS (contd.)</vt:lpstr>
      <vt:lpstr>MAS (contd.)</vt:lpstr>
      <vt:lpstr>MAS - Numerical</vt:lpstr>
      <vt:lpstr>MAS - Numerical</vt:lpstr>
      <vt:lpstr>MAS - Numerical</vt:lpstr>
      <vt:lpstr>Compaction</vt:lpstr>
      <vt:lpstr>Virtual Memory</vt:lpstr>
      <vt:lpstr>Virtual Memory (contd.)</vt:lpstr>
      <vt:lpstr>Virtual Address Space</vt:lpstr>
      <vt:lpstr>Virtual Memory That is Larger Than Physical Memory</vt:lpstr>
      <vt:lpstr>Paging</vt:lpstr>
      <vt:lpstr>Valid-Invalid Bit</vt:lpstr>
      <vt:lpstr>Address Translation Scheme</vt:lpstr>
      <vt:lpstr>Paging (contd.)</vt:lpstr>
      <vt:lpstr>Page Table</vt:lpstr>
      <vt:lpstr>Implementation of page table</vt:lpstr>
      <vt:lpstr>Paging with TLB</vt:lpstr>
      <vt:lpstr>Hash Page Table</vt:lpstr>
      <vt:lpstr>Segmentation</vt:lpstr>
      <vt:lpstr>Why Segmentation?</vt:lpstr>
      <vt:lpstr>Segmentation (contd.)</vt:lpstr>
      <vt:lpstr>Segmentation (contd.)</vt:lpstr>
      <vt:lpstr>Adv. / Dis Adv. Of Segmentation</vt:lpstr>
      <vt:lpstr>Implementation of Segmentation</vt:lpstr>
      <vt:lpstr>Page Replacement Algorithms</vt:lpstr>
      <vt:lpstr>FIFO</vt:lpstr>
      <vt:lpstr>Belady’s Anomaly</vt:lpstr>
      <vt:lpstr>OPR (Optimal Page Replacement)</vt:lpstr>
      <vt:lpstr>Least Recently Used (LRU)</vt:lpstr>
      <vt:lpstr>Least Frequently Used (LFU)</vt:lpstr>
      <vt:lpstr>Clock Page Replacement (CPR)</vt:lpstr>
      <vt:lpstr>Second Chance Page Replacement (SCPR)</vt:lpstr>
      <vt:lpstr>Segmentation with Paging: MULTICS</vt:lpstr>
      <vt:lpstr>Banker Algorithm (Practice)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 Memory Management</dc:title>
  <dc:creator>Rishav Acharya</dc:creator>
  <cp:lastModifiedBy>Rishav Acharya</cp:lastModifiedBy>
  <cp:revision>98</cp:revision>
  <dcterms:created xsi:type="dcterms:W3CDTF">2023-02-14T12:27:40Z</dcterms:created>
  <dcterms:modified xsi:type="dcterms:W3CDTF">2024-07-25T05:42:37Z</dcterms:modified>
</cp:coreProperties>
</file>