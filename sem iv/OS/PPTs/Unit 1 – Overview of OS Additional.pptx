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716D1-2A83-4B4D-BE20-5476DFD7E2CF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143A8-0B96-4A3B-9672-66DC4921B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0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B289-6DA9-445D-84FC-D523C5A5B7B2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65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2859-2B3C-4A3D-9404-41D6AB11E509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0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4B97-EBC5-4DA8-AD4A-968218E9418E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9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00FA4-2919-4E17-91FD-0FDAC7E654D9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1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E726-3F2B-4EDC-A097-040CFC6AFBA7}" type="datetime1">
              <a:rPr lang="en-US" smtClean="0"/>
              <a:t>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4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28029-2A82-43B2-8FFA-79A1C0614DA6}" type="datetime1">
              <a:rPr lang="en-US" smtClean="0"/>
              <a:t>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8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1323E-536F-494A-AAB7-A38FE3704729}" type="datetime1">
              <a:rPr lang="en-US" smtClean="0"/>
              <a:t>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5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30F1-AB7F-4B1E-B5AE-AF4885A6BB62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4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C9265-F1E1-4AA7-9B8F-3523AA5D4A08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1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1AA7-462A-44A3-B33A-81BCC9ABAE18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60E3-E888-421F-BD8E-07F9BF32FBAB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4424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0D62-AD5A-4907-A40B-2A4DAAF24035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86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FF2B-4D77-44E8-9A2D-96C9AD295685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1029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AF6B-671A-409E-8890-4B8D922E5EB0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50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9568-84E9-4834-AC6F-795DF47A5AD4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12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C270-E20F-4E34-91EA-156CFBDC312B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5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25471-8567-42E3-AAF5-66347F54CA0F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- Prepared by: Rishav Acharya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768FA24-B602-44B4-B621-A23D6F95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13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3A20-72ED-4C9F-A26A-E90C3F0CE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031" y="2924032"/>
            <a:ext cx="8915399" cy="226278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1 – Overview of OS (Additional)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5A454-6640-6C5E-36C0-B9A16D35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584246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3CAA-4702-4D37-B1A8-CB31C94B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9BF1-8998-4757-A927-7166AD815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69324"/>
            <a:ext cx="8915400" cy="5372669"/>
          </a:xfrm>
        </p:spPr>
        <p:txBody>
          <a:bodyPr>
            <a:normAutofit/>
          </a:bodyPr>
          <a:lstStyle/>
          <a:p>
            <a:r>
              <a:rPr lang="en-US" altLang="en-US" sz="1600" dirty="0"/>
              <a:t>Delivers computing, storage, even apps as a service across a network</a:t>
            </a:r>
          </a:p>
          <a:p>
            <a:r>
              <a:rPr lang="en-US" altLang="en-US" sz="1600" dirty="0"/>
              <a:t>Logical extension of virtualization because it uses virtualization as the base for it functionality.</a:t>
            </a:r>
          </a:p>
          <a:p>
            <a:pPr lvl="1"/>
            <a:r>
              <a:rPr lang="en-US" altLang="en-US" sz="1600" dirty="0"/>
              <a:t>Amazon </a:t>
            </a:r>
            <a:r>
              <a:rPr lang="en-US" altLang="en-US" sz="1600" b="1" dirty="0">
                <a:solidFill>
                  <a:srgbClr val="3366FF"/>
                </a:solidFill>
              </a:rPr>
              <a:t>EC2</a:t>
            </a:r>
            <a:r>
              <a:rPr lang="en-US" altLang="en-US" sz="1600" dirty="0"/>
              <a:t>  has thousands of servers, millions of virtual machines, petabytes of storage available across the Internet, pay based on usage</a:t>
            </a:r>
          </a:p>
          <a:p>
            <a:r>
              <a:rPr lang="en-US" altLang="en-US" sz="1600" dirty="0"/>
              <a:t>Many types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</a:rPr>
              <a:t>Public cloud </a:t>
            </a:r>
            <a:r>
              <a:rPr lang="en-US" altLang="en-US" sz="1600" dirty="0"/>
              <a:t>– available via Internet to anyone willing to pay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</a:rPr>
              <a:t>Private cloud </a:t>
            </a:r>
            <a:r>
              <a:rPr lang="en-US" altLang="en-US" sz="1600" dirty="0"/>
              <a:t>– run by a company for the company’s own use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</a:rPr>
              <a:t>Hybrid cloud </a:t>
            </a:r>
            <a:r>
              <a:rPr lang="en-US" altLang="en-US" sz="1600" dirty="0"/>
              <a:t>– includes both public and private cloud components</a:t>
            </a:r>
          </a:p>
          <a:p>
            <a:pPr lvl="1"/>
            <a:r>
              <a:rPr lang="en-US" altLang="en-US" sz="1600" dirty="0"/>
              <a:t>Software as a Service (</a:t>
            </a:r>
            <a:r>
              <a:rPr lang="en-US" altLang="en-US" sz="1600" b="1" dirty="0">
                <a:solidFill>
                  <a:srgbClr val="3366FF"/>
                </a:solidFill>
              </a:rPr>
              <a:t>SaaS</a:t>
            </a:r>
            <a:r>
              <a:rPr lang="en-US" altLang="en-US" sz="1600" dirty="0"/>
              <a:t>) – one or more applications available via the Internet (i.e., word processor)</a:t>
            </a:r>
          </a:p>
          <a:p>
            <a:pPr lvl="1"/>
            <a:r>
              <a:rPr lang="en-US" altLang="en-US" sz="1600" dirty="0"/>
              <a:t>Platform as a Service (</a:t>
            </a:r>
            <a:r>
              <a:rPr lang="en-US" altLang="en-US" sz="1600" b="1" dirty="0">
                <a:solidFill>
                  <a:srgbClr val="3366FF"/>
                </a:solidFill>
              </a:rPr>
              <a:t>PaaS</a:t>
            </a:r>
            <a:r>
              <a:rPr lang="en-US" altLang="en-US" sz="1600" dirty="0"/>
              <a:t>) – software stack ready for application use via the Internet (i.e., a database server)</a:t>
            </a:r>
          </a:p>
          <a:p>
            <a:pPr lvl="1"/>
            <a:r>
              <a:rPr lang="en-US" altLang="en-US" sz="1600" dirty="0"/>
              <a:t>Infrastructure as a Service (</a:t>
            </a:r>
            <a:r>
              <a:rPr lang="en-US" altLang="en-US" sz="1600" b="1" dirty="0">
                <a:solidFill>
                  <a:srgbClr val="3366FF"/>
                </a:solidFill>
              </a:rPr>
              <a:t>IaaS</a:t>
            </a:r>
            <a:r>
              <a:rPr lang="en-US" altLang="en-US" sz="1600" dirty="0"/>
              <a:t>) – servers or storage available over Internet (i.e., storage available for backup use)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E2B6E-3E64-8686-E58B-B5ECCAE5D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559942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2497-F229-4923-8EC7-42A35D29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E4F0D-C7EE-4C21-9F46-CB9108D8C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10269"/>
            <a:ext cx="8915400" cy="3777622"/>
          </a:xfrm>
        </p:spPr>
        <p:txBody>
          <a:bodyPr/>
          <a:lstStyle/>
          <a:p>
            <a:r>
              <a:rPr lang="en-US" altLang="en-US" dirty="0"/>
              <a:t>Cloud computing environments composed of traditional OSes, plus VMMs, plus cloud management tools</a:t>
            </a:r>
          </a:p>
          <a:p>
            <a:pPr lvl="1"/>
            <a:r>
              <a:rPr lang="en-US" altLang="en-US" dirty="0"/>
              <a:t>Internet connectivity requires security like firewalls</a:t>
            </a:r>
            <a:endParaRPr lang="en-US" altLang="en-US" sz="800" dirty="0"/>
          </a:p>
          <a:p>
            <a:pPr lvl="1"/>
            <a:r>
              <a:rPr lang="en-US" altLang="en-US" dirty="0"/>
              <a:t>Load balancers spread traffic across multiple applications</a:t>
            </a:r>
          </a:p>
          <a:p>
            <a:endParaRPr lang="en-US" dirty="0"/>
          </a:p>
        </p:txBody>
      </p:sp>
      <p:pic>
        <p:nvPicPr>
          <p:cNvPr id="4" name="Picture 1" descr="1_21.pdf">
            <a:extLst>
              <a:ext uri="{FF2B5EF4-FFF2-40B4-BE49-F238E27FC236}">
                <a16:creationId xmlns:a16="http://schemas.microsoft.com/office/drawing/2014/main" id="{42039B26-84B1-439C-8766-F01E14238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541" y="2936828"/>
            <a:ext cx="4628605" cy="3663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1BD20-AA41-5CA2-2697-70A8DFED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45639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63B7C-03DB-4DFE-B6DF-811A1219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time Embedded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B0FCE-6E22-4720-A062-DDE1A0ED7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/>
          <a:lstStyle/>
          <a:p>
            <a:r>
              <a:rPr lang="en-US" altLang="en-US" dirty="0"/>
              <a:t>Real-time embedded systems most prevalent form of computers</a:t>
            </a:r>
          </a:p>
          <a:p>
            <a:pPr lvl="1"/>
            <a:r>
              <a:rPr lang="en-US" altLang="en-US" dirty="0"/>
              <a:t>Vary considerable, special purpose, limited purpose OS,    </a:t>
            </a:r>
            <a:r>
              <a:rPr lang="en-US" altLang="en-US" b="1" dirty="0">
                <a:solidFill>
                  <a:srgbClr val="3366FF"/>
                </a:solidFill>
              </a:rPr>
              <a:t>real-time OS</a:t>
            </a:r>
          </a:p>
          <a:p>
            <a:pPr lvl="1"/>
            <a:r>
              <a:rPr lang="en-US" altLang="en-US" dirty="0"/>
              <a:t>Use expanding</a:t>
            </a:r>
          </a:p>
          <a:p>
            <a:r>
              <a:rPr lang="en-US" altLang="en-US" dirty="0"/>
              <a:t>Many other special computing environments as well</a:t>
            </a:r>
          </a:p>
          <a:p>
            <a:pPr lvl="1"/>
            <a:r>
              <a:rPr lang="en-US" altLang="en-US" dirty="0"/>
              <a:t>Some have OSes, some perform tasks without an OS</a:t>
            </a:r>
          </a:p>
          <a:p>
            <a:r>
              <a:rPr lang="en-US" altLang="en-US" dirty="0"/>
              <a:t>Real-time OS has well-defined fixed time constraints</a:t>
            </a:r>
          </a:p>
          <a:p>
            <a:pPr lvl="1"/>
            <a:r>
              <a:rPr lang="en-US" altLang="en-US" dirty="0"/>
              <a:t>Processing </a:t>
            </a:r>
            <a:r>
              <a:rPr lang="en-US" altLang="en-US" b="1" i="1" dirty="0"/>
              <a:t>must</a:t>
            </a:r>
            <a:r>
              <a:rPr lang="en-US" altLang="en-US" dirty="0"/>
              <a:t> be done within constraint</a:t>
            </a:r>
          </a:p>
          <a:p>
            <a:pPr lvl="1"/>
            <a:r>
              <a:rPr lang="en-US" altLang="en-US" dirty="0"/>
              <a:t>Correct operation only if constraints met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52E82-F4A8-10A2-2F51-859F206F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01774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FC20-17E5-41E2-B031-04C343FD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E37D-E72E-4699-8D7A-600785457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64555"/>
            <a:ext cx="8915400" cy="5068006"/>
          </a:xfrm>
        </p:spPr>
        <p:txBody>
          <a:bodyPr/>
          <a:lstStyle/>
          <a:p>
            <a:r>
              <a:rPr lang="en-US" altLang="en-US" sz="1600" dirty="0"/>
              <a:t>Operating systems provide an environment for execution of programs and services to programs and users</a:t>
            </a:r>
          </a:p>
          <a:p>
            <a:r>
              <a:rPr lang="en-US" altLang="en-US" sz="1600" dirty="0"/>
              <a:t>One set of operating-system services provides functions that are helpful to the user:</a:t>
            </a:r>
          </a:p>
          <a:p>
            <a:pPr lvl="1"/>
            <a:r>
              <a:rPr lang="en-US" altLang="en-US" sz="1600" b="1" dirty="0"/>
              <a:t>User interface </a:t>
            </a:r>
            <a:r>
              <a:rPr lang="en-US" altLang="en-US" sz="1600" dirty="0"/>
              <a:t>- Almost all operating systems have a user interface (</a:t>
            </a:r>
            <a:r>
              <a:rPr lang="en-US" altLang="en-US" sz="1600" b="1" dirty="0">
                <a:solidFill>
                  <a:srgbClr val="3366FF"/>
                </a:solidFill>
              </a:rPr>
              <a:t>UI</a:t>
            </a:r>
            <a:r>
              <a:rPr lang="en-US" altLang="en-US" sz="1600" dirty="0"/>
              <a:t>).</a:t>
            </a:r>
          </a:p>
          <a:p>
            <a:pPr lvl="2"/>
            <a:r>
              <a:rPr lang="en-US" altLang="en-US" sz="1600" dirty="0"/>
              <a:t>Varies between </a:t>
            </a:r>
            <a:r>
              <a:rPr lang="en-US" altLang="en-US" sz="1600" b="1" dirty="0">
                <a:solidFill>
                  <a:srgbClr val="3366FF"/>
                </a:solidFill>
              </a:rPr>
              <a:t>Command-Line </a:t>
            </a:r>
            <a:r>
              <a:rPr lang="en-US" altLang="en-US" sz="1600" b="1" dirty="0"/>
              <a:t>(</a:t>
            </a:r>
            <a:r>
              <a:rPr lang="en-US" altLang="en-US" sz="1600" b="1" dirty="0">
                <a:solidFill>
                  <a:srgbClr val="3366FF"/>
                </a:solidFill>
              </a:rPr>
              <a:t>CLI</a:t>
            </a:r>
            <a:r>
              <a:rPr lang="en-US" altLang="en-US" sz="1600" b="1" dirty="0">
                <a:solidFill>
                  <a:srgbClr val="000000"/>
                </a:solidFill>
              </a:rPr>
              <a:t>)</a:t>
            </a:r>
            <a:r>
              <a:rPr lang="en-US" altLang="en-US" sz="1600" dirty="0">
                <a:solidFill>
                  <a:srgbClr val="000000"/>
                </a:solidFill>
              </a:rPr>
              <a:t>, </a:t>
            </a:r>
            <a:r>
              <a:rPr lang="en-US" altLang="en-US" sz="1600" b="1" dirty="0">
                <a:solidFill>
                  <a:srgbClr val="3366FF"/>
                </a:solidFill>
              </a:rPr>
              <a:t>Graphics User Interface </a:t>
            </a:r>
            <a:r>
              <a:rPr lang="en-US" altLang="en-US" sz="1600" b="1" dirty="0">
                <a:solidFill>
                  <a:srgbClr val="000000"/>
                </a:solidFill>
              </a:rPr>
              <a:t>(</a:t>
            </a:r>
            <a:r>
              <a:rPr lang="en-US" altLang="en-US" sz="1600" b="1" dirty="0">
                <a:solidFill>
                  <a:srgbClr val="3366FF"/>
                </a:solidFill>
              </a:rPr>
              <a:t>GUI</a:t>
            </a:r>
            <a:r>
              <a:rPr lang="en-US" altLang="en-US" sz="1600" b="1" dirty="0">
                <a:solidFill>
                  <a:srgbClr val="000000"/>
                </a:solidFill>
              </a:rPr>
              <a:t>)</a:t>
            </a:r>
            <a:r>
              <a:rPr lang="en-US" altLang="en-US" sz="1600" dirty="0">
                <a:solidFill>
                  <a:srgbClr val="000000"/>
                </a:solidFill>
              </a:rPr>
              <a:t>,</a:t>
            </a:r>
            <a:r>
              <a:rPr lang="en-US" altLang="en-US" sz="1600" b="1" dirty="0">
                <a:solidFill>
                  <a:srgbClr val="3366FF"/>
                </a:solidFill>
              </a:rPr>
              <a:t>   Batch</a:t>
            </a:r>
          </a:p>
          <a:p>
            <a:pPr lvl="1"/>
            <a:r>
              <a:rPr lang="en-US" altLang="en-US" sz="1600" b="1" dirty="0"/>
              <a:t>Program execution </a:t>
            </a:r>
            <a:r>
              <a:rPr lang="en-US" altLang="en-US" sz="1600" dirty="0"/>
              <a:t>- The system must be able to load a program into memory and to run that program, end execution, either normally or abnormally (indicating error)</a:t>
            </a:r>
          </a:p>
          <a:p>
            <a:pPr lvl="1"/>
            <a:r>
              <a:rPr lang="en-US" altLang="en-US" sz="1600" b="1" dirty="0"/>
              <a:t>I/O operations </a:t>
            </a:r>
            <a:r>
              <a:rPr lang="en-US" altLang="en-US" sz="1600" dirty="0"/>
              <a:t>-  A running program may require I/O, which may involve a file or an I/O device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D62F2-78F8-2434-5688-886C1CCA6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40386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9EE5-68AB-4723-AB3F-8CE61875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Services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DF4B6-5A93-492F-89FF-82B46F466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264555"/>
            <a:ext cx="8915400" cy="5218132"/>
          </a:xfrm>
        </p:spPr>
        <p:txBody>
          <a:bodyPr>
            <a:normAutofit/>
          </a:bodyPr>
          <a:lstStyle/>
          <a:p>
            <a:r>
              <a:rPr lang="en-US" altLang="en-US" sz="1600" dirty="0"/>
              <a:t>One set of operating-system services provides functions that are helpful to the user (Cont.):</a:t>
            </a:r>
            <a:endParaRPr lang="en-US" altLang="en-US" sz="1600" b="1" dirty="0"/>
          </a:p>
          <a:p>
            <a:pPr lvl="1"/>
            <a:r>
              <a:rPr lang="en-US" altLang="en-US" sz="1600" b="1" dirty="0"/>
              <a:t>File-system manipulation </a:t>
            </a:r>
            <a:r>
              <a:rPr lang="en-US" altLang="en-US" sz="1600" dirty="0"/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sz="1600" b="1" dirty="0"/>
          </a:p>
          <a:p>
            <a:pPr lvl="1"/>
            <a:r>
              <a:rPr lang="en-US" altLang="en-US" sz="1600" b="1" dirty="0"/>
              <a:t>Communications</a:t>
            </a:r>
            <a:r>
              <a:rPr lang="en-US" altLang="en-US" sz="1600" dirty="0"/>
              <a:t> – Processes may exchange information, on the same computer or between computers over a network</a:t>
            </a:r>
          </a:p>
          <a:p>
            <a:pPr lvl="2"/>
            <a:r>
              <a:rPr lang="en-US" altLang="en-US" sz="1600" dirty="0"/>
              <a:t>Communications may be via shared memory or through message passing (packets moved by the OS)</a:t>
            </a:r>
          </a:p>
          <a:p>
            <a:pPr lvl="1"/>
            <a:r>
              <a:rPr lang="en-US" altLang="en-US" sz="1600" b="1" dirty="0"/>
              <a:t>Error detection </a:t>
            </a:r>
            <a:r>
              <a:rPr lang="en-US" altLang="en-US" sz="1600" dirty="0"/>
              <a:t>– OS needs to be constantly aware of possible errors</a:t>
            </a:r>
          </a:p>
          <a:p>
            <a:pPr lvl="2"/>
            <a:r>
              <a:rPr lang="en-US" altLang="en-US" sz="1600" dirty="0"/>
              <a:t>May occur in the CPU and memory hardware, in I/O devices, in user program</a:t>
            </a:r>
          </a:p>
          <a:p>
            <a:pPr lvl="2"/>
            <a:r>
              <a:rPr lang="en-US" altLang="en-US" sz="1600" dirty="0"/>
              <a:t>For each type of error, OS should take the appropriate action to ensure correct and consistent computing</a:t>
            </a:r>
          </a:p>
          <a:p>
            <a:pPr lvl="2"/>
            <a:r>
              <a:rPr lang="en-US" altLang="en-US" sz="1600" dirty="0"/>
              <a:t>Debugging facilities can greatly enhance the user</a:t>
            </a:r>
            <a:r>
              <a:rPr lang="ja-JP" altLang="en-US" sz="1600" dirty="0"/>
              <a:t>’</a:t>
            </a:r>
            <a:r>
              <a:rPr lang="en-US" altLang="ja-JP" sz="1600" dirty="0"/>
              <a:t>s and programmer</a:t>
            </a:r>
            <a:r>
              <a:rPr lang="ja-JP" altLang="en-US" sz="1600" dirty="0"/>
              <a:t>’</a:t>
            </a:r>
            <a:r>
              <a:rPr lang="en-US" altLang="ja-JP" sz="1600" dirty="0"/>
              <a:t>s abilities to efficiently use the system</a:t>
            </a:r>
            <a:endParaRPr lang="en-US" altLang="en-US" sz="16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E3A1B-50B6-43DA-F378-C67700778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55500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C402-51DD-4EAA-A98B-01E5D058C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Services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30D53-C0B2-4A03-95AF-8BD4C6ECA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64555"/>
            <a:ext cx="8915400" cy="540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Another set of OS functions exists for ensuring the efficient operation of the system itself via resource sharing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/>
              <a:t>Resource allocation - </a:t>
            </a:r>
            <a:r>
              <a:rPr lang="en-US" altLang="en-US" sz="1600" dirty="0"/>
              <a:t>When  multiple users or multiple jobs running concurrently, resources must be allocated to each of them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Many types of resources -   CPU cycles, main memory, file storage, I/O devices.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/>
              <a:t>Accounting -</a:t>
            </a:r>
            <a:r>
              <a:rPr lang="en-US" altLang="en-US" sz="1600" dirty="0"/>
              <a:t> To keep track of which users use how much and what kinds of computer resources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/>
              <a:t>Protection and security - </a:t>
            </a:r>
            <a:r>
              <a:rPr lang="en-US" altLang="en-US" sz="1600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lvl="2">
              <a:lnSpc>
                <a:spcPct val="90000"/>
              </a:lnSpc>
            </a:pPr>
            <a:r>
              <a:rPr lang="en-US" altLang="en-US" sz="1600" b="1" dirty="0"/>
              <a:t>Protection</a:t>
            </a:r>
            <a:r>
              <a:rPr lang="en-US" altLang="en-US" sz="1600" dirty="0"/>
              <a:t> involves ensuring that all access to system resources is controlled</a:t>
            </a:r>
          </a:p>
          <a:p>
            <a:pPr lvl="2">
              <a:lnSpc>
                <a:spcPct val="90000"/>
              </a:lnSpc>
            </a:pPr>
            <a:r>
              <a:rPr lang="en-US" altLang="en-US" sz="1600" b="1" dirty="0"/>
              <a:t>Security</a:t>
            </a:r>
            <a:r>
              <a:rPr lang="en-US" altLang="en-US" sz="1600" dirty="0"/>
              <a:t> of the system from outsiders requires user authentication, extends to defending external I/O devices from invalid access attempts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7B9A2-91C2-CC57-E12D-10CC7E157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823803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9109-0D5C-46A3-B106-DA5A0B7D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view of OS Services (contd.)</a:t>
            </a:r>
          </a:p>
        </p:txBody>
      </p:sp>
      <p:pic>
        <p:nvPicPr>
          <p:cNvPr id="4" name="Picture 4" descr="2">
            <a:extLst>
              <a:ext uri="{FF2B5EF4-FFF2-40B4-BE49-F238E27FC236}">
                <a16:creationId xmlns:a16="http://schemas.microsoft.com/office/drawing/2014/main" id="{4736B7C6-EFF6-4977-84C1-A289DF1D4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262" y="2113117"/>
            <a:ext cx="8451900" cy="4219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8C654-787F-0F19-8447-D726017A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81601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A17A-6374-409D-B99B-A1571603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E4871-DE03-41C2-93D8-F071B9ED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45603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Programming interface to the services provided by the OS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Typically written in a high-level language (C or C++)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Mostly accessed by programs via a high-level </a:t>
            </a:r>
            <a:r>
              <a:rPr lang="en-US" altLang="en-US" b="1" dirty="0">
                <a:solidFill>
                  <a:srgbClr val="3366FF"/>
                </a:solidFill>
              </a:rPr>
              <a:t>Application Programming Interface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API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rather than direct system call use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Three most common APIs are Win32 API for Windows, POSIX API for POSIX-based systems (including virtually all versions of UNIX, Linux, and Mac OS X), and Java API for the Java virtual machine (JVM)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FE33F-D2DA-B886-BC74-91CFFF14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421667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D8AB-FEA5-4966-9419-1D9633A0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1EAF-9D30-4D0A-99DA-C1F725A79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64554"/>
            <a:ext cx="8915400" cy="4969335"/>
          </a:xfrm>
        </p:spPr>
        <p:txBody>
          <a:bodyPr/>
          <a:lstStyle/>
          <a:p>
            <a:r>
              <a:rPr lang="en-US" altLang="en-US" dirty="0"/>
              <a:t>System call sequence to copy the contents of one file to another file</a:t>
            </a:r>
          </a:p>
          <a:p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7C922FC-C108-4037-93E0-C3CA296FC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021" y="1740239"/>
            <a:ext cx="5937250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F7E1E-4580-A7A0-6AA6-13969151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607822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19BB-AE28-47F3-A31D-9358A4FB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 (contd.)</a:t>
            </a:r>
          </a:p>
        </p:txBody>
      </p:sp>
      <p:pic>
        <p:nvPicPr>
          <p:cNvPr id="4" name="Picture 1" descr="Screen Shot 2012-12-01 at 12.25.00 PM.png">
            <a:extLst>
              <a:ext uri="{FF2B5EF4-FFF2-40B4-BE49-F238E27FC236}">
                <a16:creationId xmlns:a16="http://schemas.microsoft.com/office/drawing/2014/main" id="{5E10584E-FE37-40E8-AEAD-952271F43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188" y="1294214"/>
            <a:ext cx="5341448" cy="5444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F9E6B-FC30-A132-1AE4-338665552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1338058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06BDC-8090-4E08-8BC5-503CCCB4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83F3-8522-4F62-A5FD-2C9A090EE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8"/>
            <a:ext cx="8915400" cy="4833315"/>
          </a:xfrm>
        </p:spPr>
        <p:txBody>
          <a:bodyPr/>
          <a:lstStyle/>
          <a:p>
            <a:r>
              <a:rPr lang="en-US" altLang="en-US" dirty="0"/>
              <a:t>Typically, a number associated with each system call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System-call interface </a:t>
            </a:r>
            <a:r>
              <a:rPr lang="en-US" altLang="en-US" dirty="0"/>
              <a:t>maintains a table indexed according to these numbers</a:t>
            </a:r>
            <a:endParaRPr lang="en-US" altLang="en-US" sz="800" dirty="0"/>
          </a:p>
          <a:p>
            <a:r>
              <a:rPr lang="en-US" altLang="en-US" dirty="0"/>
              <a:t>The system call interface invokes  the intended system call in OS kernel and returns status of the system call and any return values</a:t>
            </a:r>
            <a:endParaRPr lang="en-US" altLang="en-US" sz="800" dirty="0"/>
          </a:p>
          <a:p>
            <a:r>
              <a:rPr lang="en-US" altLang="en-US" dirty="0"/>
              <a:t>The caller need know nothing about how the system call is implemented</a:t>
            </a:r>
          </a:p>
          <a:p>
            <a:pPr lvl="1"/>
            <a:r>
              <a:rPr lang="en-US" altLang="en-US" dirty="0"/>
              <a:t>Just needs to obey API and understand what OS will do as a result call</a:t>
            </a:r>
          </a:p>
          <a:p>
            <a:pPr lvl="1"/>
            <a:r>
              <a:rPr lang="en-US" altLang="en-US" dirty="0"/>
              <a:t>Most details of  OS interface hidden from programmer by API  </a:t>
            </a:r>
          </a:p>
          <a:p>
            <a:pPr lvl="2"/>
            <a:r>
              <a:rPr lang="en-US" altLang="en-US" dirty="0"/>
              <a:t>Managed by run-time support library (set of functions built into libraries included with compiler)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D89F2-CE3C-90AF-7301-6EB2D4141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849646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86FD-B1B0-40BA-BB8B-0AAE46A93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API – System Call – OS Relationship</a:t>
            </a:r>
            <a:endParaRPr lang="en-US" dirty="0"/>
          </a:p>
        </p:txBody>
      </p:sp>
      <p:pic>
        <p:nvPicPr>
          <p:cNvPr id="4" name="Picture 5" descr="2">
            <a:extLst>
              <a:ext uri="{FF2B5EF4-FFF2-40B4-BE49-F238E27FC236}">
                <a16:creationId xmlns:a16="http://schemas.microsoft.com/office/drawing/2014/main" id="{7341D62D-B1FE-4C01-9832-209D57754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891" y="1493814"/>
            <a:ext cx="71532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8EB01F-66E1-454F-0B77-4C2B7887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79123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7616-64E1-4016-8D36-4A6F8D56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System Call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F754E-BB35-4A12-A4DB-E599340A3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4915202"/>
          </a:xfrm>
        </p:spPr>
        <p:txBody>
          <a:bodyPr>
            <a:normAutofit/>
          </a:bodyPr>
          <a:lstStyle/>
          <a:p>
            <a:r>
              <a:rPr lang="en-US" altLang="en-US" dirty="0"/>
              <a:t>Process control</a:t>
            </a:r>
          </a:p>
          <a:p>
            <a:pPr lvl="1"/>
            <a:r>
              <a:rPr lang="en-US" altLang="en-US" dirty="0"/>
              <a:t>create process, terminate process</a:t>
            </a:r>
          </a:p>
          <a:p>
            <a:pPr lvl="1"/>
            <a:r>
              <a:rPr lang="en-US" altLang="en-US" dirty="0"/>
              <a:t>end, abort</a:t>
            </a:r>
          </a:p>
          <a:p>
            <a:pPr lvl="1"/>
            <a:r>
              <a:rPr lang="en-US" altLang="en-US" dirty="0"/>
              <a:t>load, execute</a:t>
            </a:r>
          </a:p>
          <a:p>
            <a:pPr lvl="1"/>
            <a:r>
              <a:rPr lang="en-US" altLang="en-US" dirty="0"/>
              <a:t>get process attributes, set process attributes</a:t>
            </a:r>
          </a:p>
          <a:p>
            <a:pPr lvl="1"/>
            <a:r>
              <a:rPr lang="en-US" altLang="en-US" dirty="0"/>
              <a:t>wait for time</a:t>
            </a:r>
          </a:p>
          <a:p>
            <a:pPr lvl="1"/>
            <a:r>
              <a:rPr lang="en-US" altLang="en-US" dirty="0"/>
              <a:t>wait event, signal event</a:t>
            </a:r>
          </a:p>
          <a:p>
            <a:pPr lvl="1"/>
            <a:r>
              <a:rPr lang="en-US" altLang="en-US" dirty="0"/>
              <a:t>allocate and free memory</a:t>
            </a:r>
          </a:p>
          <a:p>
            <a:pPr lvl="1"/>
            <a:r>
              <a:rPr lang="en-US" altLang="en-US" dirty="0"/>
              <a:t>Dump memory if error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Debugger</a:t>
            </a:r>
            <a:r>
              <a:rPr lang="en-US" altLang="en-US" dirty="0"/>
              <a:t> for determining </a:t>
            </a:r>
            <a:r>
              <a:rPr lang="en-US" altLang="en-US" b="1" dirty="0">
                <a:solidFill>
                  <a:srgbClr val="3366FF"/>
                </a:solidFill>
              </a:rPr>
              <a:t>bugs, single step </a:t>
            </a:r>
            <a:r>
              <a:rPr lang="en-US" altLang="en-US" dirty="0"/>
              <a:t>execution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Locks</a:t>
            </a:r>
            <a:r>
              <a:rPr lang="en-US" altLang="en-US" dirty="0"/>
              <a:t> for managing access to shared data between processes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B49B5-516F-7100-08FD-8CACD086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1040499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959B-FCF1-4D47-AB68-D0C30071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System Call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30037-E1A9-41F6-AEC1-7597FFF61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8"/>
            <a:ext cx="8915400" cy="4833315"/>
          </a:xfrm>
        </p:spPr>
        <p:txBody>
          <a:bodyPr/>
          <a:lstStyle/>
          <a:p>
            <a:r>
              <a:rPr lang="en-US" altLang="en-US" dirty="0"/>
              <a:t>File management</a:t>
            </a:r>
          </a:p>
          <a:p>
            <a:pPr lvl="1"/>
            <a:r>
              <a:rPr lang="en-US" altLang="en-US" dirty="0"/>
              <a:t>create file, delete file</a:t>
            </a:r>
          </a:p>
          <a:p>
            <a:pPr lvl="1"/>
            <a:r>
              <a:rPr lang="en-US" altLang="en-US" dirty="0"/>
              <a:t>open, close file</a:t>
            </a:r>
          </a:p>
          <a:p>
            <a:pPr lvl="1"/>
            <a:r>
              <a:rPr lang="en-US" altLang="en-US" dirty="0"/>
              <a:t>read, write, reposition</a:t>
            </a:r>
          </a:p>
          <a:p>
            <a:pPr lvl="1"/>
            <a:r>
              <a:rPr lang="en-US" altLang="en-US" dirty="0"/>
              <a:t>get and set file attributes</a:t>
            </a:r>
          </a:p>
          <a:p>
            <a:r>
              <a:rPr lang="en-US" altLang="en-US" dirty="0"/>
              <a:t>Device management</a:t>
            </a:r>
          </a:p>
          <a:p>
            <a:pPr lvl="1"/>
            <a:r>
              <a:rPr lang="en-US" altLang="en-US" dirty="0"/>
              <a:t>request device, release device</a:t>
            </a:r>
          </a:p>
          <a:p>
            <a:pPr lvl="1"/>
            <a:r>
              <a:rPr lang="en-US" altLang="en-US" dirty="0"/>
              <a:t>read, write, reposition</a:t>
            </a:r>
          </a:p>
          <a:p>
            <a:pPr lvl="1"/>
            <a:r>
              <a:rPr lang="en-US" altLang="en-US" dirty="0"/>
              <a:t>get device attributes, set device attributes</a:t>
            </a:r>
          </a:p>
          <a:p>
            <a:pPr lvl="1"/>
            <a:r>
              <a:rPr lang="en-US" altLang="en-US" dirty="0"/>
              <a:t>logically attach or detach devices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203E2-14F6-7E2D-F734-53689D277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76478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5789-A116-425A-B28D-53712780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System Call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2B1F9-161B-4C58-8320-252727F7E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10269"/>
            <a:ext cx="8915400" cy="4935940"/>
          </a:xfrm>
        </p:spPr>
        <p:txBody>
          <a:bodyPr>
            <a:normAutofit/>
          </a:bodyPr>
          <a:lstStyle/>
          <a:p>
            <a:r>
              <a:rPr lang="en-US" altLang="en-US" dirty="0"/>
              <a:t>Information maintenance</a:t>
            </a:r>
          </a:p>
          <a:p>
            <a:pPr lvl="1"/>
            <a:r>
              <a:rPr lang="en-US" altLang="en-US" dirty="0"/>
              <a:t>get time or date, set time or date</a:t>
            </a:r>
          </a:p>
          <a:p>
            <a:pPr lvl="1"/>
            <a:r>
              <a:rPr lang="en-US" altLang="en-US" dirty="0"/>
              <a:t>get system data, set system data</a:t>
            </a:r>
          </a:p>
          <a:p>
            <a:pPr lvl="1"/>
            <a:r>
              <a:rPr lang="en-US" altLang="en-US" dirty="0"/>
              <a:t>get and set process, file, or device attributes</a:t>
            </a:r>
          </a:p>
          <a:p>
            <a:r>
              <a:rPr lang="en-US" altLang="en-US" dirty="0"/>
              <a:t>Communications</a:t>
            </a:r>
          </a:p>
          <a:p>
            <a:pPr lvl="1"/>
            <a:r>
              <a:rPr lang="en-US" altLang="en-US" dirty="0"/>
              <a:t>create, delete communication connection</a:t>
            </a:r>
          </a:p>
          <a:p>
            <a:pPr lvl="1"/>
            <a:r>
              <a:rPr lang="en-US" altLang="en-US" dirty="0"/>
              <a:t>send, receive messages if </a:t>
            </a:r>
            <a:r>
              <a:rPr lang="en-US" altLang="en-US" b="1" dirty="0">
                <a:solidFill>
                  <a:srgbClr val="3366FF"/>
                </a:solidFill>
              </a:rPr>
              <a:t>message passing model </a:t>
            </a:r>
            <a:r>
              <a:rPr lang="en-US" altLang="en-US" dirty="0"/>
              <a:t>to </a:t>
            </a:r>
            <a:r>
              <a:rPr lang="en-US" altLang="en-US" b="1" dirty="0">
                <a:solidFill>
                  <a:srgbClr val="3366FF"/>
                </a:solidFill>
              </a:rPr>
              <a:t>host name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process name</a:t>
            </a:r>
          </a:p>
          <a:p>
            <a:pPr lvl="2"/>
            <a:r>
              <a:rPr lang="en-US" altLang="en-US" dirty="0"/>
              <a:t>From</a:t>
            </a:r>
            <a:r>
              <a:rPr lang="en-US" altLang="en-US" b="1" dirty="0">
                <a:solidFill>
                  <a:srgbClr val="3366FF"/>
                </a:solidFill>
              </a:rPr>
              <a:t> client </a:t>
            </a:r>
            <a:r>
              <a:rPr lang="en-US" altLang="en-US" dirty="0"/>
              <a:t>to</a:t>
            </a:r>
            <a:r>
              <a:rPr lang="en-US" altLang="en-US" b="1" dirty="0">
                <a:solidFill>
                  <a:srgbClr val="3366FF"/>
                </a:solidFill>
              </a:rPr>
              <a:t> server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Shared-memory model </a:t>
            </a:r>
            <a:r>
              <a:rPr lang="en-US" altLang="en-US" dirty="0"/>
              <a:t>create and gain access to memory regions</a:t>
            </a:r>
          </a:p>
          <a:p>
            <a:pPr lvl="1"/>
            <a:r>
              <a:rPr lang="en-US" altLang="en-US" dirty="0"/>
              <a:t>transfer status information</a:t>
            </a:r>
          </a:p>
          <a:p>
            <a:pPr lvl="1"/>
            <a:r>
              <a:rPr lang="en-US" altLang="en-US" dirty="0"/>
              <a:t>attach and detach remote devices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1F501-76B3-773C-65B0-CE6F9B18E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110295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E306-DC44-4EBB-8088-D04D850C1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System Call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5176F-E3D3-41D0-89A5-D770A039F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42281"/>
            <a:ext cx="8915400" cy="3777622"/>
          </a:xfrm>
        </p:spPr>
        <p:txBody>
          <a:bodyPr/>
          <a:lstStyle/>
          <a:p>
            <a:r>
              <a:rPr lang="en-US" altLang="en-US" dirty="0"/>
              <a:t>Protection</a:t>
            </a:r>
          </a:p>
          <a:p>
            <a:pPr lvl="1"/>
            <a:r>
              <a:rPr lang="en-US" altLang="en-US" dirty="0"/>
              <a:t>Control access to resources</a:t>
            </a:r>
          </a:p>
          <a:p>
            <a:pPr lvl="1"/>
            <a:r>
              <a:rPr lang="en-US" altLang="en-US" dirty="0"/>
              <a:t>Get and set permissions</a:t>
            </a:r>
          </a:p>
          <a:p>
            <a:pPr lvl="1"/>
            <a:r>
              <a:rPr lang="en-US" altLang="en-US" dirty="0"/>
              <a:t>Allow and deny user access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00E0F-D195-3FA6-39E8-6684287B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1704358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2E2B-3209-4699-9821-0B871D7E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C7367-38F6-450A-A046-52B56783A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068" y="1540189"/>
            <a:ext cx="8915400" cy="3777622"/>
          </a:xfrm>
        </p:spPr>
        <p:txBody>
          <a:bodyPr/>
          <a:lstStyle/>
          <a:p>
            <a:r>
              <a:rPr lang="en-US" altLang="en-US" dirty="0"/>
              <a:t>C program invoking </a:t>
            </a:r>
            <a:r>
              <a:rPr lang="en-US" altLang="en-US" dirty="0" err="1"/>
              <a:t>printf</a:t>
            </a:r>
            <a:r>
              <a:rPr lang="en-US" altLang="en-US" dirty="0"/>
              <a:t>() library call, which calls write() system call</a:t>
            </a:r>
          </a:p>
          <a:p>
            <a:endParaRPr lang="en-US" dirty="0"/>
          </a:p>
        </p:txBody>
      </p:sp>
      <p:pic>
        <p:nvPicPr>
          <p:cNvPr id="4" name="Picture 1" descr="Screen Shot 2012-12-01 at 1.12.03 PM.png">
            <a:extLst>
              <a:ext uri="{FF2B5EF4-FFF2-40B4-BE49-F238E27FC236}">
                <a16:creationId xmlns:a16="http://schemas.microsoft.com/office/drawing/2014/main" id="{A2EA571E-42CF-4759-87F9-FE46D325C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2" y="2019077"/>
            <a:ext cx="4617334" cy="46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17CEB-1331-B112-3EEE-4CBC1595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565461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0C70-14AB-4676-8F15-C9262D0F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6D2FA-8C79-4C52-AF16-83D99125B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396621"/>
            <a:ext cx="8915400" cy="50724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Provide a convenient environment for program development and execution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of them are simply user interfaces to system calls; others are considerably more complex</a:t>
            </a:r>
          </a:p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File management </a:t>
            </a:r>
            <a:r>
              <a:rPr lang="en-US" altLang="en-US" dirty="0"/>
              <a:t>- Create, delete, copy, rename, print, dump, list, and generally manipulate files and directories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Status information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ask the system for info - date, time, amount of available memory, disk space, number of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Others provide detailed performance, logging, and debugging information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Typically, these programs format and print the output to the terminal or other output devices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systems implement  a </a:t>
            </a:r>
            <a:r>
              <a:rPr lang="en-US" altLang="en-US" b="1" dirty="0">
                <a:solidFill>
                  <a:srgbClr val="3366FF"/>
                </a:solidFill>
              </a:rPr>
              <a:t>registry</a:t>
            </a:r>
            <a:r>
              <a:rPr lang="en-US" altLang="en-US" dirty="0"/>
              <a:t> - used to store and retrieve configuration information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4E4C62-E53C-5FAB-1893-763D876D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325490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6D0C-E418-4A2E-93E0-7D6133C1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Program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B85B5-D33F-4120-92EE-614F26DFB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4928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/>
              <a:t>File modification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Text editors to create and modify files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Special commands to search contents of files or perform transformations of the text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Programming-language support </a:t>
            </a:r>
            <a:r>
              <a:rPr lang="en-US" altLang="en-US" dirty="0"/>
              <a:t>- Compilers, assemblers, debuggers and interpreters sometimes provided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Program loading and execution</a:t>
            </a:r>
            <a:r>
              <a:rPr lang="en-US" altLang="en-US" dirty="0"/>
              <a:t>- Absolute loaders, relocatable loaders, linkage editors, and overlay-loaders, debugging systems for higher-level and machine language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Communications</a:t>
            </a:r>
            <a:r>
              <a:rPr lang="en-US" altLang="en-US" dirty="0"/>
              <a:t> - Provide the mechanism for creating virtual connections among processes, users, and computer systems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Allow users to send messages to one another</a:t>
            </a:r>
            <a:r>
              <a:rPr lang="ja-JP" altLang="en-US" dirty="0"/>
              <a:t>’</a:t>
            </a:r>
            <a:r>
              <a:rPr lang="en-US" altLang="ja-JP" dirty="0"/>
              <a:t>s screens, browse web pages, send electronic-mail messages, log in remotely, transfer files from one machine to another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E9762-10AD-4483-2B49-011EE9D8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908708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5EA9-4115-48E4-9379-792B5B39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Program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6C4B5-7FBC-4C41-897D-2BC32142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437564"/>
            <a:ext cx="8915400" cy="49359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/>
              <a:t>Background Services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Launch at boot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for system startup, then terminate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from system boot to shutdown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 facilities like disk checking, process scheduling, error logging, printing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Run in user context not kernel context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3366FF"/>
                </a:solidFill>
              </a:rPr>
              <a:t>services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subsystems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daemons</a:t>
            </a:r>
            <a:r>
              <a:rPr lang="en-US" altLang="en-US" dirty="0"/>
              <a:t> </a:t>
            </a:r>
            <a:endParaRPr lang="en-US" altLang="en-US" b="1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Application programs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Don’t pertain to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Run by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Not typically considered part of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Launched by command line, mouse click, finger poke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FD2EB-0BAF-909A-5610-77F7582BA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01673113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1139</TotalTime>
  <Words>1553</Words>
  <Application>Microsoft Office PowerPoint</Application>
  <PresentationFormat>Widescreen</PresentationFormat>
  <Paragraphs>163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 Gothic</vt:lpstr>
      <vt:lpstr>Monotype Sorts</vt:lpstr>
      <vt:lpstr>Times New Roman</vt:lpstr>
      <vt:lpstr>Wingdings 3</vt:lpstr>
      <vt:lpstr>Wisp</vt:lpstr>
      <vt:lpstr>Unit 1 – Overview of OS (Additional)</vt:lpstr>
      <vt:lpstr>Cloud Computing</vt:lpstr>
      <vt:lpstr>Cloud Computing (contd.)</vt:lpstr>
      <vt:lpstr>Real time Embedded System</vt:lpstr>
      <vt:lpstr>OS Services</vt:lpstr>
      <vt:lpstr>OS Services (contd.)</vt:lpstr>
      <vt:lpstr>OS Services (contd.)</vt:lpstr>
      <vt:lpstr>A view of OS Services (contd.)</vt:lpstr>
      <vt:lpstr>System Calls</vt:lpstr>
      <vt:lpstr>System Calls (contd.)</vt:lpstr>
      <vt:lpstr>System Call (contd.)</vt:lpstr>
      <vt:lpstr>System Call Implementation</vt:lpstr>
      <vt:lpstr>API – System Call – OS Relationship</vt:lpstr>
      <vt:lpstr>Types of System Call </vt:lpstr>
      <vt:lpstr>Types of System Call (contd.)</vt:lpstr>
      <vt:lpstr>Types of System Call (contd.)</vt:lpstr>
      <vt:lpstr>Types of System Call (contd.)</vt:lpstr>
      <vt:lpstr>System Call (contd.)</vt:lpstr>
      <vt:lpstr>System Program</vt:lpstr>
      <vt:lpstr>System Program (contd.)</vt:lpstr>
      <vt:lpstr>System Program (contd.)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– Overview of OS</dc:title>
  <dc:creator>Rishav Acharya</dc:creator>
  <cp:lastModifiedBy>Rishav</cp:lastModifiedBy>
  <cp:revision>56</cp:revision>
  <dcterms:created xsi:type="dcterms:W3CDTF">2023-01-22T03:43:54Z</dcterms:created>
  <dcterms:modified xsi:type="dcterms:W3CDTF">2023-02-11T13:13:22Z</dcterms:modified>
</cp:coreProperties>
</file>