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3"/>
  </p:notesMasterIdLst>
  <p:sldIdLst>
    <p:sldId id="256" r:id="rId2"/>
    <p:sldId id="257" r:id="rId3"/>
    <p:sldId id="258" r:id="rId4"/>
    <p:sldId id="260" r:id="rId5"/>
    <p:sldId id="265" r:id="rId6"/>
    <p:sldId id="259" r:id="rId7"/>
    <p:sldId id="261" r:id="rId8"/>
    <p:sldId id="262" r:id="rId9"/>
    <p:sldId id="263"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6" r:id="rId31"/>
    <p:sldId id="285" r:id="rId32"/>
    <p:sldId id="288" r:id="rId33"/>
    <p:sldId id="287" r:id="rId34"/>
    <p:sldId id="289" r:id="rId35"/>
    <p:sldId id="290" r:id="rId36"/>
    <p:sldId id="291" r:id="rId37"/>
    <p:sldId id="292" r:id="rId38"/>
    <p:sldId id="293" r:id="rId39"/>
    <p:sldId id="294" r:id="rId40"/>
    <p:sldId id="295" r:id="rId41"/>
    <p:sldId id="296" r:id="rId42"/>
    <p:sldId id="298" r:id="rId43"/>
    <p:sldId id="297"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5" r:id="rId60"/>
    <p:sldId id="314" r:id="rId61"/>
    <p:sldId id="316"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06" d="100"/>
          <a:sy n="106" d="100"/>
        </p:scale>
        <p:origin x="70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17A495-672B-46F8-BEF8-E0DD5F7E413F}" type="datetimeFigureOut">
              <a:rPr lang="en-US" smtClean="0"/>
              <a:t>12/1/2023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28A935-CECE-4BFB-8DA7-07576B0DED79}" type="slidenum">
              <a:rPr lang="en-US" smtClean="0"/>
              <a:t>‹#›</a:t>
            </a:fld>
            <a:endParaRPr lang="en-US"/>
          </a:p>
        </p:txBody>
      </p:sp>
    </p:spTree>
    <p:extLst>
      <p:ext uri="{BB962C8B-B14F-4D97-AF65-F5344CB8AC3E}">
        <p14:creationId xmlns:p14="http://schemas.microsoft.com/office/powerpoint/2010/main" val="2368895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B1B23B2-62AE-4176-BB67-3490BA6E5C3D}" type="datetime1">
              <a:rPr lang="en-US" smtClean="0"/>
              <a:t>12/1/2023</a:t>
            </a:fld>
            <a:endParaRPr lang="en-US"/>
          </a:p>
        </p:txBody>
      </p:sp>
      <p:sp>
        <p:nvSpPr>
          <p:cNvPr id="5" name="Footer Placeholder 4"/>
          <p:cNvSpPr>
            <a:spLocks noGrp="1"/>
          </p:cNvSpPr>
          <p:nvPr>
            <p:ph type="ftr" sz="quarter" idx="11"/>
          </p:nvPr>
        </p:nvSpPr>
        <p:spPr/>
        <p:txBody>
          <a:bodyPr/>
          <a:lstStyle/>
          <a:p>
            <a:r>
              <a:rPr lang="en-US"/>
              <a:t>- Prepared by: Rishav Acharya</a:t>
            </a: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2536165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C1478C-1439-4E49-A47F-0DC301949813}" type="datetime1">
              <a:rPr lang="en-US" smtClean="0"/>
              <a:t>12/1/2023</a:t>
            </a:fld>
            <a:endParaRPr lang="en-US"/>
          </a:p>
        </p:txBody>
      </p:sp>
      <p:sp>
        <p:nvSpPr>
          <p:cNvPr id="5" name="Footer Placeholder 4"/>
          <p:cNvSpPr>
            <a:spLocks noGrp="1"/>
          </p:cNvSpPr>
          <p:nvPr>
            <p:ph type="ftr" sz="quarter" idx="11"/>
          </p:nvPr>
        </p:nvSpPr>
        <p:spPr/>
        <p:txBody>
          <a:bodyPr/>
          <a:lstStyle/>
          <a:p>
            <a:r>
              <a:rPr lang="en-US"/>
              <a:t>- Prepared by: Rishav Acharya</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564008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3CEDD7-D5A9-4D54-B956-827DC79DBBAA}" type="datetime1">
              <a:rPr lang="en-US" smtClean="0"/>
              <a:t>12/1/2023</a:t>
            </a:fld>
            <a:endParaRPr lang="en-US"/>
          </a:p>
        </p:txBody>
      </p:sp>
      <p:sp>
        <p:nvSpPr>
          <p:cNvPr id="5" name="Footer Placeholder 4"/>
          <p:cNvSpPr>
            <a:spLocks noGrp="1"/>
          </p:cNvSpPr>
          <p:nvPr>
            <p:ph type="ftr" sz="quarter" idx="11"/>
          </p:nvPr>
        </p:nvSpPr>
        <p:spPr/>
        <p:txBody>
          <a:bodyPr/>
          <a:lstStyle/>
          <a:p>
            <a:r>
              <a:rPr lang="en-US"/>
              <a:t>- Prepared by: Rishav Acharya</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256309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82232E-D3A5-4E85-905B-0E2F063326C8}" type="datetime1">
              <a:rPr lang="en-US" smtClean="0"/>
              <a:t>12/1/2023</a:t>
            </a:fld>
            <a:endParaRPr lang="en-US"/>
          </a:p>
        </p:txBody>
      </p:sp>
      <p:sp>
        <p:nvSpPr>
          <p:cNvPr id="6" name="Footer Placeholder 5"/>
          <p:cNvSpPr>
            <a:spLocks noGrp="1"/>
          </p:cNvSpPr>
          <p:nvPr>
            <p:ph type="ftr" sz="quarter" idx="11"/>
          </p:nvPr>
        </p:nvSpPr>
        <p:spPr/>
        <p:txBody>
          <a:bodyPr/>
          <a:lstStyle/>
          <a:p>
            <a:r>
              <a:rPr lang="en-US"/>
              <a:t>- Prepared by: Rishav Acharya</a:t>
            </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3079111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79266D-7658-43CF-9D88-CF277CC8E26A}" type="datetime1">
              <a:rPr lang="en-US" smtClean="0"/>
              <a:t>12/1/2023</a:t>
            </a:fld>
            <a:endParaRPr lang="en-US"/>
          </a:p>
        </p:txBody>
      </p:sp>
      <p:sp>
        <p:nvSpPr>
          <p:cNvPr id="8" name="Footer Placeholder 7"/>
          <p:cNvSpPr>
            <a:spLocks noGrp="1"/>
          </p:cNvSpPr>
          <p:nvPr>
            <p:ph type="ftr" sz="quarter" idx="11"/>
          </p:nvPr>
        </p:nvSpPr>
        <p:spPr/>
        <p:txBody>
          <a:bodyPr/>
          <a:lstStyle/>
          <a:p>
            <a:r>
              <a:rPr lang="en-US"/>
              <a:t>- Prepared by: Rishav Acharya</a:t>
            </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2963741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57A385E-7ADE-431E-81DF-17247201752B}" type="datetime1">
              <a:rPr lang="en-US" smtClean="0"/>
              <a:t>12/1/2023</a:t>
            </a:fld>
            <a:endParaRPr lang="en-US"/>
          </a:p>
        </p:txBody>
      </p:sp>
      <p:sp>
        <p:nvSpPr>
          <p:cNvPr id="4" name="Footer Placeholder 3"/>
          <p:cNvSpPr>
            <a:spLocks noGrp="1"/>
          </p:cNvSpPr>
          <p:nvPr>
            <p:ph type="ftr" sz="quarter" idx="11"/>
          </p:nvPr>
        </p:nvSpPr>
        <p:spPr/>
        <p:txBody>
          <a:bodyPr/>
          <a:lstStyle/>
          <a:p>
            <a:r>
              <a:rPr lang="en-US"/>
              <a:t>- Prepared by: Rishav Acharya</a:t>
            </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1583788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E70A46-903B-4853-9A95-4F6F932EAFDE}" type="datetime1">
              <a:rPr lang="en-US" smtClean="0"/>
              <a:t>12/1/2023</a:t>
            </a:fld>
            <a:endParaRPr lang="en-US"/>
          </a:p>
        </p:txBody>
      </p:sp>
      <p:sp>
        <p:nvSpPr>
          <p:cNvPr id="3" name="Footer Placeholder 2"/>
          <p:cNvSpPr>
            <a:spLocks noGrp="1"/>
          </p:cNvSpPr>
          <p:nvPr>
            <p:ph type="ftr" sz="quarter" idx="11"/>
          </p:nvPr>
        </p:nvSpPr>
        <p:spPr/>
        <p:txBody>
          <a:bodyPr/>
          <a:lstStyle/>
          <a:p>
            <a:r>
              <a:rPr lang="en-US"/>
              <a:t>- Prepared by: Rishav Acharya</a:t>
            </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483953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9BC5FF-173E-4EAB-82B9-9EA9D2DDE8AC}" type="datetime1">
              <a:rPr lang="en-US" smtClean="0"/>
              <a:t>12/1/2023</a:t>
            </a:fld>
            <a:endParaRPr lang="en-US"/>
          </a:p>
        </p:txBody>
      </p:sp>
      <p:sp>
        <p:nvSpPr>
          <p:cNvPr id="6" name="Footer Placeholder 5"/>
          <p:cNvSpPr>
            <a:spLocks noGrp="1"/>
          </p:cNvSpPr>
          <p:nvPr>
            <p:ph type="ftr" sz="quarter" idx="11"/>
          </p:nvPr>
        </p:nvSpPr>
        <p:spPr/>
        <p:txBody>
          <a:bodyPr/>
          <a:lstStyle/>
          <a:p>
            <a:r>
              <a:rPr lang="en-US"/>
              <a:t>- Prepared by: Rishav Acharya</a:t>
            </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1120142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70DF12-9F96-426C-9B03-687FB9FABBFF}" type="datetime1">
              <a:rPr lang="en-US" smtClean="0"/>
              <a:t>12/1/2023</a:t>
            </a:fld>
            <a:endParaRPr lang="en-US"/>
          </a:p>
        </p:txBody>
      </p:sp>
      <p:sp>
        <p:nvSpPr>
          <p:cNvPr id="6" name="Footer Placeholder 5"/>
          <p:cNvSpPr>
            <a:spLocks noGrp="1"/>
          </p:cNvSpPr>
          <p:nvPr>
            <p:ph type="ftr" sz="quarter" idx="11"/>
          </p:nvPr>
        </p:nvSpPr>
        <p:spPr/>
        <p:txBody>
          <a:bodyPr/>
          <a:lstStyle/>
          <a:p>
            <a:r>
              <a:rPr lang="en-US"/>
              <a:t>- Prepared by: Rishav Acharya</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557818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4659CE-6E27-42F7-BC0A-25E86F996B46}" type="datetime1">
              <a:rPr lang="en-US" smtClean="0"/>
              <a:t>12/1/2023</a:t>
            </a:fld>
            <a:endParaRPr lang="en-US"/>
          </a:p>
        </p:txBody>
      </p:sp>
      <p:sp>
        <p:nvSpPr>
          <p:cNvPr id="5" name="Footer Placeholder 4"/>
          <p:cNvSpPr>
            <a:spLocks noGrp="1"/>
          </p:cNvSpPr>
          <p:nvPr>
            <p:ph type="ftr" sz="quarter" idx="11"/>
          </p:nvPr>
        </p:nvSpPr>
        <p:spPr/>
        <p:txBody>
          <a:bodyPr/>
          <a:lstStyle/>
          <a:p>
            <a:r>
              <a:rPr lang="en-US"/>
              <a:t>- Prepared by: Rishav Acharya</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157844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603FC2-2F30-4F9D-AA34-458803CC02FF}" type="datetime1">
              <a:rPr lang="en-US" smtClean="0"/>
              <a:t>12/1/2023</a:t>
            </a:fld>
            <a:endParaRPr lang="en-US"/>
          </a:p>
        </p:txBody>
      </p:sp>
      <p:sp>
        <p:nvSpPr>
          <p:cNvPr id="5" name="Footer Placeholder 4"/>
          <p:cNvSpPr>
            <a:spLocks noGrp="1"/>
          </p:cNvSpPr>
          <p:nvPr>
            <p:ph type="ftr" sz="quarter" idx="11"/>
          </p:nvPr>
        </p:nvSpPr>
        <p:spPr/>
        <p:txBody>
          <a:bodyPr/>
          <a:lstStyle/>
          <a:p>
            <a:r>
              <a:rPr lang="en-US"/>
              <a:t>- Prepared by: Rishav Acharya</a:t>
            </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768FA24-B602-44B4-B621-A23D6F956B3B}"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54424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143F03C-6258-4720-8EDF-BB7811EFC6A1}" type="datetime1">
              <a:rPr lang="en-US" smtClean="0"/>
              <a:t>12/1/2023</a:t>
            </a:fld>
            <a:endParaRPr lang="en-US"/>
          </a:p>
        </p:txBody>
      </p:sp>
      <p:sp>
        <p:nvSpPr>
          <p:cNvPr id="6" name="Footer Placeholder 5"/>
          <p:cNvSpPr>
            <a:spLocks noGrp="1"/>
          </p:cNvSpPr>
          <p:nvPr>
            <p:ph type="ftr" sz="quarter" idx="11"/>
          </p:nvPr>
        </p:nvSpPr>
        <p:spPr/>
        <p:txBody>
          <a:bodyPr/>
          <a:lstStyle/>
          <a:p>
            <a:r>
              <a:rPr lang="en-US"/>
              <a:t>- Prepared by: Rishav Acharya</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31758869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503D850-55D6-4826-9DA0-09848587C99C}" type="datetime1">
              <a:rPr lang="en-US" smtClean="0"/>
              <a:t>12/1/2023</a:t>
            </a:fld>
            <a:endParaRPr lang="en-US"/>
          </a:p>
        </p:txBody>
      </p:sp>
      <p:sp>
        <p:nvSpPr>
          <p:cNvPr id="6" name="Footer Placeholder 5"/>
          <p:cNvSpPr>
            <a:spLocks noGrp="1"/>
          </p:cNvSpPr>
          <p:nvPr>
            <p:ph type="ftr" sz="quarter" idx="11"/>
          </p:nvPr>
        </p:nvSpPr>
        <p:spPr/>
        <p:txBody>
          <a:bodyPr/>
          <a:lstStyle/>
          <a:p>
            <a:r>
              <a:rPr lang="en-US"/>
              <a:t>- Prepared by: Rishav Acharya</a:t>
            </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768FA24-B602-44B4-B621-A23D6F956B3B}"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310295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0C96F23-A718-4A09-85F3-5F6256D0C2DB}" type="datetime1">
              <a:rPr lang="en-US" smtClean="0"/>
              <a:t>12/1/2023</a:t>
            </a:fld>
            <a:endParaRPr lang="en-US"/>
          </a:p>
        </p:txBody>
      </p:sp>
      <p:sp>
        <p:nvSpPr>
          <p:cNvPr id="6" name="Footer Placeholder 5"/>
          <p:cNvSpPr>
            <a:spLocks noGrp="1"/>
          </p:cNvSpPr>
          <p:nvPr>
            <p:ph type="ftr" sz="quarter" idx="11"/>
          </p:nvPr>
        </p:nvSpPr>
        <p:spPr/>
        <p:txBody>
          <a:bodyPr/>
          <a:lstStyle/>
          <a:p>
            <a:r>
              <a:rPr lang="en-US"/>
              <a:t>- Prepared by: Rishav Acharya</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36328508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D77B8D-3204-40DC-AC47-B871EB0E076B}" type="datetime1">
              <a:rPr lang="en-US" smtClean="0"/>
              <a:t>12/1/2023</a:t>
            </a:fld>
            <a:endParaRPr lang="en-US"/>
          </a:p>
        </p:txBody>
      </p:sp>
      <p:sp>
        <p:nvSpPr>
          <p:cNvPr id="5" name="Footer Placeholder 4"/>
          <p:cNvSpPr>
            <a:spLocks noGrp="1"/>
          </p:cNvSpPr>
          <p:nvPr>
            <p:ph type="ftr" sz="quarter" idx="11"/>
          </p:nvPr>
        </p:nvSpPr>
        <p:spPr/>
        <p:txBody>
          <a:bodyPr/>
          <a:lstStyle/>
          <a:p>
            <a:r>
              <a:rPr lang="en-US"/>
              <a:t>- Prepared by: Rishav Acharya</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19013129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64CA54-03A9-4B43-8B48-6A01183C46C5}" type="datetime1">
              <a:rPr lang="en-US" smtClean="0"/>
              <a:t>12/1/2023</a:t>
            </a:fld>
            <a:endParaRPr lang="en-US"/>
          </a:p>
        </p:txBody>
      </p:sp>
      <p:sp>
        <p:nvSpPr>
          <p:cNvPr id="5" name="Footer Placeholder 4"/>
          <p:cNvSpPr>
            <a:spLocks noGrp="1"/>
          </p:cNvSpPr>
          <p:nvPr>
            <p:ph type="ftr" sz="quarter" idx="11"/>
          </p:nvPr>
        </p:nvSpPr>
        <p:spPr/>
        <p:txBody>
          <a:bodyPr/>
          <a:lstStyle/>
          <a:p>
            <a:r>
              <a:rPr lang="en-US"/>
              <a:t>- Prepared by: Rishav Acharya</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768FA24-B602-44B4-B621-A23D6F956B3B}" type="slidenum">
              <a:rPr lang="en-US" smtClean="0"/>
              <a:t>‹#›</a:t>
            </a:fld>
            <a:endParaRPr lang="en-US"/>
          </a:p>
        </p:txBody>
      </p:sp>
    </p:spTree>
    <p:extLst>
      <p:ext uri="{BB962C8B-B14F-4D97-AF65-F5344CB8AC3E}">
        <p14:creationId xmlns:p14="http://schemas.microsoft.com/office/powerpoint/2010/main" val="3568250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CEB1A999-2533-4C27-809A-8B5244CB99D8}" type="datetime1">
              <a:rPr lang="en-US" smtClean="0"/>
              <a:t>12/1/2023</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 Prepared by: Rishav Acharya</a:t>
            </a: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768FA24-B602-44B4-B621-A23D6F956B3B}" type="slidenum">
              <a:rPr lang="en-US" smtClean="0"/>
              <a:t>‹#›</a:t>
            </a:fld>
            <a:endParaRPr lang="en-US"/>
          </a:p>
        </p:txBody>
      </p:sp>
    </p:spTree>
    <p:extLst>
      <p:ext uri="{BB962C8B-B14F-4D97-AF65-F5344CB8AC3E}">
        <p14:creationId xmlns:p14="http://schemas.microsoft.com/office/powerpoint/2010/main" val="5084138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www.javatpoint.com/os-sleep-and-wake"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E3A20-72ED-4C9F-A26A-E90C3F0CEDB1}"/>
              </a:ext>
            </a:extLst>
          </p:cNvPr>
          <p:cNvSpPr>
            <a:spLocks noGrp="1"/>
          </p:cNvSpPr>
          <p:nvPr>
            <p:ph type="ctrTitle"/>
          </p:nvPr>
        </p:nvSpPr>
        <p:spPr>
          <a:xfrm>
            <a:off x="2480031" y="2924032"/>
            <a:ext cx="8915399" cy="2262781"/>
          </a:xfrm>
        </p:spPr>
        <p:txBody>
          <a:bodyPr/>
          <a:lstStyle/>
          <a:p>
            <a:r>
              <a:rPr lang="en-US" b="1" dirty="0">
                <a:latin typeface="Times New Roman" panose="02020603050405020304" pitchFamily="18" charset="0"/>
                <a:cs typeface="Times New Roman" panose="02020603050405020304" pitchFamily="18" charset="0"/>
              </a:rPr>
              <a:t>Unit 2 – Process Management</a:t>
            </a:r>
          </a:p>
        </p:txBody>
      </p:sp>
      <p:sp>
        <p:nvSpPr>
          <p:cNvPr id="3" name="Footer Placeholder 2">
            <a:extLst>
              <a:ext uri="{FF2B5EF4-FFF2-40B4-BE49-F238E27FC236}">
                <a16:creationId xmlns:a16="http://schemas.microsoft.com/office/drawing/2014/main" id="{9ADEB75D-9778-22F0-BC10-ECCE7AF1B15B}"/>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584246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76DD43-D31E-4CC0-BA84-9C9637A8D35D}"/>
              </a:ext>
            </a:extLst>
          </p:cNvPr>
          <p:cNvSpPr>
            <a:spLocks noGrp="1"/>
          </p:cNvSpPr>
          <p:nvPr>
            <p:ph idx="1"/>
          </p:nvPr>
        </p:nvSpPr>
        <p:spPr>
          <a:xfrm>
            <a:off x="2589212" y="504967"/>
            <a:ext cx="8915400" cy="5406255"/>
          </a:xfrm>
        </p:spPr>
        <p:txBody>
          <a:bodyPr>
            <a:normAutofit/>
          </a:bodyPr>
          <a:lstStyle/>
          <a:p>
            <a:r>
              <a:rPr lang="en-US" sz="2600" dirty="0">
                <a:solidFill>
                  <a:schemeClr val="tx1"/>
                </a:solidFill>
                <a:latin typeface="Times New Roman" panose="02020603050405020304" pitchFamily="18" charset="0"/>
                <a:cs typeface="Times New Roman" panose="02020603050405020304" pitchFamily="18" charset="0"/>
              </a:rPr>
              <a:t>Introduction</a:t>
            </a:r>
          </a:p>
          <a:p>
            <a:r>
              <a:rPr lang="en-US" sz="2600" dirty="0">
                <a:solidFill>
                  <a:schemeClr val="tx1"/>
                </a:solidFill>
                <a:latin typeface="Times New Roman" panose="02020603050405020304" pitchFamily="18" charset="0"/>
                <a:cs typeface="Times New Roman" panose="02020603050405020304" pitchFamily="18" charset="0"/>
              </a:rPr>
              <a:t>Threads</a:t>
            </a:r>
          </a:p>
          <a:p>
            <a:r>
              <a:rPr lang="en-US" sz="2600" dirty="0">
                <a:solidFill>
                  <a:schemeClr val="tx1"/>
                </a:solidFill>
                <a:latin typeface="Times New Roman" panose="02020603050405020304" pitchFamily="18" charset="0"/>
                <a:cs typeface="Times New Roman" panose="02020603050405020304" pitchFamily="18" charset="0"/>
              </a:rPr>
              <a:t>IPC</a:t>
            </a:r>
          </a:p>
          <a:p>
            <a:r>
              <a:rPr lang="en-US" sz="2600" dirty="0">
                <a:solidFill>
                  <a:schemeClr val="tx1"/>
                </a:solidFill>
                <a:latin typeface="Times New Roman" panose="02020603050405020304" pitchFamily="18" charset="0"/>
                <a:cs typeface="Times New Roman" panose="02020603050405020304" pitchFamily="18" charset="0"/>
              </a:rPr>
              <a:t>Implementing Mutual Exclusion</a:t>
            </a:r>
          </a:p>
          <a:p>
            <a:r>
              <a:rPr lang="en-US" sz="2600" dirty="0">
                <a:solidFill>
                  <a:schemeClr val="tx1"/>
                </a:solidFill>
                <a:latin typeface="Times New Roman" panose="02020603050405020304" pitchFamily="18" charset="0"/>
                <a:cs typeface="Times New Roman" panose="02020603050405020304" pitchFamily="18" charset="0"/>
              </a:rPr>
              <a:t>Classical IPC Problems</a:t>
            </a:r>
          </a:p>
          <a:p>
            <a:r>
              <a:rPr lang="en-US" sz="2600" dirty="0">
                <a:solidFill>
                  <a:schemeClr val="tx1"/>
                </a:solidFill>
                <a:latin typeface="Times New Roman" panose="02020603050405020304" pitchFamily="18" charset="0"/>
                <a:cs typeface="Times New Roman" panose="02020603050405020304" pitchFamily="18" charset="0"/>
              </a:rPr>
              <a:t>Process Scheduling (Numerical)</a:t>
            </a:r>
            <a:endParaRPr lang="en-US" dirty="0"/>
          </a:p>
        </p:txBody>
      </p:sp>
      <p:sp>
        <p:nvSpPr>
          <p:cNvPr id="2" name="Footer Placeholder 1">
            <a:extLst>
              <a:ext uri="{FF2B5EF4-FFF2-40B4-BE49-F238E27FC236}">
                <a16:creationId xmlns:a16="http://schemas.microsoft.com/office/drawing/2014/main" id="{7662EAB8-D58D-357C-704B-B9BB2F2D04E1}"/>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912169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8E388-EAA5-41A1-BDDC-1DBCA4093C30}"/>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Process vs Program</a:t>
            </a:r>
          </a:p>
        </p:txBody>
      </p:sp>
      <p:sp>
        <p:nvSpPr>
          <p:cNvPr id="6" name="Text Placeholder 5">
            <a:extLst>
              <a:ext uri="{FF2B5EF4-FFF2-40B4-BE49-F238E27FC236}">
                <a16:creationId xmlns:a16="http://schemas.microsoft.com/office/drawing/2014/main" id="{923F8AD6-E864-4BC9-AFCE-76C80CE1AEBF}"/>
              </a:ext>
            </a:extLst>
          </p:cNvPr>
          <p:cNvSpPr>
            <a:spLocks noGrp="1"/>
          </p:cNvSpPr>
          <p:nvPr>
            <p:ph type="body" idx="1"/>
          </p:nvPr>
        </p:nvSpPr>
        <p:spPr>
          <a:xfrm>
            <a:off x="2354360" y="1969475"/>
            <a:ext cx="3992732" cy="576262"/>
          </a:xfrm>
        </p:spPr>
        <p:txBody>
          <a:bodyPr/>
          <a:lstStyle/>
          <a:p>
            <a:r>
              <a:rPr lang="en-US" sz="3200" dirty="0">
                <a:solidFill>
                  <a:schemeClr val="tx1"/>
                </a:solidFill>
                <a:latin typeface="Times New Roman" panose="02020603050405020304" pitchFamily="18" charset="0"/>
                <a:cs typeface="Times New Roman" panose="02020603050405020304" pitchFamily="18" charset="0"/>
              </a:rPr>
              <a:t>Process</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C6CC696C-D3BF-4601-B51F-D53E46E7CBEC}"/>
              </a:ext>
            </a:extLst>
          </p:cNvPr>
          <p:cNvSpPr>
            <a:spLocks noGrp="1"/>
          </p:cNvSpPr>
          <p:nvPr>
            <p:ph sz="half" idx="2"/>
          </p:nvPr>
        </p:nvSpPr>
        <p:spPr>
          <a:xfrm>
            <a:off x="2354359" y="2545738"/>
            <a:ext cx="4342893" cy="3354060"/>
          </a:xfrm>
        </p:spPr>
        <p:txBody>
          <a:bodyPr>
            <a:normAutofit fontScale="92500" lnSpcReduction="10000"/>
          </a:bodyPr>
          <a:lstStyle/>
          <a:p>
            <a:r>
              <a:rPr lang="en-US" sz="2400" dirty="0">
                <a:solidFill>
                  <a:schemeClr val="tx1"/>
                </a:solidFill>
                <a:latin typeface="Times New Roman" panose="02020603050405020304" pitchFamily="18" charset="0"/>
                <a:cs typeface="Times New Roman" panose="02020603050405020304" pitchFamily="18" charset="0"/>
              </a:rPr>
              <a:t>Process is activity.</a:t>
            </a:r>
          </a:p>
          <a:p>
            <a:r>
              <a:rPr lang="en-US" sz="2400" dirty="0">
                <a:solidFill>
                  <a:schemeClr val="tx1"/>
                </a:solidFill>
                <a:latin typeface="Times New Roman" panose="02020603050405020304" pitchFamily="18" charset="0"/>
                <a:cs typeface="Times New Roman" panose="02020603050405020304" pitchFamily="18" charset="0"/>
              </a:rPr>
              <a:t>High resource requirements.</a:t>
            </a:r>
          </a:p>
          <a:p>
            <a:r>
              <a:rPr lang="en-US" sz="2400" dirty="0">
                <a:solidFill>
                  <a:schemeClr val="tx1"/>
                </a:solidFill>
                <a:latin typeface="Times New Roman" panose="02020603050405020304" pitchFamily="18" charset="0"/>
                <a:cs typeface="Times New Roman" panose="02020603050405020304" pitchFamily="18" charset="0"/>
              </a:rPr>
              <a:t>Has its own control block called PCB.	</a:t>
            </a:r>
          </a:p>
          <a:p>
            <a:r>
              <a:rPr lang="en-US" sz="2400" dirty="0">
                <a:solidFill>
                  <a:schemeClr val="tx1"/>
                </a:solidFill>
                <a:latin typeface="Times New Roman" panose="02020603050405020304" pitchFamily="18" charset="0"/>
                <a:cs typeface="Times New Roman" panose="02020603050405020304" pitchFamily="18" charset="0"/>
              </a:rPr>
              <a:t>Process exists temporarily, it gets terminated on the completion of tasks.</a:t>
            </a:r>
          </a:p>
          <a:p>
            <a:r>
              <a:rPr lang="en-US" sz="2400" dirty="0">
                <a:solidFill>
                  <a:schemeClr val="tx1"/>
                </a:solidFill>
                <a:latin typeface="Times New Roman" panose="02020603050405020304" pitchFamily="18" charset="0"/>
                <a:cs typeface="Times New Roman" panose="02020603050405020304" pitchFamily="18" charset="0"/>
              </a:rPr>
              <a:t>Dynamic Entity</a:t>
            </a:r>
          </a:p>
        </p:txBody>
      </p:sp>
      <p:sp>
        <p:nvSpPr>
          <p:cNvPr id="7" name="Text Placeholder 6">
            <a:extLst>
              <a:ext uri="{FF2B5EF4-FFF2-40B4-BE49-F238E27FC236}">
                <a16:creationId xmlns:a16="http://schemas.microsoft.com/office/drawing/2014/main" id="{21B7714C-A119-481D-9D6F-5527C7AFF7CD}"/>
              </a:ext>
            </a:extLst>
          </p:cNvPr>
          <p:cNvSpPr>
            <a:spLocks noGrp="1"/>
          </p:cNvSpPr>
          <p:nvPr>
            <p:ph type="body" sz="quarter" idx="3"/>
          </p:nvPr>
        </p:nvSpPr>
        <p:spPr>
          <a:xfrm>
            <a:off x="7048767" y="1946377"/>
            <a:ext cx="3999001" cy="576262"/>
          </a:xfrm>
        </p:spPr>
        <p:txBody>
          <a:bodyPr/>
          <a:lstStyle/>
          <a:p>
            <a:r>
              <a:rPr lang="en-US" sz="3200" dirty="0">
                <a:solidFill>
                  <a:schemeClr val="tx1"/>
                </a:solidFill>
                <a:latin typeface="Times New Roman" panose="02020603050405020304" pitchFamily="18" charset="0"/>
                <a:cs typeface="Times New Roman" panose="02020603050405020304" pitchFamily="18" charset="0"/>
              </a:rPr>
              <a:t>Program</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82044278-24A8-40BA-BD09-B5AE72CF0537}"/>
              </a:ext>
            </a:extLst>
          </p:cNvPr>
          <p:cNvSpPr>
            <a:spLocks noGrp="1"/>
          </p:cNvSpPr>
          <p:nvPr>
            <p:ph sz="quarter" idx="4"/>
          </p:nvPr>
        </p:nvSpPr>
        <p:spPr>
          <a:xfrm>
            <a:off x="7048767" y="2520876"/>
            <a:ext cx="4551830" cy="3538730"/>
          </a:xfrm>
        </p:spPr>
        <p:txBody>
          <a:bodyPr>
            <a:normAutofit fontScale="92500" lnSpcReduction="10000"/>
          </a:bodyPr>
          <a:lstStyle/>
          <a:p>
            <a:r>
              <a:rPr lang="en-US" sz="2400" dirty="0">
                <a:solidFill>
                  <a:schemeClr val="tx1"/>
                </a:solidFill>
                <a:latin typeface="Times New Roman" panose="02020603050405020304" pitchFamily="18" charset="0"/>
                <a:cs typeface="Times New Roman" panose="02020603050405020304" pitchFamily="18" charset="0"/>
              </a:rPr>
              <a:t>Program is the group of instructions.</a:t>
            </a:r>
          </a:p>
          <a:p>
            <a:r>
              <a:rPr lang="en-US" sz="2400" dirty="0">
                <a:solidFill>
                  <a:schemeClr val="tx1"/>
                </a:solidFill>
                <a:latin typeface="Times New Roman" panose="02020603050405020304" pitchFamily="18" charset="0"/>
                <a:cs typeface="Times New Roman" panose="02020603050405020304" pitchFamily="18" charset="0"/>
              </a:rPr>
              <a:t>No resource requirements only memory.</a:t>
            </a:r>
          </a:p>
          <a:p>
            <a:r>
              <a:rPr lang="en-US" sz="2400" dirty="0">
                <a:solidFill>
                  <a:schemeClr val="tx1"/>
                </a:solidFill>
                <a:latin typeface="Times New Roman" panose="02020603050405020304" pitchFamily="18" charset="0"/>
                <a:cs typeface="Times New Roman" panose="02020603050405020304" pitchFamily="18" charset="0"/>
              </a:rPr>
              <a:t>No control block</a:t>
            </a:r>
          </a:p>
          <a:p>
            <a:r>
              <a:rPr lang="en-US" sz="2400" dirty="0">
                <a:solidFill>
                  <a:schemeClr val="tx1"/>
                </a:solidFill>
                <a:latin typeface="Times New Roman" panose="02020603050405020304" pitchFamily="18" charset="0"/>
                <a:cs typeface="Times New Roman" panose="02020603050405020304" pitchFamily="18" charset="0"/>
              </a:rPr>
              <a:t>Program exists at single place and continues to exist there until deleted.</a:t>
            </a:r>
          </a:p>
          <a:p>
            <a:r>
              <a:rPr lang="en-US" sz="2400" dirty="0">
                <a:solidFill>
                  <a:schemeClr val="tx1"/>
                </a:solidFill>
                <a:latin typeface="Times New Roman" panose="02020603050405020304" pitchFamily="18" charset="0"/>
                <a:cs typeface="Times New Roman" panose="02020603050405020304" pitchFamily="18" charset="0"/>
              </a:rPr>
              <a:t>Static Entity</a:t>
            </a:r>
          </a:p>
        </p:txBody>
      </p:sp>
      <p:sp>
        <p:nvSpPr>
          <p:cNvPr id="3" name="Footer Placeholder 2">
            <a:extLst>
              <a:ext uri="{FF2B5EF4-FFF2-40B4-BE49-F238E27FC236}">
                <a16:creationId xmlns:a16="http://schemas.microsoft.com/office/drawing/2014/main" id="{47C0F73B-D1CB-1716-3BFB-84B7382D8A8F}"/>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835157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DF4C4-6DF9-445A-91AB-B0B1F6650A31}"/>
              </a:ext>
            </a:extLst>
          </p:cNvPr>
          <p:cNvSpPr>
            <a:spLocks noGrp="1"/>
          </p:cNvSpPr>
          <p:nvPr>
            <p:ph type="title"/>
          </p:nvPr>
        </p:nvSpPr>
        <p:spPr>
          <a:xfrm>
            <a:off x="2589212" y="473984"/>
            <a:ext cx="8911687" cy="1280890"/>
          </a:xfrm>
        </p:spPr>
        <p:txBody>
          <a:bodyPr/>
          <a:lstStyle/>
          <a:p>
            <a:r>
              <a:rPr lang="en-US" b="1" dirty="0">
                <a:solidFill>
                  <a:schemeClr val="tx1"/>
                </a:solidFill>
                <a:latin typeface="Times New Roman" panose="02020603050405020304" pitchFamily="18" charset="0"/>
                <a:cs typeface="Times New Roman" panose="02020603050405020304" pitchFamily="18" charset="0"/>
              </a:rPr>
              <a:t>Process vs Program (contd.)</a:t>
            </a:r>
          </a:p>
        </p:txBody>
      </p:sp>
      <p:sp>
        <p:nvSpPr>
          <p:cNvPr id="4" name="Content Placeholder 2">
            <a:extLst>
              <a:ext uri="{FF2B5EF4-FFF2-40B4-BE49-F238E27FC236}">
                <a16:creationId xmlns:a16="http://schemas.microsoft.com/office/drawing/2014/main" id="{142A0732-FB7E-4D1B-BA6A-6457F40DBA35}"/>
              </a:ext>
            </a:extLst>
          </p:cNvPr>
          <p:cNvSpPr txBox="1">
            <a:spLocks/>
          </p:cNvSpPr>
          <p:nvPr/>
        </p:nvSpPr>
        <p:spPr>
          <a:xfrm>
            <a:off x="2589211" y="1264555"/>
            <a:ext cx="9120567" cy="5406255"/>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b="1" dirty="0">
                <a:solidFill>
                  <a:schemeClr val="tx1"/>
                </a:solidFill>
                <a:latin typeface="Times New Roman" panose="02020603050405020304" pitchFamily="18" charset="0"/>
                <a:cs typeface="Times New Roman" panose="02020603050405020304" pitchFamily="18" charset="0"/>
              </a:rPr>
              <a:t>Example: </a:t>
            </a:r>
            <a:r>
              <a:rPr lang="en-US" sz="2800" dirty="0">
                <a:solidFill>
                  <a:schemeClr val="tx1"/>
                </a:solidFill>
                <a:latin typeface="Times New Roman" panose="02020603050405020304" pitchFamily="18" charset="0"/>
                <a:cs typeface="Times New Roman" panose="02020603050405020304" pitchFamily="18" charset="0"/>
              </a:rPr>
              <a:t>Mom is cooking pasta for dinner.</a:t>
            </a:r>
          </a:p>
          <a:p>
            <a:pPr marL="0" indent="0">
              <a:buNone/>
            </a:pPr>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Mom: CPU</a:t>
            </a:r>
          </a:p>
          <a:p>
            <a:r>
              <a:rPr lang="en-US" sz="2800" dirty="0">
                <a:solidFill>
                  <a:schemeClr val="tx1"/>
                </a:solidFill>
                <a:latin typeface="Times New Roman" panose="02020603050405020304" pitchFamily="18" charset="0"/>
                <a:cs typeface="Times New Roman" panose="02020603050405020304" pitchFamily="18" charset="0"/>
              </a:rPr>
              <a:t>Recipe: </a:t>
            </a:r>
            <a:r>
              <a:rPr lang="en-US" sz="2800" b="1" dirty="0">
                <a:solidFill>
                  <a:schemeClr val="tx1"/>
                </a:solidFill>
                <a:latin typeface="Times New Roman" panose="02020603050405020304" pitchFamily="18" charset="0"/>
                <a:cs typeface="Times New Roman" panose="02020603050405020304" pitchFamily="18" charset="0"/>
              </a:rPr>
              <a:t>Program</a:t>
            </a:r>
            <a:r>
              <a:rPr lang="en-US" sz="2800" dirty="0">
                <a:solidFill>
                  <a:schemeClr val="tx1"/>
                </a:solidFill>
                <a:latin typeface="Times New Roman" panose="02020603050405020304" pitchFamily="18" charset="0"/>
                <a:cs typeface="Times New Roman" panose="02020603050405020304" pitchFamily="18" charset="0"/>
              </a:rPr>
              <a:t> (method to cook [algorithm])</a:t>
            </a:r>
          </a:p>
          <a:p>
            <a:r>
              <a:rPr lang="en-US" sz="2800" dirty="0">
                <a:solidFill>
                  <a:schemeClr val="tx1"/>
                </a:solidFill>
                <a:latin typeface="Times New Roman" panose="02020603050405020304" pitchFamily="18" charset="0"/>
                <a:cs typeface="Times New Roman" panose="02020603050405020304" pitchFamily="18" charset="0"/>
              </a:rPr>
              <a:t>Pasta Ingredients: Input Data</a:t>
            </a:r>
          </a:p>
          <a:p>
            <a:pPr marL="0" indent="0">
              <a:buNone/>
            </a:pPr>
            <a:endParaRPr lang="en-US" sz="2800" dirty="0">
              <a:solidFill>
                <a:schemeClr val="tx1"/>
              </a:solidFill>
              <a:latin typeface="Times New Roman" panose="02020603050405020304" pitchFamily="18" charset="0"/>
              <a:cs typeface="Times New Roman" panose="02020603050405020304" pitchFamily="18" charset="0"/>
            </a:endParaRPr>
          </a:p>
          <a:p>
            <a:pPr marL="0" indent="0">
              <a:buNone/>
            </a:pPr>
            <a:r>
              <a:rPr lang="en-US" sz="2800" dirty="0">
                <a:solidFill>
                  <a:schemeClr val="tx1"/>
                </a:solidFill>
                <a:latin typeface="Times New Roman" panose="02020603050405020304" pitchFamily="18" charset="0"/>
                <a:cs typeface="Times New Roman" panose="02020603050405020304" pitchFamily="18" charset="0"/>
              </a:rPr>
              <a:t>Activities involved are </a:t>
            </a:r>
            <a:r>
              <a:rPr lang="en-US" sz="2800" b="1" dirty="0">
                <a:solidFill>
                  <a:schemeClr val="tx1"/>
                </a:solidFill>
                <a:latin typeface="Times New Roman" panose="02020603050405020304" pitchFamily="18" charset="0"/>
                <a:cs typeface="Times New Roman" panose="02020603050405020304" pitchFamily="18" charset="0"/>
              </a:rPr>
              <a:t>processes</a:t>
            </a:r>
          </a:p>
          <a:p>
            <a:pPr>
              <a:buFont typeface="Wingdings" panose="05000000000000000000" pitchFamily="2" charset="2"/>
              <a:buChar char="Ø"/>
            </a:pPr>
            <a:r>
              <a:rPr lang="en-US" sz="2800" dirty="0">
                <a:solidFill>
                  <a:schemeClr val="tx1"/>
                </a:solidFill>
                <a:latin typeface="Times New Roman" panose="02020603050405020304" pitchFamily="18" charset="0"/>
                <a:cs typeface="Times New Roman" panose="02020603050405020304" pitchFamily="18" charset="0"/>
              </a:rPr>
              <a:t>Reading the recipe</a:t>
            </a:r>
          </a:p>
          <a:p>
            <a:pPr>
              <a:buFont typeface="Wingdings" panose="05000000000000000000" pitchFamily="2" charset="2"/>
              <a:buChar char="Ø"/>
            </a:pPr>
            <a:r>
              <a:rPr lang="en-US" sz="2800" dirty="0">
                <a:solidFill>
                  <a:schemeClr val="tx1"/>
                </a:solidFill>
                <a:latin typeface="Times New Roman" panose="02020603050405020304" pitchFamily="18" charset="0"/>
                <a:cs typeface="Times New Roman" panose="02020603050405020304" pitchFamily="18" charset="0"/>
              </a:rPr>
              <a:t>Collecting the ingredients</a:t>
            </a:r>
          </a:p>
          <a:p>
            <a:pPr>
              <a:buFont typeface="Wingdings" panose="05000000000000000000" pitchFamily="2" charset="2"/>
              <a:buChar char="Ø"/>
            </a:pPr>
            <a:r>
              <a:rPr lang="en-US" sz="2800" dirty="0">
                <a:solidFill>
                  <a:schemeClr val="tx1"/>
                </a:solidFill>
                <a:latin typeface="Times New Roman" panose="02020603050405020304" pitchFamily="18" charset="0"/>
                <a:cs typeface="Times New Roman" panose="02020603050405020304" pitchFamily="18" charset="0"/>
              </a:rPr>
              <a:t>Cooking Pasta</a:t>
            </a:r>
            <a:endParaRPr lang="en-US" dirty="0"/>
          </a:p>
        </p:txBody>
      </p:sp>
      <p:sp>
        <p:nvSpPr>
          <p:cNvPr id="3" name="Footer Placeholder 2">
            <a:extLst>
              <a:ext uri="{FF2B5EF4-FFF2-40B4-BE49-F238E27FC236}">
                <a16:creationId xmlns:a16="http://schemas.microsoft.com/office/drawing/2014/main" id="{62DFBF1B-13DF-D5FA-850C-9E78507AF551}"/>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2796348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AF312-3B52-4838-A4CD-7F328A31C4F1}"/>
              </a:ext>
            </a:extLst>
          </p:cNvPr>
          <p:cNvSpPr>
            <a:spLocks noGrp="1"/>
          </p:cNvSpPr>
          <p:nvPr>
            <p:ph type="title"/>
          </p:nvPr>
        </p:nvSpPr>
        <p:spPr>
          <a:xfrm>
            <a:off x="2592925" y="471299"/>
            <a:ext cx="8911687" cy="1280890"/>
          </a:xfrm>
        </p:spPr>
        <p:txBody>
          <a:bodyPr/>
          <a:lstStyle/>
          <a:p>
            <a:r>
              <a:rPr lang="en-US" b="1" dirty="0">
                <a:solidFill>
                  <a:schemeClr val="tx1"/>
                </a:solidFill>
                <a:latin typeface="Times New Roman" panose="02020603050405020304" pitchFamily="18" charset="0"/>
                <a:cs typeface="Times New Roman" panose="02020603050405020304" pitchFamily="18" charset="0"/>
              </a:rPr>
              <a:t>Process Models</a:t>
            </a:r>
            <a:endParaRPr lang="en-US" dirty="0"/>
          </a:p>
        </p:txBody>
      </p:sp>
      <p:sp>
        <p:nvSpPr>
          <p:cNvPr id="3" name="Content Placeholder 2">
            <a:extLst>
              <a:ext uri="{FF2B5EF4-FFF2-40B4-BE49-F238E27FC236}">
                <a16:creationId xmlns:a16="http://schemas.microsoft.com/office/drawing/2014/main" id="{50660713-CF4D-48E5-8FEA-A795979DFE11}"/>
              </a:ext>
            </a:extLst>
          </p:cNvPr>
          <p:cNvSpPr>
            <a:spLocks noGrp="1"/>
          </p:cNvSpPr>
          <p:nvPr>
            <p:ph idx="1"/>
          </p:nvPr>
        </p:nvSpPr>
        <p:spPr>
          <a:xfrm>
            <a:off x="1569493" y="4233492"/>
            <a:ext cx="10358649" cy="2385672"/>
          </a:xfrm>
        </p:spPr>
        <p:txBody>
          <a:bodyPr>
            <a:normAutofit/>
          </a:bodyPr>
          <a:lstStyle/>
          <a:p>
            <a:r>
              <a:rPr lang="en-US" sz="2800" dirty="0">
                <a:latin typeface="Times New Roman" panose="02020603050405020304" pitchFamily="18" charset="0"/>
                <a:cs typeface="Times New Roman" panose="02020603050405020304" pitchFamily="18" charset="0"/>
              </a:rPr>
              <a:t>Multiprogramming of four programs in memory (a)</a:t>
            </a:r>
          </a:p>
          <a:p>
            <a:r>
              <a:rPr lang="en-US" sz="2800" dirty="0">
                <a:latin typeface="Times New Roman" panose="02020603050405020304" pitchFamily="18" charset="0"/>
                <a:cs typeface="Times New Roman" panose="02020603050405020304" pitchFamily="18" charset="0"/>
              </a:rPr>
              <a:t>Conceptual model of four independent, sequential process, each with its own flow of control and each one running independently (b)</a:t>
            </a:r>
          </a:p>
          <a:p>
            <a:r>
              <a:rPr lang="en-US" sz="2800" dirty="0">
                <a:latin typeface="Times New Roman" panose="02020603050405020304" pitchFamily="18" charset="0"/>
                <a:cs typeface="Times New Roman" panose="02020603050405020304" pitchFamily="18" charset="0"/>
              </a:rPr>
              <a:t>Only one process running at a time (c)</a:t>
            </a:r>
          </a:p>
          <a:p>
            <a:endParaRPr lang="en-US" dirty="0"/>
          </a:p>
        </p:txBody>
      </p:sp>
      <p:pic>
        <p:nvPicPr>
          <p:cNvPr id="7" name="Picture 6">
            <a:extLst>
              <a:ext uri="{FF2B5EF4-FFF2-40B4-BE49-F238E27FC236}">
                <a16:creationId xmlns:a16="http://schemas.microsoft.com/office/drawing/2014/main" id="{C0450367-92CF-4C75-820B-445ADCCF08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7282" y="1264555"/>
            <a:ext cx="10636395" cy="2816126"/>
          </a:xfrm>
          <a:prstGeom prst="rect">
            <a:avLst/>
          </a:prstGeom>
        </p:spPr>
      </p:pic>
      <p:sp>
        <p:nvSpPr>
          <p:cNvPr id="4" name="Footer Placeholder 3">
            <a:extLst>
              <a:ext uri="{FF2B5EF4-FFF2-40B4-BE49-F238E27FC236}">
                <a16:creationId xmlns:a16="http://schemas.microsoft.com/office/drawing/2014/main" id="{95EC91DC-BCF6-A50F-07FF-ED80406D3A02}"/>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976499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C73E84C-206C-4F1E-B844-36C4BC66BA19}"/>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Process Models (contd.)</a:t>
            </a:r>
          </a:p>
        </p:txBody>
      </p:sp>
      <p:sp>
        <p:nvSpPr>
          <p:cNvPr id="8" name="Content Placeholder 7">
            <a:extLst>
              <a:ext uri="{FF2B5EF4-FFF2-40B4-BE49-F238E27FC236}">
                <a16:creationId xmlns:a16="http://schemas.microsoft.com/office/drawing/2014/main" id="{2E2ADC0C-AC2A-4CF3-B9FA-DD7EC8A83CF6}"/>
              </a:ext>
            </a:extLst>
          </p:cNvPr>
          <p:cNvSpPr>
            <a:spLocks noGrp="1"/>
          </p:cNvSpPr>
          <p:nvPr>
            <p:ph idx="1"/>
          </p:nvPr>
        </p:nvSpPr>
        <p:spPr>
          <a:xfrm>
            <a:off x="2589212" y="1540189"/>
            <a:ext cx="8915400" cy="3777622"/>
          </a:xfrm>
        </p:spPr>
        <p:txBody>
          <a:bodyPr>
            <a:normAutofit/>
          </a:bodyPr>
          <a:lstStyle/>
          <a:p>
            <a:r>
              <a:rPr lang="en-US" sz="2800" dirty="0">
                <a:solidFill>
                  <a:schemeClr val="tx1"/>
                </a:solidFill>
                <a:latin typeface="Times New Roman" panose="02020603050405020304" pitchFamily="18" charset="0"/>
                <a:cs typeface="Times New Roman" panose="02020603050405020304" pitchFamily="18" charset="0"/>
              </a:rPr>
              <a:t>Uni Programming</a:t>
            </a:r>
          </a:p>
          <a:p>
            <a:r>
              <a:rPr lang="en-US" sz="2800" dirty="0">
                <a:solidFill>
                  <a:schemeClr val="tx1"/>
                </a:solidFill>
                <a:latin typeface="Times New Roman" panose="02020603050405020304" pitchFamily="18" charset="0"/>
                <a:cs typeface="Times New Roman" panose="02020603050405020304" pitchFamily="18" charset="0"/>
              </a:rPr>
              <a:t>Multi Programming</a:t>
            </a:r>
          </a:p>
          <a:p>
            <a:r>
              <a:rPr lang="en-US" sz="2800" dirty="0">
                <a:solidFill>
                  <a:schemeClr val="tx1"/>
                </a:solidFill>
                <a:latin typeface="Times New Roman" panose="02020603050405020304" pitchFamily="18" charset="0"/>
                <a:cs typeface="Times New Roman" panose="02020603050405020304" pitchFamily="18" charset="0"/>
              </a:rPr>
              <a:t>Multi Processing</a:t>
            </a:r>
          </a:p>
        </p:txBody>
      </p:sp>
      <p:sp>
        <p:nvSpPr>
          <p:cNvPr id="2" name="Footer Placeholder 1">
            <a:extLst>
              <a:ext uri="{FF2B5EF4-FFF2-40B4-BE49-F238E27FC236}">
                <a16:creationId xmlns:a16="http://schemas.microsoft.com/office/drawing/2014/main" id="{FCD5402A-BAEF-E9F6-D61C-0AE004A25B16}"/>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4200212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027D8-AF73-410E-92A2-572558D0D0C0}"/>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Uni Programming</a:t>
            </a:r>
          </a:p>
        </p:txBody>
      </p:sp>
      <p:sp>
        <p:nvSpPr>
          <p:cNvPr id="3" name="Content Placeholder 2">
            <a:extLst>
              <a:ext uri="{FF2B5EF4-FFF2-40B4-BE49-F238E27FC236}">
                <a16:creationId xmlns:a16="http://schemas.microsoft.com/office/drawing/2014/main" id="{6752FC66-7F6F-40E0-8EF9-146951A57873}"/>
              </a:ext>
            </a:extLst>
          </p:cNvPr>
          <p:cNvSpPr>
            <a:spLocks noGrp="1"/>
          </p:cNvSpPr>
          <p:nvPr>
            <p:ph idx="1"/>
          </p:nvPr>
        </p:nvSpPr>
        <p:spPr>
          <a:xfrm>
            <a:off x="2461147" y="2133600"/>
            <a:ext cx="9043465" cy="3777622"/>
          </a:xfrm>
        </p:spPr>
        <p:txBody>
          <a:bodyPr>
            <a:normAutofit/>
          </a:bodyPr>
          <a:lstStyle/>
          <a:p>
            <a:r>
              <a:rPr lang="en-US" sz="2800" dirty="0">
                <a:solidFill>
                  <a:schemeClr val="tx1"/>
                </a:solidFill>
                <a:latin typeface="Times New Roman" panose="02020603050405020304" pitchFamily="18" charset="0"/>
                <a:cs typeface="Times New Roman" panose="02020603050405020304" pitchFamily="18" charset="0"/>
              </a:rPr>
              <a:t>Only one process at a time.</a:t>
            </a:r>
          </a:p>
          <a:p>
            <a:r>
              <a:rPr lang="en-US" sz="2800" dirty="0">
                <a:solidFill>
                  <a:schemeClr val="tx1"/>
                </a:solidFill>
                <a:latin typeface="Times New Roman" panose="02020603050405020304" pitchFamily="18" charset="0"/>
                <a:cs typeface="Times New Roman" panose="02020603050405020304" pitchFamily="18" charset="0"/>
              </a:rPr>
              <a:t>Pons: Easier for OS designer</a:t>
            </a:r>
          </a:p>
          <a:p>
            <a:r>
              <a:rPr lang="en-US" sz="2800" dirty="0">
                <a:solidFill>
                  <a:schemeClr val="tx1"/>
                </a:solidFill>
                <a:latin typeface="Times New Roman" panose="02020603050405020304" pitchFamily="18" charset="0"/>
                <a:cs typeface="Times New Roman" panose="02020603050405020304" pitchFamily="18" charset="0"/>
              </a:rPr>
              <a:t>Cons: Poor Performance</a:t>
            </a:r>
          </a:p>
        </p:txBody>
      </p:sp>
      <p:cxnSp>
        <p:nvCxnSpPr>
          <p:cNvPr id="5" name="Straight Arrow Connector 4">
            <a:extLst>
              <a:ext uri="{FF2B5EF4-FFF2-40B4-BE49-F238E27FC236}">
                <a16:creationId xmlns:a16="http://schemas.microsoft.com/office/drawing/2014/main" id="{F7A75269-25BF-4E18-8B61-906B3265F8E6}"/>
              </a:ext>
            </a:extLst>
          </p:cNvPr>
          <p:cNvCxnSpPr>
            <a:cxnSpLocks/>
          </p:cNvCxnSpPr>
          <p:nvPr/>
        </p:nvCxnSpPr>
        <p:spPr>
          <a:xfrm flipV="1">
            <a:off x="7083188" y="1943668"/>
            <a:ext cx="0" cy="29706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13049ABE-F056-4A37-A915-8C8BC755B759}"/>
              </a:ext>
            </a:extLst>
          </p:cNvPr>
          <p:cNvCxnSpPr/>
          <p:nvPr/>
        </p:nvCxnSpPr>
        <p:spPr>
          <a:xfrm>
            <a:off x="7083188" y="4914331"/>
            <a:ext cx="384866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B71FDAB2-F54C-4A08-9A58-105911FB04EE}"/>
              </a:ext>
            </a:extLst>
          </p:cNvPr>
          <p:cNvCxnSpPr/>
          <p:nvPr/>
        </p:nvCxnSpPr>
        <p:spPr>
          <a:xfrm>
            <a:off x="7274257" y="4421875"/>
            <a:ext cx="614149"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0B8039B-6EEA-48E9-990A-ADBB07D03372}"/>
              </a:ext>
            </a:extLst>
          </p:cNvPr>
          <p:cNvCxnSpPr/>
          <p:nvPr/>
        </p:nvCxnSpPr>
        <p:spPr>
          <a:xfrm>
            <a:off x="7888406" y="4014717"/>
            <a:ext cx="614149" cy="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647D6E5-75DD-4071-9B86-4790E1BCCF45}"/>
              </a:ext>
            </a:extLst>
          </p:cNvPr>
          <p:cNvCxnSpPr/>
          <p:nvPr/>
        </p:nvCxnSpPr>
        <p:spPr>
          <a:xfrm>
            <a:off x="8502555" y="3662150"/>
            <a:ext cx="614149"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D941F917-9137-4547-8E13-9514FB8E37BC}"/>
              </a:ext>
            </a:extLst>
          </p:cNvPr>
          <p:cNvCxnSpPr/>
          <p:nvPr/>
        </p:nvCxnSpPr>
        <p:spPr>
          <a:xfrm>
            <a:off x="9116704" y="3252717"/>
            <a:ext cx="614149" cy="0"/>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7C3A4971-9263-46BA-A17F-CEE88A168D1B}"/>
              </a:ext>
            </a:extLst>
          </p:cNvPr>
          <p:cNvSpPr txBox="1"/>
          <p:nvPr/>
        </p:nvSpPr>
        <p:spPr>
          <a:xfrm>
            <a:off x="7274257" y="4014717"/>
            <a:ext cx="61414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A</a:t>
            </a:r>
            <a:endParaRPr lang="en-US"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63D5CAE-B06F-498F-A93A-3158413A230E}"/>
              </a:ext>
            </a:extLst>
          </p:cNvPr>
          <p:cNvSpPr txBox="1"/>
          <p:nvPr/>
        </p:nvSpPr>
        <p:spPr>
          <a:xfrm>
            <a:off x="7874750" y="3458047"/>
            <a:ext cx="61414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B</a:t>
            </a:r>
            <a:endParaRPr lang="en-US"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0CF8346F-DDA3-4670-8042-BDC65270BC5D}"/>
              </a:ext>
            </a:extLst>
          </p:cNvPr>
          <p:cNvSpPr txBox="1"/>
          <p:nvPr/>
        </p:nvSpPr>
        <p:spPr>
          <a:xfrm>
            <a:off x="8488895" y="3050890"/>
            <a:ext cx="61414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C</a:t>
            </a:r>
            <a:endParaRPr lang="en-US"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3A0966E2-1472-4B7E-82EA-892C6A0A8AE4}"/>
              </a:ext>
            </a:extLst>
          </p:cNvPr>
          <p:cNvSpPr txBox="1"/>
          <p:nvPr/>
        </p:nvSpPr>
        <p:spPr>
          <a:xfrm>
            <a:off x="9116708" y="2651005"/>
            <a:ext cx="614145"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D</a:t>
            </a:r>
            <a:endParaRPr lang="en-US" b="1"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1764659E-922B-4544-975D-C6C97AAFEF6F}"/>
              </a:ext>
            </a:extLst>
          </p:cNvPr>
          <p:cNvSpPr txBox="1"/>
          <p:nvPr/>
        </p:nvSpPr>
        <p:spPr>
          <a:xfrm>
            <a:off x="8212532" y="4837002"/>
            <a:ext cx="1808343"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Time  </a:t>
            </a:r>
            <a:endParaRPr lang="en-US"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7877D03-C648-7631-1770-005FBD1FD041}"/>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2022911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321FF-FB5E-48C0-9B30-4B6E6C2FAD0A}"/>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Multi Programming</a:t>
            </a:r>
          </a:p>
        </p:txBody>
      </p:sp>
      <p:sp>
        <p:nvSpPr>
          <p:cNvPr id="3" name="Content Placeholder 2">
            <a:extLst>
              <a:ext uri="{FF2B5EF4-FFF2-40B4-BE49-F238E27FC236}">
                <a16:creationId xmlns:a16="http://schemas.microsoft.com/office/drawing/2014/main" id="{5E0F0E1E-98C8-461F-9AF5-33608A05555E}"/>
              </a:ext>
            </a:extLst>
          </p:cNvPr>
          <p:cNvSpPr>
            <a:spLocks noGrp="1"/>
          </p:cNvSpPr>
          <p:nvPr>
            <p:ph idx="1"/>
          </p:nvPr>
        </p:nvSpPr>
        <p:spPr>
          <a:xfrm>
            <a:off x="1978925" y="2133600"/>
            <a:ext cx="9525687" cy="3777622"/>
          </a:xfrm>
        </p:spPr>
        <p:txBody>
          <a:bodyPr/>
          <a:lstStyle/>
          <a:p>
            <a:r>
              <a:rPr lang="en-US" sz="2400" dirty="0">
                <a:solidFill>
                  <a:schemeClr val="tx1"/>
                </a:solidFill>
                <a:latin typeface="Times New Roman" panose="02020603050405020304" pitchFamily="18" charset="0"/>
                <a:cs typeface="Times New Roman" panose="02020603050405020304" pitchFamily="18" charset="0"/>
              </a:rPr>
              <a:t>Multiple processes at a time</a:t>
            </a:r>
          </a:p>
          <a:p>
            <a:r>
              <a:rPr lang="en-US" sz="2400" dirty="0">
                <a:solidFill>
                  <a:schemeClr val="tx1"/>
                </a:solidFill>
                <a:latin typeface="Times New Roman" panose="02020603050405020304" pitchFamily="18" charset="0"/>
                <a:cs typeface="Times New Roman" panose="02020603050405020304" pitchFamily="18" charset="0"/>
              </a:rPr>
              <a:t>Pons: Better system performance</a:t>
            </a:r>
          </a:p>
          <a:p>
            <a:r>
              <a:rPr lang="en-US" sz="2400" dirty="0">
                <a:solidFill>
                  <a:schemeClr val="tx1"/>
                </a:solidFill>
                <a:latin typeface="Times New Roman" panose="02020603050405020304" pitchFamily="18" charset="0"/>
                <a:cs typeface="Times New Roman" panose="02020603050405020304" pitchFamily="18" charset="0"/>
              </a:rPr>
              <a:t>Cons: Complexity in OS</a:t>
            </a:r>
          </a:p>
          <a:p>
            <a:endParaRPr lang="en-US" sz="2400" dirty="0">
              <a:solidFill>
                <a:schemeClr val="tx1"/>
              </a:solidFill>
              <a:latin typeface="Times New Roman" panose="02020603050405020304" pitchFamily="18" charset="0"/>
              <a:cs typeface="Times New Roman" panose="02020603050405020304" pitchFamily="18" charset="0"/>
            </a:endParaRPr>
          </a:p>
          <a:p>
            <a:r>
              <a:rPr lang="en-US" sz="2400" dirty="0">
                <a:solidFill>
                  <a:schemeClr val="tx1"/>
                </a:solidFill>
                <a:latin typeface="Times New Roman" panose="02020603050405020304" pitchFamily="18" charset="0"/>
                <a:cs typeface="Times New Roman" panose="02020603050405020304" pitchFamily="18" charset="0"/>
              </a:rPr>
              <a:t>OS requirements for multiprogramming: </a:t>
            </a:r>
          </a:p>
          <a:p>
            <a:pPr marL="682625">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Policy: to determine which process is to schedule. </a:t>
            </a:r>
          </a:p>
          <a:p>
            <a:pPr marL="682625">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Mechanism: to switch between the processes. </a:t>
            </a:r>
          </a:p>
          <a:p>
            <a:endParaRPr lang="en-US" dirty="0"/>
          </a:p>
        </p:txBody>
      </p:sp>
      <p:cxnSp>
        <p:nvCxnSpPr>
          <p:cNvPr id="4" name="Straight Arrow Connector 3">
            <a:extLst>
              <a:ext uri="{FF2B5EF4-FFF2-40B4-BE49-F238E27FC236}">
                <a16:creationId xmlns:a16="http://schemas.microsoft.com/office/drawing/2014/main" id="{DD605758-9175-4AF4-8DD8-A50076E8CED0}"/>
              </a:ext>
            </a:extLst>
          </p:cNvPr>
          <p:cNvCxnSpPr>
            <a:cxnSpLocks/>
          </p:cNvCxnSpPr>
          <p:nvPr/>
        </p:nvCxnSpPr>
        <p:spPr>
          <a:xfrm flipV="1">
            <a:off x="7424382" y="1015620"/>
            <a:ext cx="0" cy="29706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 name="Straight Arrow Connector 4">
            <a:extLst>
              <a:ext uri="{FF2B5EF4-FFF2-40B4-BE49-F238E27FC236}">
                <a16:creationId xmlns:a16="http://schemas.microsoft.com/office/drawing/2014/main" id="{54A319DE-5567-46C5-A905-97CD31BBFCBA}"/>
              </a:ext>
            </a:extLst>
          </p:cNvPr>
          <p:cNvCxnSpPr/>
          <p:nvPr/>
        </p:nvCxnSpPr>
        <p:spPr>
          <a:xfrm>
            <a:off x="7424382" y="3987420"/>
            <a:ext cx="384866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C5DBACDE-9882-4767-8087-0910B0984495}"/>
              </a:ext>
            </a:extLst>
          </p:cNvPr>
          <p:cNvSpPr txBox="1"/>
          <p:nvPr/>
        </p:nvSpPr>
        <p:spPr>
          <a:xfrm>
            <a:off x="8560326" y="3986283"/>
            <a:ext cx="1808343"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Time  </a:t>
            </a:r>
            <a:endParaRPr lang="en-US" b="1" dirty="0">
              <a:latin typeface="Times New Roman" panose="02020603050405020304" pitchFamily="18"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C6436828-DE7F-4617-90C4-9ADE62E8E903}"/>
              </a:ext>
            </a:extLst>
          </p:cNvPr>
          <p:cNvCxnSpPr/>
          <p:nvPr/>
        </p:nvCxnSpPr>
        <p:spPr>
          <a:xfrm>
            <a:off x="7588156" y="3472218"/>
            <a:ext cx="614149"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30B798FF-0BD7-4E60-94B9-4F3A421F8FF0}"/>
              </a:ext>
            </a:extLst>
          </p:cNvPr>
          <p:cNvCxnSpPr/>
          <p:nvPr/>
        </p:nvCxnSpPr>
        <p:spPr>
          <a:xfrm>
            <a:off x="8253251" y="3018430"/>
            <a:ext cx="614149"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2BECAC84-6070-4CA3-8ADB-039A48480847}"/>
              </a:ext>
            </a:extLst>
          </p:cNvPr>
          <p:cNvCxnSpPr/>
          <p:nvPr/>
        </p:nvCxnSpPr>
        <p:spPr>
          <a:xfrm>
            <a:off x="8966580" y="3472218"/>
            <a:ext cx="614149" cy="0"/>
          </a:xfrm>
          <a:prstGeom prst="line">
            <a:avLst/>
          </a:prstGeom>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F9FF22A1-0E38-41DD-A0C0-FDCC18AFF94B}"/>
              </a:ext>
            </a:extLst>
          </p:cNvPr>
          <p:cNvSpPr txBox="1"/>
          <p:nvPr/>
        </p:nvSpPr>
        <p:spPr>
          <a:xfrm>
            <a:off x="6138525" y="3154949"/>
            <a:ext cx="1808343"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A  </a:t>
            </a:r>
            <a:endParaRPr lang="en-US"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5D56000-E080-4997-9726-51128DC2EE20}"/>
              </a:ext>
            </a:extLst>
          </p:cNvPr>
          <p:cNvSpPr txBox="1"/>
          <p:nvPr/>
        </p:nvSpPr>
        <p:spPr>
          <a:xfrm>
            <a:off x="6134654" y="2572077"/>
            <a:ext cx="1808343"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B  </a:t>
            </a:r>
            <a:endParaRPr lang="en-US" b="1" dirty="0">
              <a:latin typeface="Times New Roman" panose="02020603050405020304" pitchFamily="18" charset="0"/>
              <a:cs typeface="Times New Roman" panose="02020603050405020304" pitchFamily="18" charset="0"/>
            </a:endParaRPr>
          </a:p>
        </p:txBody>
      </p:sp>
      <p:cxnSp>
        <p:nvCxnSpPr>
          <p:cNvPr id="12" name="Straight Connector 11">
            <a:extLst>
              <a:ext uri="{FF2B5EF4-FFF2-40B4-BE49-F238E27FC236}">
                <a16:creationId xmlns:a16="http://schemas.microsoft.com/office/drawing/2014/main" id="{77C8232A-4CD5-45E6-89E5-B1D26965AFB4}"/>
              </a:ext>
            </a:extLst>
          </p:cNvPr>
          <p:cNvCxnSpPr/>
          <p:nvPr/>
        </p:nvCxnSpPr>
        <p:spPr>
          <a:xfrm>
            <a:off x="9580729" y="2985448"/>
            <a:ext cx="614149" cy="0"/>
          </a:xfrm>
          <a:prstGeom prst="line">
            <a:avLst/>
          </a:prstGeom>
        </p:spPr>
        <p:style>
          <a:lnRef idx="1">
            <a:schemeClr val="dk1"/>
          </a:lnRef>
          <a:fillRef idx="0">
            <a:schemeClr val="dk1"/>
          </a:fillRef>
          <a:effectRef idx="0">
            <a:schemeClr val="dk1"/>
          </a:effectRef>
          <a:fontRef idx="minor">
            <a:schemeClr val="tx1"/>
          </a:fontRef>
        </p:style>
      </p:cxnSp>
      <p:sp>
        <p:nvSpPr>
          <p:cNvPr id="13" name="Footer Placeholder 12">
            <a:extLst>
              <a:ext uri="{FF2B5EF4-FFF2-40B4-BE49-F238E27FC236}">
                <a16:creationId xmlns:a16="http://schemas.microsoft.com/office/drawing/2014/main" id="{49D7F439-BE0D-E771-AF42-283FC39E3C70}"/>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4258004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40358-54AF-4C0C-BC4A-205C1E51E59C}"/>
              </a:ext>
            </a:extLst>
          </p:cNvPr>
          <p:cNvSpPr>
            <a:spLocks noGrp="1"/>
          </p:cNvSpPr>
          <p:nvPr>
            <p:ph type="title"/>
          </p:nvPr>
        </p:nvSpPr>
        <p:spPr>
          <a:xfrm>
            <a:off x="2191066" y="620249"/>
            <a:ext cx="8911687" cy="1280890"/>
          </a:xfrm>
        </p:spPr>
        <p:txBody>
          <a:bodyPr/>
          <a:lstStyle/>
          <a:p>
            <a:r>
              <a:rPr lang="en-US" b="1" dirty="0">
                <a:solidFill>
                  <a:schemeClr val="tx1"/>
                </a:solidFill>
                <a:latin typeface="Times New Roman" panose="02020603050405020304" pitchFamily="18" charset="0"/>
                <a:cs typeface="Times New Roman" panose="02020603050405020304" pitchFamily="18" charset="0"/>
              </a:rPr>
              <a:t>Multi Processing</a:t>
            </a:r>
          </a:p>
        </p:txBody>
      </p:sp>
      <p:sp>
        <p:nvSpPr>
          <p:cNvPr id="3" name="Content Placeholder 2">
            <a:extLst>
              <a:ext uri="{FF2B5EF4-FFF2-40B4-BE49-F238E27FC236}">
                <a16:creationId xmlns:a16="http://schemas.microsoft.com/office/drawing/2014/main" id="{1D45E710-BDD3-4615-B668-EFB9F9BA8185}"/>
              </a:ext>
            </a:extLst>
          </p:cNvPr>
          <p:cNvSpPr>
            <a:spLocks noGrp="1"/>
          </p:cNvSpPr>
          <p:nvPr>
            <p:ph idx="1"/>
          </p:nvPr>
        </p:nvSpPr>
        <p:spPr>
          <a:xfrm>
            <a:off x="2347415" y="1540189"/>
            <a:ext cx="9157197" cy="3777622"/>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System with multiple processors</a:t>
            </a:r>
          </a:p>
          <a:p>
            <a:r>
              <a:rPr lang="en-US" sz="2000" dirty="0">
                <a:solidFill>
                  <a:schemeClr val="tx1"/>
                </a:solidFill>
                <a:latin typeface="Times New Roman" panose="02020603050405020304" pitchFamily="18" charset="0"/>
                <a:cs typeface="Times New Roman" panose="02020603050405020304" pitchFamily="18" charset="0"/>
              </a:rPr>
              <a:t>Multiprocessing system can have</a:t>
            </a:r>
          </a:p>
          <a:p>
            <a:pPr marL="682625">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Multiprocessor</a:t>
            </a:r>
          </a:p>
          <a:p>
            <a:pPr marL="682625">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Multi-core processor</a:t>
            </a:r>
          </a:p>
        </p:txBody>
      </p:sp>
      <p:grpSp>
        <p:nvGrpSpPr>
          <p:cNvPr id="19" name="Group 18">
            <a:extLst>
              <a:ext uri="{FF2B5EF4-FFF2-40B4-BE49-F238E27FC236}">
                <a16:creationId xmlns:a16="http://schemas.microsoft.com/office/drawing/2014/main" id="{F8DE576C-EE10-41CF-8AFA-96CF748AEEE5}"/>
              </a:ext>
            </a:extLst>
          </p:cNvPr>
          <p:cNvGrpSpPr/>
          <p:nvPr/>
        </p:nvGrpSpPr>
        <p:grpSpPr>
          <a:xfrm>
            <a:off x="6096000" y="2475931"/>
            <a:ext cx="5063335" cy="3415008"/>
            <a:chOff x="5691101" y="1657065"/>
            <a:chExt cx="5063335" cy="3415008"/>
          </a:xfrm>
        </p:grpSpPr>
        <p:cxnSp>
          <p:nvCxnSpPr>
            <p:cNvPr id="4" name="Straight Arrow Connector 3">
              <a:extLst>
                <a:ext uri="{FF2B5EF4-FFF2-40B4-BE49-F238E27FC236}">
                  <a16:creationId xmlns:a16="http://schemas.microsoft.com/office/drawing/2014/main" id="{4320EC02-9661-490C-935D-13641D510223}"/>
                </a:ext>
              </a:extLst>
            </p:cNvPr>
            <p:cNvCxnSpPr>
              <a:cxnSpLocks/>
            </p:cNvCxnSpPr>
            <p:nvPr/>
          </p:nvCxnSpPr>
          <p:spPr>
            <a:xfrm flipV="1">
              <a:off x="6905767" y="1657065"/>
              <a:ext cx="0" cy="29706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 name="Straight Arrow Connector 4">
              <a:extLst>
                <a:ext uri="{FF2B5EF4-FFF2-40B4-BE49-F238E27FC236}">
                  <a16:creationId xmlns:a16="http://schemas.microsoft.com/office/drawing/2014/main" id="{64BBCFE6-B677-4898-BF87-35AC61987EDF}"/>
                </a:ext>
              </a:extLst>
            </p:cNvPr>
            <p:cNvCxnSpPr/>
            <p:nvPr/>
          </p:nvCxnSpPr>
          <p:spPr>
            <a:xfrm>
              <a:off x="6905767" y="4630002"/>
              <a:ext cx="384866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A778D010-0BC8-4B99-A8BE-ED33738AC280}"/>
                </a:ext>
              </a:extLst>
            </p:cNvPr>
            <p:cNvSpPr txBox="1"/>
            <p:nvPr/>
          </p:nvSpPr>
          <p:spPr>
            <a:xfrm>
              <a:off x="5742740" y="3936368"/>
              <a:ext cx="1808343"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A  </a:t>
              </a:r>
              <a:endParaRPr lang="en-US"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7DE2291-9F07-4C30-9FE6-17D37CE91E63}"/>
                </a:ext>
              </a:extLst>
            </p:cNvPr>
            <p:cNvSpPr txBox="1"/>
            <p:nvPr/>
          </p:nvSpPr>
          <p:spPr>
            <a:xfrm>
              <a:off x="5742739" y="3358718"/>
              <a:ext cx="1808343"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B  </a:t>
              </a:r>
              <a:endParaRPr lang="en-US" b="1" dirty="0">
                <a:latin typeface="Times New Roman" panose="02020603050405020304" pitchFamily="18" charset="0"/>
                <a:cs typeface="Times New Roman" panose="02020603050405020304" pitchFamily="18" charset="0"/>
              </a:endParaRPr>
            </a:p>
          </p:txBody>
        </p:sp>
        <p:cxnSp>
          <p:nvCxnSpPr>
            <p:cNvPr id="9" name="Straight Connector 8">
              <a:extLst>
                <a:ext uri="{FF2B5EF4-FFF2-40B4-BE49-F238E27FC236}">
                  <a16:creationId xmlns:a16="http://schemas.microsoft.com/office/drawing/2014/main" id="{1B637F9E-5944-4860-8983-4734C1A97288}"/>
                </a:ext>
              </a:extLst>
            </p:cNvPr>
            <p:cNvCxnSpPr/>
            <p:nvPr/>
          </p:nvCxnSpPr>
          <p:spPr>
            <a:xfrm>
              <a:off x="6905767" y="3589550"/>
              <a:ext cx="1187355" cy="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AD266893-7DC4-4F12-A4B2-AE168D73ED25}"/>
                </a:ext>
              </a:extLst>
            </p:cNvPr>
            <p:cNvCxnSpPr>
              <a:cxnSpLocks/>
            </p:cNvCxnSpPr>
            <p:nvPr/>
          </p:nvCxnSpPr>
          <p:spPr>
            <a:xfrm>
              <a:off x="6905765" y="4156525"/>
              <a:ext cx="593679" cy="11185"/>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4415F852-8FF6-4C7E-9AEE-EF1F1C1CB0A1}"/>
                </a:ext>
              </a:extLst>
            </p:cNvPr>
            <p:cNvCxnSpPr>
              <a:cxnSpLocks/>
            </p:cNvCxnSpPr>
            <p:nvPr/>
          </p:nvCxnSpPr>
          <p:spPr>
            <a:xfrm>
              <a:off x="6905767" y="3117564"/>
              <a:ext cx="1555845"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EFF2239F-57FC-4630-B83D-5290692AE8BC}"/>
                </a:ext>
              </a:extLst>
            </p:cNvPr>
            <p:cNvCxnSpPr>
              <a:cxnSpLocks/>
            </p:cNvCxnSpPr>
            <p:nvPr/>
          </p:nvCxnSpPr>
          <p:spPr>
            <a:xfrm>
              <a:off x="6926013" y="2568242"/>
              <a:ext cx="757676" cy="0"/>
            </a:xfrm>
            <a:prstGeom prst="line">
              <a:avLst/>
            </a:prstGeom>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40652958-C2FC-4E98-BA62-5213FDF23D8C}"/>
                </a:ext>
              </a:extLst>
            </p:cNvPr>
            <p:cNvSpPr txBox="1"/>
            <p:nvPr/>
          </p:nvSpPr>
          <p:spPr>
            <a:xfrm>
              <a:off x="5691101" y="2723644"/>
              <a:ext cx="1808343"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C  </a:t>
              </a:r>
              <a:endParaRPr lang="en-US"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FCE94E60-63FE-4824-8826-8B8FF4905151}"/>
                </a:ext>
              </a:extLst>
            </p:cNvPr>
            <p:cNvSpPr txBox="1"/>
            <p:nvPr/>
          </p:nvSpPr>
          <p:spPr>
            <a:xfrm>
              <a:off x="5742739" y="2175274"/>
              <a:ext cx="1808343"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D  </a:t>
              </a:r>
              <a:endParaRPr lang="en-US"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91425DE7-EFFA-4055-A145-877B002C9183}"/>
                </a:ext>
              </a:extLst>
            </p:cNvPr>
            <p:cNvSpPr txBox="1"/>
            <p:nvPr/>
          </p:nvSpPr>
          <p:spPr>
            <a:xfrm>
              <a:off x="8036242" y="4610408"/>
              <a:ext cx="1808343"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Time  </a:t>
              </a:r>
              <a:endParaRPr lang="en-US" b="1" dirty="0">
                <a:latin typeface="Times New Roman" panose="02020603050405020304" pitchFamily="18" charset="0"/>
                <a:cs typeface="Times New Roman" panose="02020603050405020304" pitchFamily="18" charset="0"/>
              </a:endParaRPr>
            </a:p>
          </p:txBody>
        </p:sp>
      </p:grpSp>
      <p:sp>
        <p:nvSpPr>
          <p:cNvPr id="8" name="Footer Placeholder 7">
            <a:extLst>
              <a:ext uri="{FF2B5EF4-FFF2-40B4-BE49-F238E27FC236}">
                <a16:creationId xmlns:a16="http://schemas.microsoft.com/office/drawing/2014/main" id="{CC45151D-E861-BE67-172E-28126F4EA48B}"/>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2400573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C45CA-385C-4987-BD63-68F42EF59DD0}"/>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Process States</a:t>
            </a:r>
          </a:p>
        </p:txBody>
      </p:sp>
      <p:sp>
        <p:nvSpPr>
          <p:cNvPr id="3" name="Content Placeholder 2">
            <a:extLst>
              <a:ext uri="{FF2B5EF4-FFF2-40B4-BE49-F238E27FC236}">
                <a16:creationId xmlns:a16="http://schemas.microsoft.com/office/drawing/2014/main" id="{A8923C02-0E46-4B4F-B59E-55FF4383DEA7}"/>
              </a:ext>
            </a:extLst>
          </p:cNvPr>
          <p:cNvSpPr>
            <a:spLocks noGrp="1"/>
          </p:cNvSpPr>
          <p:nvPr>
            <p:ph idx="1"/>
          </p:nvPr>
        </p:nvSpPr>
        <p:spPr/>
        <p:txBody>
          <a:bodyPr>
            <a:normAutofit/>
          </a:bodyPr>
          <a:lstStyle/>
          <a:p>
            <a:r>
              <a:rPr lang="en-US" sz="2400" dirty="0">
                <a:solidFill>
                  <a:schemeClr val="tx1"/>
                </a:solidFill>
                <a:latin typeface="Times New Roman" panose="02020603050405020304" pitchFamily="18" charset="0"/>
                <a:cs typeface="Times New Roman" panose="02020603050405020304" pitchFamily="18" charset="0"/>
              </a:rPr>
              <a:t>New</a:t>
            </a:r>
          </a:p>
          <a:p>
            <a:r>
              <a:rPr lang="en-US" sz="2400" dirty="0">
                <a:solidFill>
                  <a:schemeClr val="tx1"/>
                </a:solidFill>
                <a:latin typeface="Times New Roman" panose="02020603050405020304" pitchFamily="18" charset="0"/>
                <a:cs typeface="Times New Roman" panose="02020603050405020304" pitchFamily="18" charset="0"/>
              </a:rPr>
              <a:t>Ready</a:t>
            </a:r>
          </a:p>
          <a:p>
            <a:r>
              <a:rPr lang="en-US" sz="2400" dirty="0">
                <a:solidFill>
                  <a:schemeClr val="tx1"/>
                </a:solidFill>
                <a:latin typeface="Times New Roman" panose="02020603050405020304" pitchFamily="18" charset="0"/>
                <a:cs typeface="Times New Roman" panose="02020603050405020304" pitchFamily="18" charset="0"/>
              </a:rPr>
              <a:t>Running</a:t>
            </a:r>
          </a:p>
          <a:p>
            <a:r>
              <a:rPr lang="en-US" sz="2400" dirty="0">
                <a:solidFill>
                  <a:schemeClr val="tx1"/>
                </a:solidFill>
                <a:latin typeface="Times New Roman" panose="02020603050405020304" pitchFamily="18" charset="0"/>
                <a:cs typeface="Times New Roman" panose="02020603050405020304" pitchFamily="18" charset="0"/>
              </a:rPr>
              <a:t>Waiting</a:t>
            </a:r>
          </a:p>
          <a:p>
            <a:r>
              <a:rPr lang="en-US" sz="2400" dirty="0">
                <a:solidFill>
                  <a:schemeClr val="tx1"/>
                </a:solidFill>
                <a:latin typeface="Times New Roman" panose="02020603050405020304" pitchFamily="18" charset="0"/>
                <a:cs typeface="Times New Roman" panose="02020603050405020304" pitchFamily="18" charset="0"/>
              </a:rPr>
              <a:t>Terminated</a:t>
            </a:r>
          </a:p>
        </p:txBody>
      </p:sp>
      <p:pic>
        <p:nvPicPr>
          <p:cNvPr id="26" name="Picture 25">
            <a:extLst>
              <a:ext uri="{FF2B5EF4-FFF2-40B4-BE49-F238E27FC236}">
                <a16:creationId xmlns:a16="http://schemas.microsoft.com/office/drawing/2014/main" id="{B39015F4-78DF-4363-ADF4-3E18A33D52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3761" y="1880616"/>
            <a:ext cx="7229379" cy="3373772"/>
          </a:xfrm>
          <a:prstGeom prst="rect">
            <a:avLst/>
          </a:prstGeom>
        </p:spPr>
      </p:pic>
      <p:sp>
        <p:nvSpPr>
          <p:cNvPr id="4" name="Footer Placeholder 3">
            <a:extLst>
              <a:ext uri="{FF2B5EF4-FFF2-40B4-BE49-F238E27FC236}">
                <a16:creationId xmlns:a16="http://schemas.microsoft.com/office/drawing/2014/main" id="{66C50CC4-2DEF-6CEC-6ADE-20DAA479C851}"/>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2716723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6ABDF-012B-42D7-B134-8C43CDB46E9B}"/>
              </a:ext>
            </a:extLst>
          </p:cNvPr>
          <p:cNvSpPr>
            <a:spLocks noGrp="1"/>
          </p:cNvSpPr>
          <p:nvPr>
            <p:ph type="title"/>
          </p:nvPr>
        </p:nvSpPr>
        <p:spPr>
          <a:xfrm>
            <a:off x="2183492" y="610463"/>
            <a:ext cx="8911687" cy="1280890"/>
          </a:xfrm>
        </p:spPr>
        <p:txBody>
          <a:bodyPr/>
          <a:lstStyle/>
          <a:p>
            <a:r>
              <a:rPr lang="en-US" b="1" dirty="0">
                <a:solidFill>
                  <a:schemeClr val="tx1"/>
                </a:solidFill>
                <a:latin typeface="Times New Roman" panose="02020603050405020304" pitchFamily="18" charset="0"/>
                <a:cs typeface="Times New Roman" panose="02020603050405020304" pitchFamily="18" charset="0"/>
              </a:rPr>
              <a:t>Process Control Block / Process Table</a:t>
            </a:r>
          </a:p>
        </p:txBody>
      </p:sp>
      <p:sp>
        <p:nvSpPr>
          <p:cNvPr id="3" name="Content Placeholder 2">
            <a:extLst>
              <a:ext uri="{FF2B5EF4-FFF2-40B4-BE49-F238E27FC236}">
                <a16:creationId xmlns:a16="http://schemas.microsoft.com/office/drawing/2014/main" id="{899D3A8A-5776-4383-B771-2BF8FF561702}"/>
              </a:ext>
            </a:extLst>
          </p:cNvPr>
          <p:cNvSpPr>
            <a:spLocks noGrp="1"/>
          </p:cNvSpPr>
          <p:nvPr>
            <p:ph idx="1"/>
          </p:nvPr>
        </p:nvSpPr>
        <p:spPr>
          <a:xfrm>
            <a:off x="2179779" y="1540188"/>
            <a:ext cx="6459254" cy="5106271"/>
          </a:xfrm>
        </p:spPr>
        <p:txBody>
          <a:bodyPr>
            <a:normAutofit/>
          </a:bodyPr>
          <a:lstStyle/>
          <a:p>
            <a:r>
              <a:rPr lang="en-US" altLang="en-US" sz="2000" dirty="0">
                <a:solidFill>
                  <a:schemeClr val="tx1"/>
                </a:solidFill>
                <a:latin typeface="Times New Roman" panose="02020603050405020304" pitchFamily="18" charset="0"/>
                <a:cs typeface="Times New Roman" panose="02020603050405020304" pitchFamily="18" charset="0"/>
              </a:rPr>
              <a:t>Information associated with each process (also called </a:t>
            </a:r>
            <a:r>
              <a:rPr lang="en-US" altLang="en-US" sz="2000" b="1" dirty="0">
                <a:solidFill>
                  <a:schemeClr val="tx1"/>
                </a:solidFill>
                <a:latin typeface="Times New Roman" panose="02020603050405020304" pitchFamily="18" charset="0"/>
                <a:cs typeface="Times New Roman" panose="02020603050405020304" pitchFamily="18" charset="0"/>
              </a:rPr>
              <a:t>task control block</a:t>
            </a:r>
            <a:r>
              <a:rPr lang="en-US" altLang="en-US" sz="2000" dirty="0">
                <a:solidFill>
                  <a:schemeClr val="tx1"/>
                </a:solidFill>
                <a:latin typeface="Times New Roman" panose="02020603050405020304" pitchFamily="18" charset="0"/>
                <a:cs typeface="Times New Roman" panose="02020603050405020304" pitchFamily="18" charset="0"/>
              </a:rPr>
              <a:t>)</a:t>
            </a:r>
          </a:p>
          <a:p>
            <a:r>
              <a:rPr lang="en-US" altLang="en-US" sz="2000" dirty="0">
                <a:solidFill>
                  <a:schemeClr val="tx1"/>
                </a:solidFill>
                <a:latin typeface="Times New Roman" panose="02020603050405020304" pitchFamily="18" charset="0"/>
                <a:cs typeface="Times New Roman" panose="02020603050405020304" pitchFamily="18" charset="0"/>
              </a:rPr>
              <a:t>Process state – running, waiting, </a:t>
            </a:r>
            <a:r>
              <a:rPr lang="en-US" altLang="en-US" sz="2000" dirty="0" err="1">
                <a:solidFill>
                  <a:schemeClr val="tx1"/>
                </a:solidFill>
                <a:latin typeface="Times New Roman" panose="02020603050405020304" pitchFamily="18" charset="0"/>
                <a:cs typeface="Times New Roman" panose="02020603050405020304" pitchFamily="18" charset="0"/>
              </a:rPr>
              <a:t>etc</a:t>
            </a:r>
            <a:endParaRPr lang="en-US" altLang="en-US" sz="2000" dirty="0">
              <a:solidFill>
                <a:schemeClr val="tx1"/>
              </a:solidFill>
              <a:latin typeface="Times New Roman" panose="02020603050405020304" pitchFamily="18" charset="0"/>
              <a:cs typeface="Times New Roman" panose="02020603050405020304" pitchFamily="18" charset="0"/>
            </a:endParaRPr>
          </a:p>
          <a:p>
            <a:r>
              <a:rPr lang="en-US" altLang="en-US" sz="2000" dirty="0">
                <a:solidFill>
                  <a:schemeClr val="tx1"/>
                </a:solidFill>
                <a:latin typeface="Times New Roman" panose="02020603050405020304" pitchFamily="18" charset="0"/>
                <a:cs typeface="Times New Roman" panose="02020603050405020304" pitchFamily="18" charset="0"/>
              </a:rPr>
              <a:t>Program counter – location of instruction to next execute</a:t>
            </a:r>
          </a:p>
          <a:p>
            <a:r>
              <a:rPr lang="en-US" altLang="en-US" sz="2000" dirty="0">
                <a:solidFill>
                  <a:schemeClr val="tx1"/>
                </a:solidFill>
                <a:latin typeface="Times New Roman" panose="02020603050405020304" pitchFamily="18" charset="0"/>
                <a:cs typeface="Times New Roman" panose="02020603050405020304" pitchFamily="18" charset="0"/>
              </a:rPr>
              <a:t>CPU registers – contents of all process-centric registers</a:t>
            </a:r>
          </a:p>
          <a:p>
            <a:r>
              <a:rPr lang="en-US" altLang="en-US" sz="2000" dirty="0">
                <a:solidFill>
                  <a:schemeClr val="tx1"/>
                </a:solidFill>
                <a:latin typeface="Times New Roman" panose="02020603050405020304" pitchFamily="18" charset="0"/>
                <a:cs typeface="Times New Roman" panose="02020603050405020304" pitchFamily="18" charset="0"/>
              </a:rPr>
              <a:t>CPU scheduling information- priorities, scheduling queue pointers</a:t>
            </a:r>
          </a:p>
          <a:p>
            <a:r>
              <a:rPr lang="en-US" altLang="en-US" sz="2000" dirty="0">
                <a:solidFill>
                  <a:schemeClr val="tx1"/>
                </a:solidFill>
                <a:latin typeface="Times New Roman" panose="02020603050405020304" pitchFamily="18" charset="0"/>
                <a:cs typeface="Times New Roman" panose="02020603050405020304" pitchFamily="18" charset="0"/>
              </a:rPr>
              <a:t>Memory-management information – memory allocated to the process</a:t>
            </a:r>
          </a:p>
          <a:p>
            <a:r>
              <a:rPr lang="en-US" altLang="en-US" sz="2000" dirty="0">
                <a:solidFill>
                  <a:schemeClr val="tx1"/>
                </a:solidFill>
                <a:latin typeface="Times New Roman" panose="02020603050405020304" pitchFamily="18" charset="0"/>
                <a:cs typeface="Times New Roman" panose="02020603050405020304" pitchFamily="18" charset="0"/>
              </a:rPr>
              <a:t>Accounting information – CPU used, clock time elapsed since start, time limits</a:t>
            </a:r>
          </a:p>
          <a:p>
            <a:r>
              <a:rPr lang="en-US" altLang="en-US" sz="2000" dirty="0">
                <a:solidFill>
                  <a:schemeClr val="tx1"/>
                </a:solidFill>
                <a:latin typeface="Times New Roman" panose="02020603050405020304" pitchFamily="18" charset="0"/>
                <a:cs typeface="Times New Roman" panose="02020603050405020304" pitchFamily="18" charset="0"/>
              </a:rPr>
              <a:t>I/O status information – I/O devices allocated to process, list of open files</a:t>
            </a:r>
          </a:p>
          <a:p>
            <a:endParaRPr lang="en-US" altLang="en-US" sz="2000" dirty="0">
              <a:solidFill>
                <a:schemeClr val="tx1"/>
              </a:solidFill>
              <a:latin typeface="Times New Roman" panose="02020603050405020304" pitchFamily="18" charset="0"/>
              <a:cs typeface="Times New Roman" panose="02020603050405020304" pitchFamily="18" charset="0"/>
            </a:endParaRPr>
          </a:p>
          <a:p>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4" name="Picture 9">
            <a:extLst>
              <a:ext uri="{FF2B5EF4-FFF2-40B4-BE49-F238E27FC236}">
                <a16:creationId xmlns:a16="http://schemas.microsoft.com/office/drawing/2014/main" id="{FD53AADB-B1D0-4B55-B7EE-E638FAC93A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47875" y="1421121"/>
            <a:ext cx="2795588" cy="448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a:extLst>
              <a:ext uri="{FF2B5EF4-FFF2-40B4-BE49-F238E27FC236}">
                <a16:creationId xmlns:a16="http://schemas.microsoft.com/office/drawing/2014/main" id="{F0A756AC-84BE-6795-8DB4-97E688E2FE05}"/>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2883397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2FF5A-5A81-4E18-A119-AD202D6249E9}"/>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PCB (contd.)</a:t>
            </a:r>
          </a:p>
        </p:txBody>
      </p:sp>
      <p:pic>
        <p:nvPicPr>
          <p:cNvPr id="4" name="Picture 9">
            <a:extLst>
              <a:ext uri="{FF2B5EF4-FFF2-40B4-BE49-F238E27FC236}">
                <a16:creationId xmlns:a16="http://schemas.microsoft.com/office/drawing/2014/main" id="{694EF783-B34F-4CAA-9BB8-6076F92B03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62824" y="1372965"/>
            <a:ext cx="7236251" cy="486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a:extLst>
              <a:ext uri="{FF2B5EF4-FFF2-40B4-BE49-F238E27FC236}">
                <a16:creationId xmlns:a16="http://schemas.microsoft.com/office/drawing/2014/main" id="{E0EA1BFC-E4F1-C8C8-05C3-BF048F886472}"/>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952451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A9ABE-A8A5-451A-9022-97FBC3431026}"/>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Threads</a:t>
            </a:r>
          </a:p>
        </p:txBody>
      </p:sp>
      <p:sp>
        <p:nvSpPr>
          <p:cNvPr id="3" name="Content Placeholder 2">
            <a:extLst>
              <a:ext uri="{FF2B5EF4-FFF2-40B4-BE49-F238E27FC236}">
                <a16:creationId xmlns:a16="http://schemas.microsoft.com/office/drawing/2014/main" id="{00EBC8DC-16E5-43E0-B8A8-79F2CFF65EBF}"/>
              </a:ext>
            </a:extLst>
          </p:cNvPr>
          <p:cNvSpPr>
            <a:spLocks noGrp="1"/>
          </p:cNvSpPr>
          <p:nvPr>
            <p:ph idx="1"/>
          </p:nvPr>
        </p:nvSpPr>
        <p:spPr>
          <a:xfrm>
            <a:off x="2592925" y="1540188"/>
            <a:ext cx="8915400" cy="4983441"/>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Threads are like Process. </a:t>
            </a:r>
          </a:p>
          <a:p>
            <a:r>
              <a:rPr lang="en-US" sz="2000" dirty="0">
                <a:solidFill>
                  <a:schemeClr val="tx1"/>
                </a:solidFill>
                <a:latin typeface="Times New Roman" panose="02020603050405020304" pitchFamily="18" charset="0"/>
                <a:cs typeface="Times New Roman" panose="02020603050405020304" pitchFamily="18" charset="0"/>
              </a:rPr>
              <a:t>Allows more than one job to be performed at a time. </a:t>
            </a:r>
          </a:p>
          <a:p>
            <a:r>
              <a:rPr lang="en-US" sz="2000" dirty="0">
                <a:solidFill>
                  <a:schemeClr val="tx1"/>
                </a:solidFill>
                <a:latin typeface="Times New Roman" panose="02020603050405020304" pitchFamily="18" charset="0"/>
                <a:cs typeface="Times New Roman" panose="02020603050405020304" pitchFamily="18" charset="0"/>
              </a:rPr>
              <a:t>Thread – Lightweight Process whereas  Process - Heavyweight Process.</a:t>
            </a:r>
          </a:p>
          <a:p>
            <a:r>
              <a:rPr lang="en-US" sz="2000" dirty="0">
                <a:solidFill>
                  <a:schemeClr val="tx1"/>
                </a:solidFill>
                <a:latin typeface="Times New Roman" panose="02020603050405020304" pitchFamily="18" charset="0"/>
                <a:cs typeface="Times New Roman" panose="02020603050405020304" pitchFamily="18" charset="0"/>
              </a:rPr>
              <a:t>Many applications now-a-days are multithreaded </a:t>
            </a:r>
          </a:p>
          <a:p>
            <a:pPr marL="682625">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Web Browser </a:t>
            </a:r>
          </a:p>
          <a:p>
            <a:pPr marL="1146175">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 A Thread for retrieving data from network </a:t>
            </a:r>
          </a:p>
          <a:p>
            <a:pPr marL="1146175">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 Another Thread for displaying text and images </a:t>
            </a:r>
          </a:p>
          <a:p>
            <a:pPr marL="682625">
              <a:buFont typeface="Wingdings" panose="05000000000000000000" pitchFamily="2" charset="2"/>
              <a:buChar char="§"/>
            </a:pPr>
            <a:r>
              <a:rPr lang="en-US" sz="2000" dirty="0">
                <a:solidFill>
                  <a:schemeClr val="tx1"/>
                </a:solidFill>
                <a:latin typeface="Times New Roman" panose="02020603050405020304" pitchFamily="18" charset="0"/>
                <a:cs typeface="Times New Roman" panose="02020603050405020304" pitchFamily="18" charset="0"/>
              </a:rPr>
              <a:t>Word Processor</a:t>
            </a:r>
          </a:p>
          <a:p>
            <a:pPr marL="1201738">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 A Thread for displaying graphics</a:t>
            </a:r>
          </a:p>
          <a:p>
            <a:pPr marL="1201738">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 Another thread for reading keystrokes from user </a:t>
            </a:r>
          </a:p>
          <a:p>
            <a:pPr marL="1201738">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 Third Thread for performing grammar checks in background </a:t>
            </a:r>
          </a:p>
        </p:txBody>
      </p:sp>
      <p:sp>
        <p:nvSpPr>
          <p:cNvPr id="4" name="Footer Placeholder 3">
            <a:extLst>
              <a:ext uri="{FF2B5EF4-FFF2-40B4-BE49-F238E27FC236}">
                <a16:creationId xmlns:a16="http://schemas.microsoft.com/office/drawing/2014/main" id="{976CFC61-97E7-40A4-8E34-F05259B5030A}"/>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051269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8B0C0-A453-481A-85FB-8620879797A1}"/>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Thread vs Process</a:t>
            </a:r>
          </a:p>
        </p:txBody>
      </p:sp>
      <p:sp>
        <p:nvSpPr>
          <p:cNvPr id="4" name="Text Placeholder 5">
            <a:extLst>
              <a:ext uri="{FF2B5EF4-FFF2-40B4-BE49-F238E27FC236}">
                <a16:creationId xmlns:a16="http://schemas.microsoft.com/office/drawing/2014/main" id="{85ED2D8F-0666-4767-8D17-BAEDB3FF44E0}"/>
              </a:ext>
            </a:extLst>
          </p:cNvPr>
          <p:cNvSpPr txBox="1">
            <a:spLocks/>
          </p:cNvSpPr>
          <p:nvPr/>
        </p:nvSpPr>
        <p:spPr>
          <a:xfrm>
            <a:off x="2354361" y="1905000"/>
            <a:ext cx="3992732" cy="576262"/>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3200" dirty="0">
                <a:solidFill>
                  <a:schemeClr val="tx1"/>
                </a:solidFill>
                <a:latin typeface="Times New Roman" panose="02020603050405020304" pitchFamily="18" charset="0"/>
                <a:cs typeface="Times New Roman" panose="02020603050405020304" pitchFamily="18" charset="0"/>
              </a:rPr>
              <a:t>Thread</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 Placeholder 5">
            <a:extLst>
              <a:ext uri="{FF2B5EF4-FFF2-40B4-BE49-F238E27FC236}">
                <a16:creationId xmlns:a16="http://schemas.microsoft.com/office/drawing/2014/main" id="{F4120222-09DA-4A17-9E5F-C654A4A81727}"/>
              </a:ext>
            </a:extLst>
          </p:cNvPr>
          <p:cNvSpPr txBox="1">
            <a:spLocks/>
          </p:cNvSpPr>
          <p:nvPr/>
        </p:nvSpPr>
        <p:spPr>
          <a:xfrm>
            <a:off x="7841274" y="1905000"/>
            <a:ext cx="3992732" cy="576262"/>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3200" dirty="0">
                <a:solidFill>
                  <a:schemeClr val="tx1"/>
                </a:solidFill>
                <a:latin typeface="Times New Roman" panose="02020603050405020304" pitchFamily="18" charset="0"/>
                <a:cs typeface="Times New Roman" panose="02020603050405020304" pitchFamily="18" charset="0"/>
              </a:rPr>
              <a:t>Process</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6" name="Text Placeholder 5">
            <a:extLst>
              <a:ext uri="{FF2B5EF4-FFF2-40B4-BE49-F238E27FC236}">
                <a16:creationId xmlns:a16="http://schemas.microsoft.com/office/drawing/2014/main" id="{D599B645-80A9-432D-AAF1-231A79054C50}"/>
              </a:ext>
            </a:extLst>
          </p:cNvPr>
          <p:cNvSpPr txBox="1">
            <a:spLocks/>
          </p:cNvSpPr>
          <p:nvPr/>
        </p:nvSpPr>
        <p:spPr>
          <a:xfrm>
            <a:off x="2354361" y="2481262"/>
            <a:ext cx="3992732" cy="404236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Thread is light weight, takes less resources than process</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Thread switching doesn’t need interaction with OS</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All threads can share same file, memory and child processes</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Multiple threaded processes use fewer resources</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One thread can R-W or change another thread data</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7" name="Text Placeholder 5">
            <a:extLst>
              <a:ext uri="{FF2B5EF4-FFF2-40B4-BE49-F238E27FC236}">
                <a16:creationId xmlns:a16="http://schemas.microsoft.com/office/drawing/2014/main" id="{6B482787-5A6D-4323-97A4-F464ECB59B30}"/>
              </a:ext>
            </a:extLst>
          </p:cNvPr>
          <p:cNvSpPr txBox="1">
            <a:spLocks/>
          </p:cNvSpPr>
          <p:nvPr/>
        </p:nvSpPr>
        <p:spPr>
          <a:xfrm>
            <a:off x="7048768" y="2420984"/>
            <a:ext cx="4455844" cy="443701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Process is heavy weight or  resource intensive</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Process switching needs interaction with OS</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In multi processing, each process executes same code but has its own file processes and memory</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Multiple processes without threads use more resources</a:t>
            </a:r>
          </a:p>
          <a:p>
            <a:pPr>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Processes are independent of one another</a:t>
            </a:r>
          </a:p>
        </p:txBody>
      </p:sp>
      <p:sp>
        <p:nvSpPr>
          <p:cNvPr id="3" name="Footer Placeholder 2">
            <a:extLst>
              <a:ext uri="{FF2B5EF4-FFF2-40B4-BE49-F238E27FC236}">
                <a16:creationId xmlns:a16="http://schemas.microsoft.com/office/drawing/2014/main" id="{468B3256-04BC-A3BD-0B4B-B48B7D23740A}"/>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2149861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96FFF-A3A2-4A07-9E37-DCC776B78C2C}"/>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Types of Thread</a:t>
            </a:r>
          </a:p>
        </p:txBody>
      </p:sp>
      <p:sp>
        <p:nvSpPr>
          <p:cNvPr id="3" name="Content Placeholder 2">
            <a:extLst>
              <a:ext uri="{FF2B5EF4-FFF2-40B4-BE49-F238E27FC236}">
                <a16:creationId xmlns:a16="http://schemas.microsoft.com/office/drawing/2014/main" id="{D0C0FB69-3C13-4CF3-9971-41FA94FD5EFA}"/>
              </a:ext>
            </a:extLst>
          </p:cNvPr>
          <p:cNvSpPr>
            <a:spLocks noGrp="1"/>
          </p:cNvSpPr>
          <p:nvPr>
            <p:ph idx="1"/>
          </p:nvPr>
        </p:nvSpPr>
        <p:spPr/>
        <p:txBody>
          <a:bodyPr>
            <a:normAutofit/>
          </a:bodyPr>
          <a:lstStyle/>
          <a:p>
            <a:r>
              <a:rPr lang="en-US" sz="2400" dirty="0">
                <a:solidFill>
                  <a:schemeClr val="tx1"/>
                </a:solidFill>
                <a:latin typeface="Times New Roman" panose="02020603050405020304" pitchFamily="18" charset="0"/>
                <a:cs typeface="Times New Roman" panose="02020603050405020304" pitchFamily="18" charset="0"/>
              </a:rPr>
              <a:t>User-Level Thread</a:t>
            </a:r>
          </a:p>
          <a:p>
            <a:r>
              <a:rPr lang="en-US" sz="2400" dirty="0">
                <a:solidFill>
                  <a:schemeClr val="tx1"/>
                </a:solidFill>
                <a:latin typeface="Times New Roman" panose="02020603050405020304" pitchFamily="18" charset="0"/>
                <a:cs typeface="Times New Roman" panose="02020603050405020304" pitchFamily="18" charset="0"/>
              </a:rPr>
              <a:t>Kernel-Level Thread</a:t>
            </a:r>
          </a:p>
        </p:txBody>
      </p:sp>
      <p:sp>
        <p:nvSpPr>
          <p:cNvPr id="4" name="Footer Placeholder 3">
            <a:extLst>
              <a:ext uri="{FF2B5EF4-FFF2-40B4-BE49-F238E27FC236}">
                <a16:creationId xmlns:a16="http://schemas.microsoft.com/office/drawing/2014/main" id="{D30A2617-254E-A969-5012-2B53BD67CF79}"/>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9254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18ABE-2AFD-4BC7-8707-A3091C0E8247}"/>
              </a:ext>
            </a:extLst>
          </p:cNvPr>
          <p:cNvSpPr>
            <a:spLocks noGrp="1"/>
          </p:cNvSpPr>
          <p:nvPr>
            <p:ph type="title"/>
          </p:nvPr>
        </p:nvSpPr>
        <p:spPr>
          <a:xfrm>
            <a:off x="2596638" y="310211"/>
            <a:ext cx="8911687" cy="1280890"/>
          </a:xfrm>
        </p:spPr>
        <p:txBody>
          <a:bodyPr/>
          <a:lstStyle/>
          <a:p>
            <a:r>
              <a:rPr lang="en-US" b="1" dirty="0">
                <a:solidFill>
                  <a:schemeClr val="tx1"/>
                </a:solidFill>
                <a:latin typeface="Times New Roman" panose="02020603050405020304" pitchFamily="18" charset="0"/>
                <a:cs typeface="Times New Roman" panose="02020603050405020304" pitchFamily="18" charset="0"/>
              </a:rPr>
              <a:t>User-Level Thread</a:t>
            </a:r>
          </a:p>
        </p:txBody>
      </p:sp>
      <p:sp>
        <p:nvSpPr>
          <p:cNvPr id="3" name="Content Placeholder 2">
            <a:extLst>
              <a:ext uri="{FF2B5EF4-FFF2-40B4-BE49-F238E27FC236}">
                <a16:creationId xmlns:a16="http://schemas.microsoft.com/office/drawing/2014/main" id="{6719A3F3-E713-4944-9A76-F6791A14732C}"/>
              </a:ext>
            </a:extLst>
          </p:cNvPr>
          <p:cNvSpPr>
            <a:spLocks noGrp="1"/>
          </p:cNvSpPr>
          <p:nvPr>
            <p:ph idx="1"/>
          </p:nvPr>
        </p:nvSpPr>
        <p:spPr>
          <a:xfrm>
            <a:off x="2596638" y="950656"/>
            <a:ext cx="8915400" cy="5791338"/>
          </a:xfrm>
        </p:spPr>
        <p:txBody>
          <a:bodyPr>
            <a:noAutofit/>
          </a:bodyPr>
          <a:lstStyle/>
          <a:p>
            <a:r>
              <a:rPr lang="en-US" altLang="en-US" dirty="0">
                <a:latin typeface="Times New Roman" panose="02020603050405020304" pitchFamily="18" charset="0"/>
                <a:cs typeface="Times New Roman" panose="02020603050405020304" pitchFamily="18" charset="0"/>
              </a:rPr>
              <a:t>Management done by user-level threads library</a:t>
            </a:r>
          </a:p>
          <a:p>
            <a:r>
              <a:rPr lang="en-US" dirty="0">
                <a:latin typeface="Times New Roman" panose="02020603050405020304" pitchFamily="18" charset="0"/>
                <a:cs typeface="Times New Roman" panose="02020603050405020304" pitchFamily="18" charset="0"/>
              </a:rPr>
              <a:t>Implemented as a library </a:t>
            </a:r>
          </a:p>
          <a:p>
            <a:pPr marL="7366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Library provides support for thread creation, scheduling and management with no support from the kernel. </a:t>
            </a:r>
          </a:p>
          <a:p>
            <a:r>
              <a:rPr lang="en-US" altLang="en-US" dirty="0">
                <a:latin typeface="Times New Roman" panose="02020603050405020304" pitchFamily="18" charset="0"/>
                <a:cs typeface="Times New Roman" panose="02020603050405020304" pitchFamily="18" charset="0"/>
              </a:rPr>
              <a:t>Three primary thread libraries:</a:t>
            </a:r>
          </a:p>
          <a:p>
            <a:pPr lvl="1">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 POSIX </a:t>
            </a:r>
            <a:r>
              <a:rPr lang="en-US" altLang="en-US" sz="1800" dirty="0" err="1">
                <a:latin typeface="Times New Roman" panose="02020603050405020304" pitchFamily="18" charset="0"/>
                <a:cs typeface="Times New Roman" panose="02020603050405020304" pitchFamily="18" charset="0"/>
              </a:rPr>
              <a:t>Pthreads</a:t>
            </a:r>
            <a:endParaRPr lang="en-US" altLang="en-US" sz="1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 Windows threads</a:t>
            </a:r>
          </a:p>
          <a:p>
            <a:pPr lvl="1">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 Java threads</a:t>
            </a:r>
          </a:p>
          <a:p>
            <a:r>
              <a:rPr lang="en-US" altLang="en-US" dirty="0">
                <a:latin typeface="Times New Roman" panose="02020603050405020304" pitchFamily="18" charset="0"/>
                <a:cs typeface="Times New Roman" panose="02020603050405020304" pitchFamily="18" charset="0"/>
              </a:rPr>
              <a:t>Pons: </a:t>
            </a:r>
          </a:p>
          <a:p>
            <a:pPr marL="736600">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Thread switching doesn’t require kernel mode privileges</a:t>
            </a:r>
          </a:p>
          <a:p>
            <a:pPr marL="736600">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Can run on any OS</a:t>
            </a:r>
          </a:p>
          <a:p>
            <a:pPr marL="7366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Fast to create and manage</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Cons: </a:t>
            </a:r>
          </a:p>
          <a:p>
            <a:pPr marL="736600">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Multithreaded applications can’t take advantage of multiprocessing</a:t>
            </a:r>
          </a:p>
          <a:p>
            <a:pPr marL="736600">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marL="341313" lvl="1">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AF557FF-C5FC-E754-5B39-95296F1E3FFA}"/>
              </a:ext>
            </a:extLst>
          </p:cNvPr>
          <p:cNvSpPr>
            <a:spLocks noGrp="1"/>
          </p:cNvSpPr>
          <p:nvPr>
            <p:ph type="ftr" sz="quarter" idx="11"/>
          </p:nvPr>
        </p:nvSpPr>
        <p:spPr>
          <a:xfrm>
            <a:off x="2596638" y="6492875"/>
            <a:ext cx="7619999" cy="365125"/>
          </a:xfrm>
        </p:spPr>
        <p:txBody>
          <a:bodyPr/>
          <a:lstStyle/>
          <a:p>
            <a:r>
              <a:rPr lang="en-US" dirty="0"/>
              <a:t>- Prepared by: Rishav Acharya</a:t>
            </a:r>
          </a:p>
        </p:txBody>
      </p:sp>
    </p:spTree>
    <p:extLst>
      <p:ext uri="{BB962C8B-B14F-4D97-AF65-F5344CB8AC3E}">
        <p14:creationId xmlns:p14="http://schemas.microsoft.com/office/powerpoint/2010/main" val="384682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D518E-D099-4FC0-A333-505A41F3D03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Kernel Level Threads</a:t>
            </a:r>
          </a:p>
        </p:txBody>
      </p:sp>
      <p:sp>
        <p:nvSpPr>
          <p:cNvPr id="3" name="Content Placeholder 2">
            <a:extLst>
              <a:ext uri="{FF2B5EF4-FFF2-40B4-BE49-F238E27FC236}">
                <a16:creationId xmlns:a16="http://schemas.microsoft.com/office/drawing/2014/main" id="{23842142-49AF-40D0-8C8D-A9D66A9B2A31}"/>
              </a:ext>
            </a:extLst>
          </p:cNvPr>
          <p:cNvSpPr>
            <a:spLocks noGrp="1"/>
          </p:cNvSpPr>
          <p:nvPr>
            <p:ph idx="1"/>
          </p:nvPr>
        </p:nvSpPr>
        <p:spPr>
          <a:xfrm>
            <a:off x="2589212" y="1540188"/>
            <a:ext cx="8915400" cy="5188157"/>
          </a:xfrm>
        </p:spPr>
        <p:txBody>
          <a:bodyPr>
            <a:normAutofit/>
          </a:bodyPr>
          <a:lstStyle/>
          <a:p>
            <a:r>
              <a:rPr lang="en-US" sz="2000" dirty="0">
                <a:latin typeface="Times New Roman" panose="02020603050405020304" pitchFamily="18" charset="0"/>
                <a:cs typeface="Times New Roman" panose="02020603050405020304" pitchFamily="18" charset="0"/>
              </a:rPr>
              <a:t>Supported by kernel</a:t>
            </a:r>
          </a:p>
          <a:p>
            <a:r>
              <a:rPr lang="en-US" sz="2000" dirty="0">
                <a:latin typeface="Times New Roman" panose="02020603050405020304" pitchFamily="18" charset="0"/>
                <a:cs typeface="Times New Roman" panose="02020603050405020304" pitchFamily="18" charset="0"/>
              </a:rPr>
              <a:t>Kernel performs thread creation, scheduling and management in kernel space. </a:t>
            </a:r>
          </a:p>
          <a:p>
            <a:r>
              <a:rPr lang="en-US" sz="2000" dirty="0">
                <a:latin typeface="Times New Roman" panose="02020603050405020304" pitchFamily="18" charset="0"/>
                <a:cs typeface="Times New Roman" panose="02020603050405020304" pitchFamily="18" charset="0"/>
              </a:rPr>
              <a:t>Slower to create and manage </a:t>
            </a:r>
          </a:p>
          <a:p>
            <a:r>
              <a:rPr lang="en-US" sz="2000" dirty="0">
                <a:latin typeface="Times New Roman" panose="02020603050405020304" pitchFamily="18" charset="0"/>
                <a:cs typeface="Times New Roman" panose="02020603050405020304" pitchFamily="18" charset="0"/>
              </a:rPr>
              <a:t>Blocking system calls are no problem</a:t>
            </a:r>
          </a:p>
          <a:p>
            <a:r>
              <a:rPr lang="en-US" sz="2000" dirty="0">
                <a:latin typeface="Times New Roman" panose="02020603050405020304" pitchFamily="18" charset="0"/>
                <a:cs typeface="Times New Roman" panose="02020603050405020304" pitchFamily="18" charset="0"/>
              </a:rPr>
              <a:t>Pons:</a:t>
            </a:r>
          </a:p>
          <a:p>
            <a:pPr marL="627063">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Can schedule multiple threads from same process on multiple processes</a:t>
            </a:r>
          </a:p>
          <a:p>
            <a:pPr marL="627063">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If one thread is blocked then kernel schedules another thread on the same process</a:t>
            </a:r>
          </a:p>
          <a:p>
            <a:r>
              <a:rPr lang="en-US" sz="2000" dirty="0">
                <a:latin typeface="Times New Roman" panose="02020603050405020304" pitchFamily="18" charset="0"/>
                <a:cs typeface="Times New Roman" panose="02020603050405020304" pitchFamily="18" charset="0"/>
              </a:rPr>
              <a:t>Cons:</a:t>
            </a:r>
          </a:p>
          <a:p>
            <a:pPr marL="627063">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Slower to create and manage than user thread</a:t>
            </a:r>
          </a:p>
          <a:p>
            <a:pPr marL="627063">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Specific to OS</a:t>
            </a:r>
          </a:p>
          <a:p>
            <a:endParaRPr lang="en-US"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6F5CDE6-F20C-7460-5F0E-5E8253B10262}"/>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795748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17C47-EDDB-4FE5-9486-34634C53BD78}"/>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Multithreading Model</a:t>
            </a:r>
          </a:p>
        </p:txBody>
      </p:sp>
      <p:sp>
        <p:nvSpPr>
          <p:cNvPr id="3" name="Content Placeholder 2">
            <a:extLst>
              <a:ext uri="{FF2B5EF4-FFF2-40B4-BE49-F238E27FC236}">
                <a16:creationId xmlns:a16="http://schemas.microsoft.com/office/drawing/2014/main" id="{CFAD5C89-C363-473E-B657-541FE4B73463}"/>
              </a:ext>
            </a:extLst>
          </p:cNvPr>
          <p:cNvSpPr>
            <a:spLocks noGrp="1"/>
          </p:cNvSpPr>
          <p:nvPr>
            <p:ph idx="1"/>
          </p:nvPr>
        </p:nvSpPr>
        <p:spPr>
          <a:xfrm>
            <a:off x="2592925" y="1540189"/>
            <a:ext cx="8915400" cy="3777622"/>
          </a:xfrm>
        </p:spPr>
        <p:txBody>
          <a:bodyPr/>
          <a:lstStyle/>
          <a:p>
            <a:r>
              <a:rPr lang="en-US" sz="2400" dirty="0">
                <a:latin typeface="Times New Roman" panose="02020603050405020304" pitchFamily="18" charset="0"/>
                <a:cs typeface="Times New Roman" panose="02020603050405020304" pitchFamily="18" charset="0"/>
              </a:rPr>
              <a:t>One-to-One Model</a:t>
            </a:r>
          </a:p>
          <a:p>
            <a:r>
              <a:rPr lang="en-US" sz="2400" dirty="0">
                <a:latin typeface="Times New Roman" panose="02020603050405020304" pitchFamily="18" charset="0"/>
                <a:cs typeface="Times New Roman" panose="02020603050405020304" pitchFamily="18" charset="0"/>
              </a:rPr>
              <a:t>Many-to-One Model</a:t>
            </a:r>
          </a:p>
          <a:p>
            <a:r>
              <a:rPr lang="en-US" sz="2400" dirty="0">
                <a:latin typeface="Times New Roman" panose="02020603050405020304" pitchFamily="18" charset="0"/>
                <a:cs typeface="Times New Roman" panose="02020603050405020304" pitchFamily="18" charset="0"/>
              </a:rPr>
              <a:t>Many-to-Many Model</a:t>
            </a:r>
          </a:p>
          <a:p>
            <a:endParaRPr lang="en-US" dirty="0"/>
          </a:p>
        </p:txBody>
      </p:sp>
      <p:sp>
        <p:nvSpPr>
          <p:cNvPr id="4" name="Footer Placeholder 3">
            <a:extLst>
              <a:ext uri="{FF2B5EF4-FFF2-40B4-BE49-F238E27FC236}">
                <a16:creationId xmlns:a16="http://schemas.microsoft.com/office/drawing/2014/main" id="{1D31A1CA-5ECA-DCBF-943C-572D24F41DB6}"/>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283303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0781C-5C4E-4DAA-88F7-63385F0A959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One-to-One Model</a:t>
            </a:r>
          </a:p>
        </p:txBody>
      </p:sp>
      <p:sp>
        <p:nvSpPr>
          <p:cNvPr id="3" name="Content Placeholder 2">
            <a:extLst>
              <a:ext uri="{FF2B5EF4-FFF2-40B4-BE49-F238E27FC236}">
                <a16:creationId xmlns:a16="http://schemas.microsoft.com/office/drawing/2014/main" id="{96AEF25A-217F-4FEC-A93C-1024C574D10F}"/>
              </a:ext>
            </a:extLst>
          </p:cNvPr>
          <p:cNvSpPr>
            <a:spLocks noGrp="1"/>
          </p:cNvSpPr>
          <p:nvPr>
            <p:ph idx="1"/>
          </p:nvPr>
        </p:nvSpPr>
        <p:spPr>
          <a:xfrm>
            <a:off x="2316257" y="1264555"/>
            <a:ext cx="8915400" cy="3777622"/>
          </a:xfrm>
        </p:spPr>
        <p:txBody>
          <a:bodyPr>
            <a:normAutofit/>
          </a:bodyPr>
          <a:lstStyle/>
          <a:p>
            <a:r>
              <a:rPr lang="en-US" altLang="en-US" sz="2400" dirty="0">
                <a:latin typeface="Times New Roman" panose="02020603050405020304" pitchFamily="18" charset="0"/>
                <a:cs typeface="Times New Roman" panose="02020603050405020304" pitchFamily="18" charset="0"/>
              </a:rPr>
              <a:t>Each user-level thread maps to kernel thread</a:t>
            </a:r>
          </a:p>
          <a:p>
            <a:r>
              <a:rPr lang="en-US" altLang="en-US" sz="2400" dirty="0">
                <a:latin typeface="Times New Roman" panose="02020603050405020304" pitchFamily="18" charset="0"/>
                <a:cs typeface="Times New Roman" panose="02020603050405020304" pitchFamily="18" charset="0"/>
              </a:rPr>
              <a:t>Creating a user-level thread creates a kernel thread</a:t>
            </a:r>
          </a:p>
          <a:p>
            <a:r>
              <a:rPr lang="en-US" altLang="en-US" sz="2400" dirty="0">
                <a:latin typeface="Times New Roman" panose="02020603050405020304" pitchFamily="18" charset="0"/>
                <a:cs typeface="Times New Roman" panose="02020603050405020304" pitchFamily="18" charset="0"/>
              </a:rPr>
              <a:t>More concurrency than many-to-one</a:t>
            </a:r>
          </a:p>
          <a:p>
            <a:r>
              <a:rPr lang="en-US" altLang="en-US" sz="2400" dirty="0">
                <a:latin typeface="Times New Roman" panose="02020603050405020304" pitchFamily="18" charset="0"/>
                <a:cs typeface="Times New Roman" panose="02020603050405020304" pitchFamily="18" charset="0"/>
              </a:rPr>
              <a:t>Number of threads per process sometimes restricted due to overhead</a:t>
            </a:r>
          </a:p>
          <a:p>
            <a:r>
              <a:rPr lang="en-US" altLang="en-US" sz="2400" dirty="0">
                <a:latin typeface="Times New Roman" panose="02020603050405020304" pitchFamily="18" charset="0"/>
                <a:cs typeface="Times New Roman" panose="02020603050405020304" pitchFamily="18" charset="0"/>
              </a:rPr>
              <a:t>Examples</a:t>
            </a:r>
          </a:p>
          <a:p>
            <a:pPr lvl="1">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Windows</a:t>
            </a:r>
          </a:p>
          <a:p>
            <a:pPr lvl="1">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Linux</a:t>
            </a:r>
          </a:p>
          <a:p>
            <a:pPr lvl="1">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Solaris 9 and later</a:t>
            </a:r>
            <a:endParaRPr lang="en-US" sz="2000" dirty="0">
              <a:latin typeface="Times New Roman" panose="02020603050405020304" pitchFamily="18" charset="0"/>
              <a:cs typeface="Times New Roman" panose="02020603050405020304" pitchFamily="18" charset="0"/>
            </a:endParaRPr>
          </a:p>
        </p:txBody>
      </p:sp>
      <p:pic>
        <p:nvPicPr>
          <p:cNvPr id="4" name="Picture 1" descr="4_06.pdf">
            <a:extLst>
              <a:ext uri="{FF2B5EF4-FFF2-40B4-BE49-F238E27FC236}">
                <a16:creationId xmlns:a16="http://schemas.microsoft.com/office/drawing/2014/main" id="{9E507202-F3FF-4A65-9122-0EDD9FD6577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80228" y="3428999"/>
            <a:ext cx="6318974" cy="2698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a:extLst>
              <a:ext uri="{FF2B5EF4-FFF2-40B4-BE49-F238E27FC236}">
                <a16:creationId xmlns:a16="http://schemas.microsoft.com/office/drawing/2014/main" id="{398600E0-A9BB-293E-5D86-2771E02A8A12}"/>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195585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1CCFE-D7A1-4C2A-9995-CF3E9E9333B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Many-to-One Model</a:t>
            </a:r>
          </a:p>
        </p:txBody>
      </p:sp>
      <p:sp>
        <p:nvSpPr>
          <p:cNvPr id="3" name="Content Placeholder 2">
            <a:extLst>
              <a:ext uri="{FF2B5EF4-FFF2-40B4-BE49-F238E27FC236}">
                <a16:creationId xmlns:a16="http://schemas.microsoft.com/office/drawing/2014/main" id="{AD5A8444-2243-4C29-A991-446466D5E69D}"/>
              </a:ext>
            </a:extLst>
          </p:cNvPr>
          <p:cNvSpPr>
            <a:spLocks noGrp="1"/>
          </p:cNvSpPr>
          <p:nvPr>
            <p:ph idx="1"/>
          </p:nvPr>
        </p:nvSpPr>
        <p:spPr>
          <a:xfrm>
            <a:off x="2589212" y="1376416"/>
            <a:ext cx="8915400" cy="3777622"/>
          </a:xfrm>
        </p:spPr>
        <p:txBody>
          <a:bodyPr>
            <a:normAutofit/>
          </a:bodyPr>
          <a:lstStyle/>
          <a:p>
            <a:r>
              <a:rPr lang="en-US" altLang="en-US" sz="2400" dirty="0">
                <a:latin typeface="Times New Roman" panose="02020603050405020304" pitchFamily="18" charset="0"/>
                <a:cs typeface="Times New Roman" panose="02020603050405020304" pitchFamily="18" charset="0"/>
              </a:rPr>
              <a:t>Many user-level threads mapped to single kernel thread</a:t>
            </a:r>
          </a:p>
          <a:p>
            <a:r>
              <a:rPr lang="en-US" altLang="en-US" sz="2400" dirty="0">
                <a:latin typeface="Times New Roman" panose="02020603050405020304" pitchFamily="18" charset="0"/>
                <a:cs typeface="Times New Roman" panose="02020603050405020304" pitchFamily="18" charset="0"/>
              </a:rPr>
              <a:t>One thread blocking causes all to block</a:t>
            </a:r>
          </a:p>
          <a:p>
            <a:r>
              <a:rPr lang="en-US" altLang="en-US" sz="2400" dirty="0">
                <a:latin typeface="Times New Roman" panose="02020603050405020304" pitchFamily="18" charset="0"/>
                <a:cs typeface="Times New Roman" panose="02020603050405020304" pitchFamily="18" charset="0"/>
              </a:rPr>
              <a:t>Multiple threads may not run in parallel on multicores system because only one may be in kernel at a time</a:t>
            </a:r>
          </a:p>
          <a:p>
            <a:r>
              <a:rPr lang="en-US" altLang="en-US" sz="2400" dirty="0">
                <a:latin typeface="Times New Roman" panose="02020603050405020304" pitchFamily="18" charset="0"/>
                <a:cs typeface="Times New Roman" panose="02020603050405020304" pitchFamily="18" charset="0"/>
              </a:rPr>
              <a:t>Few systems currently use this model</a:t>
            </a:r>
          </a:p>
          <a:p>
            <a:r>
              <a:rPr lang="en-US" altLang="en-US" sz="2400" dirty="0">
                <a:latin typeface="Times New Roman" panose="02020603050405020304" pitchFamily="18" charset="0"/>
                <a:cs typeface="Times New Roman" panose="02020603050405020304" pitchFamily="18" charset="0"/>
              </a:rPr>
              <a:t>Examples:</a:t>
            </a:r>
          </a:p>
          <a:p>
            <a:pPr lvl="1"/>
            <a:r>
              <a:rPr lang="en-US" altLang="en-US" sz="2000" b="1" dirty="0">
                <a:solidFill>
                  <a:srgbClr val="3366FF"/>
                </a:solidFill>
                <a:latin typeface="Times New Roman" panose="02020603050405020304" pitchFamily="18" charset="0"/>
                <a:cs typeface="Times New Roman" panose="02020603050405020304" pitchFamily="18" charset="0"/>
              </a:rPr>
              <a:t>Solaris Green Threads</a:t>
            </a:r>
          </a:p>
          <a:p>
            <a:pPr lvl="1"/>
            <a:r>
              <a:rPr lang="en-US" altLang="en-US" sz="2000" b="1" dirty="0">
                <a:solidFill>
                  <a:srgbClr val="3366FF"/>
                </a:solidFill>
                <a:latin typeface="Times New Roman" panose="02020603050405020304" pitchFamily="18" charset="0"/>
                <a:cs typeface="Times New Roman" panose="02020603050405020304" pitchFamily="18" charset="0"/>
              </a:rPr>
              <a:t>GNU Portable Threads</a:t>
            </a:r>
            <a:endParaRPr lang="en-US" sz="2800" dirty="0">
              <a:latin typeface="Times New Roman" panose="02020603050405020304" pitchFamily="18" charset="0"/>
              <a:cs typeface="Times New Roman" panose="02020603050405020304" pitchFamily="18" charset="0"/>
            </a:endParaRPr>
          </a:p>
        </p:txBody>
      </p:sp>
      <p:pic>
        <p:nvPicPr>
          <p:cNvPr id="4" name="Picture 1" descr="4_05.pdf">
            <a:extLst>
              <a:ext uri="{FF2B5EF4-FFF2-40B4-BE49-F238E27FC236}">
                <a16:creationId xmlns:a16="http://schemas.microsoft.com/office/drawing/2014/main" id="{B3572284-D4DF-47C4-A590-5220B37E8F9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630882" y="2850405"/>
            <a:ext cx="3391028" cy="3777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a:extLst>
              <a:ext uri="{FF2B5EF4-FFF2-40B4-BE49-F238E27FC236}">
                <a16:creationId xmlns:a16="http://schemas.microsoft.com/office/drawing/2014/main" id="{3BC878B7-8EDC-396D-E8F5-023C4F16B21D}"/>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0425718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554A-7F57-4BF3-AED3-6BCA97622AD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Many-to-Many Model</a:t>
            </a:r>
          </a:p>
        </p:txBody>
      </p:sp>
      <p:sp>
        <p:nvSpPr>
          <p:cNvPr id="3" name="Content Placeholder 2">
            <a:extLst>
              <a:ext uri="{FF2B5EF4-FFF2-40B4-BE49-F238E27FC236}">
                <a16:creationId xmlns:a16="http://schemas.microsoft.com/office/drawing/2014/main" id="{7AE37E30-F2E2-4CD3-8492-E01B991EC5AB}"/>
              </a:ext>
            </a:extLst>
          </p:cNvPr>
          <p:cNvSpPr>
            <a:spLocks noGrp="1"/>
          </p:cNvSpPr>
          <p:nvPr>
            <p:ph idx="1"/>
          </p:nvPr>
        </p:nvSpPr>
        <p:spPr>
          <a:xfrm>
            <a:off x="2589212" y="1410269"/>
            <a:ext cx="8915400" cy="3777622"/>
          </a:xfrm>
        </p:spPr>
        <p:txBody>
          <a:bodyPr/>
          <a:lstStyle/>
          <a:p>
            <a:r>
              <a:rPr lang="en-US" altLang="en-US" sz="2000" dirty="0">
                <a:latin typeface="Times New Roman" panose="02020603050405020304" pitchFamily="18" charset="0"/>
                <a:cs typeface="Times New Roman" panose="02020603050405020304" pitchFamily="18" charset="0"/>
              </a:rPr>
              <a:t>Allows many user level threads to be mapped to many kernel threads</a:t>
            </a:r>
          </a:p>
          <a:p>
            <a:r>
              <a:rPr lang="en-US" altLang="en-US" sz="2000" dirty="0">
                <a:latin typeface="Times New Roman" panose="02020603050405020304" pitchFamily="18" charset="0"/>
                <a:cs typeface="Times New Roman" panose="02020603050405020304" pitchFamily="18" charset="0"/>
              </a:rPr>
              <a:t>Allows the  operating system to create a sufficient number of kernel threads</a:t>
            </a:r>
          </a:p>
          <a:p>
            <a:r>
              <a:rPr lang="en-US" altLang="en-US" sz="2000" dirty="0">
                <a:latin typeface="Times New Roman" panose="02020603050405020304" pitchFamily="18" charset="0"/>
                <a:cs typeface="Times New Roman" panose="02020603050405020304" pitchFamily="18" charset="0"/>
              </a:rPr>
              <a:t>Solaris prior to version 9</a:t>
            </a:r>
          </a:p>
          <a:p>
            <a:r>
              <a:rPr lang="en-US" altLang="en-US" sz="2000" dirty="0">
                <a:latin typeface="Times New Roman" panose="02020603050405020304" pitchFamily="18" charset="0"/>
                <a:cs typeface="Times New Roman" panose="02020603050405020304" pitchFamily="18" charset="0"/>
              </a:rPr>
              <a:t>Windows  with the </a:t>
            </a:r>
            <a:r>
              <a:rPr lang="en-US" altLang="en-US" sz="2000" i="1" dirty="0">
                <a:latin typeface="Times New Roman" panose="02020603050405020304" pitchFamily="18" charset="0"/>
                <a:cs typeface="Times New Roman" panose="02020603050405020304" pitchFamily="18" charset="0"/>
              </a:rPr>
              <a:t>Thread Fiber</a:t>
            </a:r>
            <a:r>
              <a:rPr lang="en-US" altLang="en-US" sz="2000" dirty="0">
                <a:latin typeface="Times New Roman" panose="02020603050405020304" pitchFamily="18" charset="0"/>
                <a:cs typeface="Times New Roman" panose="02020603050405020304" pitchFamily="18" charset="0"/>
              </a:rPr>
              <a:t> package</a:t>
            </a:r>
          </a:p>
          <a:p>
            <a:endParaRPr lang="en-US" dirty="0">
              <a:latin typeface="Times New Roman" panose="02020603050405020304" pitchFamily="18" charset="0"/>
              <a:cs typeface="Times New Roman" panose="02020603050405020304" pitchFamily="18" charset="0"/>
            </a:endParaRPr>
          </a:p>
        </p:txBody>
      </p:sp>
      <p:pic>
        <p:nvPicPr>
          <p:cNvPr id="4" name="Picture 1" descr="4_07.pdf">
            <a:extLst>
              <a:ext uri="{FF2B5EF4-FFF2-40B4-BE49-F238E27FC236}">
                <a16:creationId xmlns:a16="http://schemas.microsoft.com/office/drawing/2014/main" id="{F721EC62-C08C-4A70-822F-2ED543557AF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23979" y="2691159"/>
            <a:ext cx="4080633" cy="3918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a:extLst>
              <a:ext uri="{FF2B5EF4-FFF2-40B4-BE49-F238E27FC236}">
                <a16:creationId xmlns:a16="http://schemas.microsoft.com/office/drawing/2014/main" id="{AC972F1C-AB42-DBA1-0857-1DBF238AC7C9}"/>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4190124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FD2C8-2F80-49E6-94C4-2FD24054F676}"/>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Inter-Process Communication</a:t>
            </a:r>
          </a:p>
        </p:txBody>
      </p:sp>
      <p:sp>
        <p:nvSpPr>
          <p:cNvPr id="3" name="Content Placeholder 2">
            <a:extLst>
              <a:ext uri="{FF2B5EF4-FFF2-40B4-BE49-F238E27FC236}">
                <a16:creationId xmlns:a16="http://schemas.microsoft.com/office/drawing/2014/main" id="{F56BBD64-6E18-47FB-A3AC-2FF718E0F0F0}"/>
              </a:ext>
            </a:extLst>
          </p:cNvPr>
          <p:cNvSpPr>
            <a:spLocks noGrp="1"/>
          </p:cNvSpPr>
          <p:nvPr>
            <p:ph idx="1"/>
          </p:nvPr>
        </p:nvSpPr>
        <p:spPr>
          <a:xfrm>
            <a:off x="2589212" y="1540188"/>
            <a:ext cx="8915400" cy="5215454"/>
          </a:xfrm>
        </p:spPr>
        <p:txBody>
          <a:bodyPr>
            <a:normAutofit fontScale="77500" lnSpcReduction="20000"/>
          </a:bodyPr>
          <a:lstStyle/>
          <a:p>
            <a:r>
              <a:rPr lang="en-US" sz="3100" dirty="0">
                <a:solidFill>
                  <a:schemeClr val="tx1"/>
                </a:solidFill>
                <a:latin typeface="Times New Roman" panose="02020603050405020304" pitchFamily="18" charset="0"/>
                <a:cs typeface="Times New Roman" panose="02020603050405020304" pitchFamily="18" charset="0"/>
              </a:rPr>
              <a:t>A mechanism which allows process to communicate with each other and synchronize their actions.</a:t>
            </a:r>
          </a:p>
          <a:p>
            <a:r>
              <a:rPr lang="en-US" altLang="en-US" sz="3100" dirty="0">
                <a:solidFill>
                  <a:schemeClr val="tx1"/>
                </a:solidFill>
                <a:latin typeface="Times New Roman" panose="02020603050405020304" pitchFamily="18" charset="0"/>
                <a:cs typeface="Times New Roman" panose="02020603050405020304" pitchFamily="18" charset="0"/>
              </a:rPr>
              <a:t>Processes within a system may be </a:t>
            </a:r>
            <a:r>
              <a:rPr lang="en-US" altLang="en-US" sz="3100" b="1" i="1" dirty="0">
                <a:solidFill>
                  <a:schemeClr val="tx1"/>
                </a:solidFill>
                <a:latin typeface="Times New Roman" panose="02020603050405020304" pitchFamily="18" charset="0"/>
                <a:cs typeface="Times New Roman" panose="02020603050405020304" pitchFamily="18" charset="0"/>
              </a:rPr>
              <a:t>independent</a:t>
            </a:r>
            <a:r>
              <a:rPr lang="en-US" altLang="en-US" sz="3100" b="1" dirty="0">
                <a:solidFill>
                  <a:schemeClr val="tx1"/>
                </a:solidFill>
                <a:latin typeface="Times New Roman" panose="02020603050405020304" pitchFamily="18" charset="0"/>
                <a:cs typeface="Times New Roman" panose="02020603050405020304" pitchFamily="18" charset="0"/>
              </a:rPr>
              <a:t> </a:t>
            </a:r>
            <a:r>
              <a:rPr lang="en-US" altLang="en-US" sz="3100" dirty="0">
                <a:solidFill>
                  <a:schemeClr val="tx1"/>
                </a:solidFill>
                <a:latin typeface="Times New Roman" panose="02020603050405020304" pitchFamily="18" charset="0"/>
                <a:cs typeface="Times New Roman" panose="02020603050405020304" pitchFamily="18" charset="0"/>
              </a:rPr>
              <a:t>or </a:t>
            </a:r>
            <a:r>
              <a:rPr lang="en-US" altLang="en-US" sz="3100" b="1" i="1" dirty="0">
                <a:solidFill>
                  <a:schemeClr val="tx1"/>
                </a:solidFill>
                <a:latin typeface="Times New Roman" panose="02020603050405020304" pitchFamily="18" charset="0"/>
                <a:cs typeface="Times New Roman" panose="02020603050405020304" pitchFamily="18" charset="0"/>
              </a:rPr>
              <a:t>cooperating</a:t>
            </a:r>
          </a:p>
          <a:p>
            <a:r>
              <a:rPr lang="en-US" altLang="en-US" sz="3100" dirty="0">
                <a:solidFill>
                  <a:schemeClr val="tx1"/>
                </a:solidFill>
                <a:latin typeface="Times New Roman" panose="02020603050405020304" pitchFamily="18" charset="0"/>
                <a:cs typeface="Times New Roman" panose="02020603050405020304" pitchFamily="18" charset="0"/>
              </a:rPr>
              <a:t>Cooperating process can affect or be affected by other processes, including sharing data</a:t>
            </a:r>
          </a:p>
          <a:p>
            <a:r>
              <a:rPr lang="en-US" altLang="en-US" sz="3100" dirty="0">
                <a:solidFill>
                  <a:schemeClr val="tx1"/>
                </a:solidFill>
                <a:latin typeface="Times New Roman" panose="02020603050405020304" pitchFamily="18" charset="0"/>
                <a:cs typeface="Times New Roman" panose="02020603050405020304" pitchFamily="18" charset="0"/>
              </a:rPr>
              <a:t>Reasons for cooperating processes:</a:t>
            </a:r>
          </a:p>
          <a:p>
            <a:pPr lvl="1">
              <a:buFont typeface="Wingdings" panose="05000000000000000000" pitchFamily="2" charset="2"/>
              <a:buChar char="Ø"/>
            </a:pPr>
            <a:r>
              <a:rPr lang="en-US" altLang="en-US" sz="3100" dirty="0">
                <a:solidFill>
                  <a:schemeClr val="tx1"/>
                </a:solidFill>
                <a:latin typeface="Times New Roman" panose="02020603050405020304" pitchFamily="18" charset="0"/>
                <a:cs typeface="Times New Roman" panose="02020603050405020304" pitchFamily="18" charset="0"/>
              </a:rPr>
              <a:t>Information sharing</a:t>
            </a:r>
          </a:p>
          <a:p>
            <a:pPr lvl="1">
              <a:buFont typeface="Wingdings" panose="05000000000000000000" pitchFamily="2" charset="2"/>
              <a:buChar char="Ø"/>
            </a:pPr>
            <a:r>
              <a:rPr lang="en-US" altLang="en-US" sz="3100" dirty="0">
                <a:solidFill>
                  <a:schemeClr val="tx1"/>
                </a:solidFill>
                <a:latin typeface="Times New Roman" panose="02020603050405020304" pitchFamily="18" charset="0"/>
                <a:cs typeface="Times New Roman" panose="02020603050405020304" pitchFamily="18" charset="0"/>
              </a:rPr>
              <a:t>Computation speedup</a:t>
            </a:r>
          </a:p>
          <a:p>
            <a:pPr lvl="1">
              <a:buFont typeface="Wingdings" panose="05000000000000000000" pitchFamily="2" charset="2"/>
              <a:buChar char="Ø"/>
            </a:pPr>
            <a:r>
              <a:rPr lang="en-US" altLang="en-US" sz="3100" dirty="0">
                <a:solidFill>
                  <a:schemeClr val="tx1"/>
                </a:solidFill>
                <a:latin typeface="Times New Roman" panose="02020603050405020304" pitchFamily="18" charset="0"/>
                <a:cs typeface="Times New Roman" panose="02020603050405020304" pitchFamily="18" charset="0"/>
              </a:rPr>
              <a:t>Modularity</a:t>
            </a:r>
          </a:p>
          <a:p>
            <a:pPr lvl="1">
              <a:buFont typeface="Wingdings" panose="05000000000000000000" pitchFamily="2" charset="2"/>
              <a:buChar char="Ø"/>
            </a:pPr>
            <a:r>
              <a:rPr lang="en-US" altLang="en-US" sz="3100" dirty="0">
                <a:solidFill>
                  <a:schemeClr val="tx1"/>
                </a:solidFill>
                <a:latin typeface="Times New Roman" panose="02020603050405020304" pitchFamily="18" charset="0"/>
                <a:cs typeface="Times New Roman" panose="02020603050405020304" pitchFamily="18" charset="0"/>
              </a:rPr>
              <a:t>Convenience</a:t>
            </a:r>
            <a:endParaRPr lang="en-US" altLang="en-US" sz="2100" dirty="0">
              <a:solidFill>
                <a:schemeClr val="tx1"/>
              </a:solidFill>
              <a:latin typeface="Times New Roman" panose="02020603050405020304" pitchFamily="18" charset="0"/>
              <a:cs typeface="Times New Roman" panose="02020603050405020304" pitchFamily="18" charset="0"/>
            </a:endParaRPr>
          </a:p>
          <a:p>
            <a:r>
              <a:rPr lang="en-US" altLang="en-US" sz="3100" dirty="0">
                <a:solidFill>
                  <a:schemeClr val="tx1"/>
                </a:solidFill>
                <a:latin typeface="Times New Roman" panose="02020603050405020304" pitchFamily="18" charset="0"/>
                <a:cs typeface="Times New Roman" panose="02020603050405020304" pitchFamily="18" charset="0"/>
              </a:rPr>
              <a:t>Two models of IPC</a:t>
            </a:r>
          </a:p>
          <a:p>
            <a:pPr lvl="1">
              <a:buFont typeface="Wingdings" panose="05000000000000000000" pitchFamily="2" charset="2"/>
              <a:buChar char="Ø"/>
            </a:pPr>
            <a:r>
              <a:rPr lang="en-US" altLang="en-US" sz="3100" dirty="0">
                <a:solidFill>
                  <a:schemeClr val="tx1"/>
                </a:solidFill>
                <a:latin typeface="Times New Roman" panose="02020603050405020304" pitchFamily="18" charset="0"/>
                <a:cs typeface="Times New Roman" panose="02020603050405020304" pitchFamily="18" charset="0"/>
              </a:rPr>
              <a:t>Shared memory</a:t>
            </a:r>
          </a:p>
          <a:p>
            <a:pPr lvl="1">
              <a:buFont typeface="Wingdings" panose="05000000000000000000" pitchFamily="2" charset="2"/>
              <a:buChar char="Ø"/>
            </a:pPr>
            <a:r>
              <a:rPr lang="en-US" altLang="en-US" sz="3100" dirty="0">
                <a:solidFill>
                  <a:schemeClr val="tx1"/>
                </a:solidFill>
                <a:latin typeface="Times New Roman" panose="02020603050405020304" pitchFamily="18" charset="0"/>
                <a:cs typeface="Times New Roman" panose="02020603050405020304" pitchFamily="18" charset="0"/>
              </a:rPr>
              <a:t>Message passing</a:t>
            </a:r>
          </a:p>
          <a:p>
            <a:endParaRPr lang="en-US" dirty="0"/>
          </a:p>
        </p:txBody>
      </p:sp>
      <p:sp>
        <p:nvSpPr>
          <p:cNvPr id="4" name="Footer Placeholder 3">
            <a:extLst>
              <a:ext uri="{FF2B5EF4-FFF2-40B4-BE49-F238E27FC236}">
                <a16:creationId xmlns:a16="http://schemas.microsoft.com/office/drawing/2014/main" id="{818BD081-DD89-24BC-8A70-AB8F1B1283D8}"/>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1423258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A8DE6-1EF3-40AD-9373-379C4DCB0AD6}"/>
              </a:ext>
            </a:extLst>
          </p:cNvPr>
          <p:cNvSpPr>
            <a:spLocks noGrp="1"/>
          </p:cNvSpPr>
          <p:nvPr>
            <p:ph type="title"/>
          </p:nvPr>
        </p:nvSpPr>
        <p:spPr>
          <a:xfrm>
            <a:off x="2906974" y="518615"/>
            <a:ext cx="8911687" cy="1269242"/>
          </a:xfrm>
        </p:spPr>
        <p:txBody>
          <a:bodyPr>
            <a:normAutofit/>
          </a:bodyPr>
          <a:lstStyle/>
          <a:p>
            <a:r>
              <a:rPr lang="en-US" b="1" dirty="0">
                <a:solidFill>
                  <a:schemeClr val="tx1"/>
                </a:solidFill>
                <a:latin typeface="Times New Roman" panose="02020603050405020304" pitchFamily="18" charset="0"/>
                <a:cs typeface="Times New Roman" panose="02020603050405020304" pitchFamily="18" charset="0"/>
              </a:rPr>
              <a:t>IPC (contd.)</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a. Message Passing						b. Shared Memory</a:t>
            </a:r>
            <a:endParaRPr lang="en-US" dirty="0">
              <a:solidFill>
                <a:schemeClr val="tx1"/>
              </a:solidFill>
              <a:latin typeface="Times New Roman" panose="02020603050405020304" pitchFamily="18" charset="0"/>
              <a:cs typeface="Times New Roman" panose="02020603050405020304" pitchFamily="18" charset="0"/>
            </a:endParaRPr>
          </a:p>
        </p:txBody>
      </p:sp>
      <p:pic>
        <p:nvPicPr>
          <p:cNvPr id="4" name="Picture 1" descr="3_12.pdf">
            <a:extLst>
              <a:ext uri="{FF2B5EF4-FFF2-40B4-BE49-F238E27FC236}">
                <a16:creationId xmlns:a16="http://schemas.microsoft.com/office/drawing/2014/main" id="{58118B29-F30D-465F-8588-E670098C440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06974" y="1976651"/>
            <a:ext cx="7513212" cy="471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a:extLst>
              <a:ext uri="{FF2B5EF4-FFF2-40B4-BE49-F238E27FC236}">
                <a16:creationId xmlns:a16="http://schemas.microsoft.com/office/drawing/2014/main" id="{FFD828C8-51C2-8E53-0771-1A63B9A7930A}"/>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22238754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FC598-E464-4654-87E3-1D8E0BA1C8D8}"/>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Independent-Cooperating Process</a:t>
            </a:r>
          </a:p>
        </p:txBody>
      </p:sp>
      <p:sp>
        <p:nvSpPr>
          <p:cNvPr id="3" name="Content Placeholder 2">
            <a:extLst>
              <a:ext uri="{FF2B5EF4-FFF2-40B4-BE49-F238E27FC236}">
                <a16:creationId xmlns:a16="http://schemas.microsoft.com/office/drawing/2014/main" id="{0289B8B3-07E2-47B4-9D73-033DE7A0F2B5}"/>
              </a:ext>
            </a:extLst>
          </p:cNvPr>
          <p:cNvSpPr>
            <a:spLocks noGrp="1"/>
          </p:cNvSpPr>
          <p:nvPr>
            <p:ph idx="1"/>
          </p:nvPr>
        </p:nvSpPr>
        <p:spPr>
          <a:xfrm>
            <a:off x="2592925" y="1540189"/>
            <a:ext cx="8915400" cy="4819668"/>
          </a:xfrm>
        </p:spPr>
        <p:txBody>
          <a:bodyPr>
            <a:normAutofit/>
          </a:bodyPr>
          <a:lstStyle/>
          <a:p>
            <a:r>
              <a:rPr lang="en-US" altLang="en-US" sz="2400" b="1" i="1" dirty="0">
                <a:solidFill>
                  <a:schemeClr val="tx1"/>
                </a:solidFill>
                <a:latin typeface="Times New Roman" panose="02020603050405020304" pitchFamily="18" charset="0"/>
                <a:cs typeface="Times New Roman" panose="02020603050405020304" pitchFamily="18" charset="0"/>
              </a:rPr>
              <a:t>Independent</a:t>
            </a:r>
            <a:r>
              <a:rPr lang="en-US" altLang="en-US" sz="2400" dirty="0">
                <a:solidFill>
                  <a:schemeClr val="tx1"/>
                </a:solidFill>
                <a:latin typeface="Times New Roman" panose="02020603050405020304" pitchFamily="18" charset="0"/>
                <a:cs typeface="Times New Roman" panose="02020603050405020304" pitchFamily="18" charset="0"/>
              </a:rPr>
              <a:t> process cannot affect or be affected by the execution of another process</a:t>
            </a:r>
          </a:p>
          <a:p>
            <a:r>
              <a:rPr lang="en-US" altLang="en-US" sz="2400" b="1" i="1" dirty="0">
                <a:solidFill>
                  <a:schemeClr val="tx1"/>
                </a:solidFill>
                <a:latin typeface="Times New Roman" panose="02020603050405020304" pitchFamily="18" charset="0"/>
                <a:cs typeface="Times New Roman" panose="02020603050405020304" pitchFamily="18" charset="0"/>
              </a:rPr>
              <a:t>Cooperating</a:t>
            </a:r>
            <a:r>
              <a:rPr lang="en-US" altLang="en-US" sz="2400" dirty="0">
                <a:solidFill>
                  <a:schemeClr val="tx1"/>
                </a:solidFill>
                <a:latin typeface="Times New Roman" panose="02020603050405020304" pitchFamily="18" charset="0"/>
                <a:cs typeface="Times New Roman" panose="02020603050405020304" pitchFamily="18" charset="0"/>
              </a:rPr>
              <a:t> process can affect or be affected by the execution of another process</a:t>
            </a:r>
          </a:p>
          <a:p>
            <a:r>
              <a:rPr lang="en-US" altLang="en-US" sz="2400" dirty="0">
                <a:solidFill>
                  <a:schemeClr val="tx1"/>
                </a:solidFill>
                <a:latin typeface="Times New Roman" panose="02020603050405020304" pitchFamily="18" charset="0"/>
                <a:cs typeface="Times New Roman" panose="02020603050405020304" pitchFamily="18" charset="0"/>
              </a:rPr>
              <a:t>Advantages of process cooperation</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Information sharing </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Computation speed-up</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Modularity</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Convenience</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B94ECBD-927B-7345-5F4F-E818E0CBB6A5}"/>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5786557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A5481-DE80-4168-BEA2-9A2006A2D1A5}"/>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IPC-Shared Memory</a:t>
            </a:r>
          </a:p>
        </p:txBody>
      </p:sp>
      <p:sp>
        <p:nvSpPr>
          <p:cNvPr id="3" name="Content Placeholder 2">
            <a:extLst>
              <a:ext uri="{FF2B5EF4-FFF2-40B4-BE49-F238E27FC236}">
                <a16:creationId xmlns:a16="http://schemas.microsoft.com/office/drawing/2014/main" id="{2D74A06B-F72F-44B9-8954-2013038E2E60}"/>
              </a:ext>
            </a:extLst>
          </p:cNvPr>
          <p:cNvSpPr>
            <a:spLocks noGrp="1"/>
          </p:cNvSpPr>
          <p:nvPr>
            <p:ph idx="1"/>
          </p:nvPr>
        </p:nvSpPr>
        <p:spPr>
          <a:xfrm>
            <a:off x="2447767" y="1744904"/>
            <a:ext cx="5995230" cy="3796087"/>
          </a:xfrm>
        </p:spPr>
        <p:txBody>
          <a:bodyPr>
            <a:normAutofit/>
          </a:bodyPr>
          <a:lstStyle/>
          <a:p>
            <a:pPr>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rPr>
              <a:t>An area of memory shared among the processes that wish to communicate</a:t>
            </a:r>
          </a:p>
          <a:p>
            <a:pPr>
              <a:lnSpc>
                <a:spcPct val="90000"/>
              </a:lnSpc>
            </a:pPr>
            <a:endParaRPr lang="en-US" altLang="en-US" sz="2000" dirty="0">
              <a:solidFill>
                <a:schemeClr val="tx1"/>
              </a:solidFill>
              <a:latin typeface="Times New Roman" panose="02020603050405020304" pitchFamily="18" charset="0"/>
              <a:cs typeface="Times New Roman" panose="02020603050405020304" pitchFamily="18" charset="0"/>
            </a:endParaRPr>
          </a:p>
          <a:p>
            <a:pPr>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rPr>
              <a:t>The communication is under the control of the users processes not the operating system.</a:t>
            </a:r>
          </a:p>
          <a:p>
            <a:pPr>
              <a:lnSpc>
                <a:spcPct val="90000"/>
              </a:lnSpc>
            </a:pPr>
            <a:endParaRPr lang="en-US" altLang="en-US" sz="2000" dirty="0">
              <a:solidFill>
                <a:schemeClr val="tx1"/>
              </a:solidFill>
              <a:latin typeface="Times New Roman" panose="02020603050405020304" pitchFamily="18" charset="0"/>
              <a:cs typeface="Times New Roman" panose="02020603050405020304" pitchFamily="18" charset="0"/>
            </a:endParaRPr>
          </a:p>
          <a:p>
            <a:pPr>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rPr>
              <a:t>Major issues is to provide mechanism that will allow the user processes to synchronize their actions when they access shared memory.</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4" name="Picture 1" descr="3_12.pdf">
            <a:extLst>
              <a:ext uri="{FF2B5EF4-FFF2-40B4-BE49-F238E27FC236}">
                <a16:creationId xmlns:a16="http://schemas.microsoft.com/office/drawing/2014/main" id="{F8B977D6-8EF5-4F8A-9E30-F99429C3AD1D}"/>
              </a:ext>
            </a:extLst>
          </p:cNvPr>
          <p:cNvPicPr>
            <a:picLocks noChangeAspect="1"/>
          </p:cNvPicPr>
          <p:nvPr/>
        </p:nvPicPr>
        <p:blipFill rotWithShape="1">
          <a:blip r:embed="rId2">
            <a:extLst>
              <a:ext uri="{28A0092B-C50C-407E-A947-70E740481C1C}">
                <a14:useLocalDpi xmlns:a14="http://schemas.microsoft.com/office/drawing/2010/main" val="0"/>
              </a:ext>
            </a:extLst>
          </a:blip>
          <a:srcRect l="50498" b="5590"/>
          <a:stretch/>
        </p:blipFill>
        <p:spPr bwMode="auto">
          <a:xfrm>
            <a:off x="8297838" y="1540188"/>
            <a:ext cx="3719135" cy="4451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a:extLst>
              <a:ext uri="{FF2B5EF4-FFF2-40B4-BE49-F238E27FC236}">
                <a16:creationId xmlns:a16="http://schemas.microsoft.com/office/drawing/2014/main" id="{835A8B22-F86B-0274-F92D-B17F5F0ED579}"/>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7841573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BF13D-5D54-45C1-95B2-01FD4C53B085}"/>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IPC-Message Passing</a:t>
            </a:r>
          </a:p>
        </p:txBody>
      </p:sp>
      <p:sp>
        <p:nvSpPr>
          <p:cNvPr id="3" name="Content Placeholder 2">
            <a:extLst>
              <a:ext uri="{FF2B5EF4-FFF2-40B4-BE49-F238E27FC236}">
                <a16:creationId xmlns:a16="http://schemas.microsoft.com/office/drawing/2014/main" id="{9EC097B0-CD90-413A-8261-2AFC77BC2DF0}"/>
              </a:ext>
            </a:extLst>
          </p:cNvPr>
          <p:cNvSpPr>
            <a:spLocks noGrp="1"/>
          </p:cNvSpPr>
          <p:nvPr>
            <p:ph idx="1"/>
          </p:nvPr>
        </p:nvSpPr>
        <p:spPr>
          <a:xfrm>
            <a:off x="2592925" y="1540188"/>
            <a:ext cx="5486550" cy="4860611"/>
          </a:xfrm>
        </p:spPr>
        <p:txBody>
          <a:bodyPr>
            <a:normAutofit/>
          </a:bodyPr>
          <a:lstStyle/>
          <a:p>
            <a:pPr>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rPr>
              <a:t>Mechanism for processes to communicate and to synchronize their actions</a:t>
            </a:r>
          </a:p>
          <a:p>
            <a:pPr>
              <a:lnSpc>
                <a:spcPct val="90000"/>
              </a:lnSpc>
            </a:pPr>
            <a:endParaRPr lang="en-US" altLang="en-US" sz="2000" dirty="0">
              <a:solidFill>
                <a:schemeClr val="tx1"/>
              </a:solidFill>
              <a:latin typeface="Times New Roman" panose="02020603050405020304" pitchFamily="18" charset="0"/>
              <a:cs typeface="Times New Roman" panose="02020603050405020304" pitchFamily="18" charset="0"/>
            </a:endParaRPr>
          </a:p>
          <a:p>
            <a:pPr>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rPr>
              <a:t>Message system – processes communicate with each other without resorting to shared variables</a:t>
            </a:r>
          </a:p>
          <a:p>
            <a:pPr>
              <a:lnSpc>
                <a:spcPct val="90000"/>
              </a:lnSpc>
            </a:pPr>
            <a:endParaRPr lang="en-US" altLang="en-US" sz="2000" dirty="0">
              <a:solidFill>
                <a:schemeClr val="tx1"/>
              </a:solidFill>
              <a:latin typeface="Times New Roman" panose="02020603050405020304" pitchFamily="18" charset="0"/>
              <a:cs typeface="Times New Roman" panose="02020603050405020304" pitchFamily="18" charset="0"/>
            </a:endParaRPr>
          </a:p>
          <a:p>
            <a:pPr>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rPr>
              <a:t>IPC facility provides two operations:</a:t>
            </a:r>
          </a:p>
          <a:p>
            <a:pPr lvl="1">
              <a:lnSpc>
                <a:spcPct val="90000"/>
              </a:lnSpc>
            </a:pPr>
            <a:r>
              <a:rPr lang="en-US" altLang="en-US" sz="2000" b="1" dirty="0">
                <a:solidFill>
                  <a:schemeClr val="tx1"/>
                </a:solidFill>
                <a:latin typeface="Times New Roman" panose="02020603050405020304" pitchFamily="18" charset="0"/>
                <a:cs typeface="Times New Roman" panose="02020603050405020304" pitchFamily="18" charset="0"/>
              </a:rPr>
              <a:t>send</a:t>
            </a:r>
            <a:r>
              <a:rPr lang="en-US" altLang="en-US" sz="2000" dirty="0">
                <a:solidFill>
                  <a:schemeClr val="tx1"/>
                </a:solidFill>
                <a:latin typeface="Times New Roman" panose="02020603050405020304" pitchFamily="18" charset="0"/>
                <a:cs typeface="Times New Roman" panose="02020603050405020304" pitchFamily="18" charset="0"/>
              </a:rPr>
              <a:t>(</a:t>
            </a:r>
            <a:r>
              <a:rPr lang="en-US" altLang="en-US" sz="2000" i="1" dirty="0">
                <a:solidFill>
                  <a:schemeClr val="tx1"/>
                </a:solidFill>
                <a:latin typeface="Times New Roman" panose="02020603050405020304" pitchFamily="18" charset="0"/>
                <a:cs typeface="Times New Roman" panose="02020603050405020304" pitchFamily="18" charset="0"/>
              </a:rPr>
              <a:t>message</a:t>
            </a:r>
            <a:r>
              <a:rPr lang="en-US" altLang="en-US" sz="2000" dirty="0">
                <a:solidFill>
                  <a:schemeClr val="tx1"/>
                </a:solidFill>
                <a:latin typeface="Times New Roman" panose="02020603050405020304" pitchFamily="18" charset="0"/>
                <a:cs typeface="Times New Roman" panose="02020603050405020304" pitchFamily="18" charset="0"/>
              </a:rPr>
              <a:t>)</a:t>
            </a:r>
          </a:p>
          <a:p>
            <a:pPr lvl="1">
              <a:lnSpc>
                <a:spcPct val="90000"/>
              </a:lnSpc>
            </a:pPr>
            <a:r>
              <a:rPr lang="en-US" altLang="en-US" sz="2000" b="1" dirty="0">
                <a:solidFill>
                  <a:schemeClr val="tx1"/>
                </a:solidFill>
                <a:latin typeface="Times New Roman" panose="02020603050405020304" pitchFamily="18" charset="0"/>
                <a:cs typeface="Times New Roman" panose="02020603050405020304" pitchFamily="18" charset="0"/>
              </a:rPr>
              <a:t>receive</a:t>
            </a:r>
            <a:r>
              <a:rPr lang="en-US" altLang="en-US" sz="2000" dirty="0">
                <a:solidFill>
                  <a:schemeClr val="tx1"/>
                </a:solidFill>
                <a:latin typeface="Times New Roman" panose="02020603050405020304" pitchFamily="18" charset="0"/>
                <a:cs typeface="Times New Roman" panose="02020603050405020304" pitchFamily="18" charset="0"/>
              </a:rPr>
              <a:t>(</a:t>
            </a:r>
            <a:r>
              <a:rPr lang="en-US" altLang="en-US" sz="2000" i="1" dirty="0">
                <a:solidFill>
                  <a:schemeClr val="tx1"/>
                </a:solidFill>
                <a:latin typeface="Times New Roman" panose="02020603050405020304" pitchFamily="18" charset="0"/>
                <a:cs typeface="Times New Roman" panose="02020603050405020304" pitchFamily="18" charset="0"/>
              </a:rPr>
              <a:t>message</a:t>
            </a:r>
            <a:r>
              <a:rPr lang="en-US" altLang="en-US" sz="2000" dirty="0">
                <a:solidFill>
                  <a:schemeClr val="tx1"/>
                </a:solidFill>
                <a:latin typeface="Times New Roman" panose="02020603050405020304" pitchFamily="18" charset="0"/>
                <a:cs typeface="Times New Roman" panose="02020603050405020304" pitchFamily="18" charset="0"/>
              </a:rPr>
              <a:t>)</a:t>
            </a:r>
          </a:p>
          <a:p>
            <a:pPr lvl="1">
              <a:lnSpc>
                <a:spcPct val="90000"/>
              </a:lnSpc>
              <a:buFont typeface="Monotype Sorts" pitchFamily="-84" charset="2"/>
              <a:buNone/>
            </a:pPr>
            <a:endParaRPr lang="en-US" altLang="en-US" sz="2000" dirty="0">
              <a:solidFill>
                <a:schemeClr val="tx1"/>
              </a:solidFill>
              <a:latin typeface="Times New Roman" panose="02020603050405020304" pitchFamily="18" charset="0"/>
              <a:cs typeface="Times New Roman" panose="02020603050405020304" pitchFamily="18" charset="0"/>
            </a:endParaRPr>
          </a:p>
          <a:p>
            <a:pPr>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rPr>
              <a:t>The</a:t>
            </a:r>
            <a:r>
              <a:rPr lang="en-US" altLang="en-US" sz="2000" i="1" dirty="0">
                <a:solidFill>
                  <a:schemeClr val="tx1"/>
                </a:solidFill>
                <a:latin typeface="Times New Roman" panose="02020603050405020304" pitchFamily="18" charset="0"/>
                <a:cs typeface="Times New Roman" panose="02020603050405020304" pitchFamily="18" charset="0"/>
              </a:rPr>
              <a:t> message</a:t>
            </a:r>
            <a:r>
              <a:rPr lang="en-US" altLang="en-US" sz="2000" dirty="0">
                <a:solidFill>
                  <a:schemeClr val="tx1"/>
                </a:solidFill>
                <a:latin typeface="Times New Roman" panose="02020603050405020304" pitchFamily="18" charset="0"/>
                <a:cs typeface="Times New Roman" panose="02020603050405020304" pitchFamily="18" charset="0"/>
              </a:rPr>
              <a:t> size is either fixed or variable</a:t>
            </a:r>
          </a:p>
          <a:p>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4" name="Picture 1" descr="3_12.pdf">
            <a:extLst>
              <a:ext uri="{FF2B5EF4-FFF2-40B4-BE49-F238E27FC236}">
                <a16:creationId xmlns:a16="http://schemas.microsoft.com/office/drawing/2014/main" id="{11DA9ECF-4499-4350-B772-06401E918FBC}"/>
              </a:ext>
            </a:extLst>
          </p:cNvPr>
          <p:cNvPicPr>
            <a:picLocks noChangeAspect="1"/>
          </p:cNvPicPr>
          <p:nvPr/>
        </p:nvPicPr>
        <p:blipFill rotWithShape="1">
          <a:blip r:embed="rId2">
            <a:extLst>
              <a:ext uri="{28A0092B-C50C-407E-A947-70E740481C1C}">
                <a14:useLocalDpi xmlns:a14="http://schemas.microsoft.com/office/drawing/2010/main" val="0"/>
              </a:ext>
            </a:extLst>
          </a:blip>
          <a:srcRect r="48775" b="6169"/>
          <a:stretch/>
        </p:blipFill>
        <p:spPr bwMode="auto">
          <a:xfrm>
            <a:off x="8343332" y="1540188"/>
            <a:ext cx="3848668" cy="4424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a:extLst>
              <a:ext uri="{FF2B5EF4-FFF2-40B4-BE49-F238E27FC236}">
                <a16:creationId xmlns:a16="http://schemas.microsoft.com/office/drawing/2014/main" id="{4E2477FA-239E-2D16-0F71-993911E3104E}"/>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3789838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F7EE5-10DC-4FFA-96BB-92FF0FF6CE3A}"/>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IPC-Message Passing</a:t>
            </a:r>
            <a:endParaRPr lang="en-US" dirty="0"/>
          </a:p>
        </p:txBody>
      </p:sp>
      <p:sp>
        <p:nvSpPr>
          <p:cNvPr id="3" name="Content Placeholder 2">
            <a:extLst>
              <a:ext uri="{FF2B5EF4-FFF2-40B4-BE49-F238E27FC236}">
                <a16:creationId xmlns:a16="http://schemas.microsoft.com/office/drawing/2014/main" id="{282959F4-DA74-4C6E-A562-B604EB5DE4B2}"/>
              </a:ext>
            </a:extLst>
          </p:cNvPr>
          <p:cNvSpPr>
            <a:spLocks noGrp="1"/>
          </p:cNvSpPr>
          <p:nvPr>
            <p:ph idx="1"/>
          </p:nvPr>
        </p:nvSpPr>
        <p:spPr>
          <a:xfrm>
            <a:off x="2592925" y="1321824"/>
            <a:ext cx="8915400" cy="5406522"/>
          </a:xfrm>
        </p:spPr>
        <p:txBody>
          <a:bodyPr>
            <a:normAutofit/>
          </a:bodyPr>
          <a:lstStyle/>
          <a:p>
            <a:pPr>
              <a:lnSpc>
                <a:spcPct val="90000"/>
              </a:lnSpc>
            </a:pPr>
            <a:r>
              <a:rPr lang="en-US" altLang="en-US" sz="2400" dirty="0">
                <a:solidFill>
                  <a:schemeClr val="tx1"/>
                </a:solidFill>
                <a:latin typeface="Times New Roman" panose="02020603050405020304" pitchFamily="18" charset="0"/>
                <a:cs typeface="Times New Roman" panose="02020603050405020304" pitchFamily="18" charset="0"/>
              </a:rPr>
              <a:t>If processes </a:t>
            </a:r>
            <a:r>
              <a:rPr lang="en-US" altLang="en-US" sz="2400" i="1" dirty="0">
                <a:solidFill>
                  <a:schemeClr val="tx1"/>
                </a:solidFill>
                <a:latin typeface="Times New Roman" panose="02020603050405020304" pitchFamily="18" charset="0"/>
                <a:cs typeface="Times New Roman" panose="02020603050405020304" pitchFamily="18" charset="0"/>
              </a:rPr>
              <a:t>P</a:t>
            </a:r>
            <a:r>
              <a:rPr lang="en-US" altLang="en-US" sz="2400" dirty="0">
                <a:solidFill>
                  <a:schemeClr val="tx1"/>
                </a:solidFill>
                <a:latin typeface="Times New Roman" panose="02020603050405020304" pitchFamily="18" charset="0"/>
                <a:cs typeface="Times New Roman" panose="02020603050405020304" pitchFamily="18" charset="0"/>
              </a:rPr>
              <a:t> and </a:t>
            </a:r>
            <a:r>
              <a:rPr lang="en-US" altLang="en-US" sz="2400" i="1" dirty="0">
                <a:solidFill>
                  <a:schemeClr val="tx1"/>
                </a:solidFill>
                <a:latin typeface="Times New Roman" panose="02020603050405020304" pitchFamily="18" charset="0"/>
                <a:cs typeface="Times New Roman" panose="02020603050405020304" pitchFamily="18" charset="0"/>
              </a:rPr>
              <a:t>Q</a:t>
            </a:r>
            <a:r>
              <a:rPr lang="en-US" altLang="en-US" sz="2400" dirty="0">
                <a:solidFill>
                  <a:schemeClr val="tx1"/>
                </a:solidFill>
                <a:latin typeface="Times New Roman" panose="02020603050405020304" pitchFamily="18" charset="0"/>
                <a:cs typeface="Times New Roman" panose="02020603050405020304" pitchFamily="18" charset="0"/>
              </a:rPr>
              <a:t> wish to communicate, they need to:</a:t>
            </a:r>
          </a:p>
          <a:p>
            <a:pPr lvl="1">
              <a:lnSpc>
                <a:spcPct val="90000"/>
              </a:lnSpc>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Establish a </a:t>
            </a:r>
            <a:r>
              <a:rPr lang="en-US" altLang="en-US" sz="2000" b="1" i="1" dirty="0">
                <a:solidFill>
                  <a:schemeClr val="tx1"/>
                </a:solidFill>
                <a:latin typeface="Times New Roman" panose="02020603050405020304" pitchFamily="18" charset="0"/>
                <a:cs typeface="Times New Roman" panose="02020603050405020304" pitchFamily="18" charset="0"/>
              </a:rPr>
              <a:t>communication</a:t>
            </a:r>
            <a:r>
              <a:rPr lang="en-US" altLang="en-US" sz="2000" b="1" dirty="0">
                <a:solidFill>
                  <a:schemeClr val="tx1"/>
                </a:solidFill>
                <a:latin typeface="Times New Roman" panose="02020603050405020304" pitchFamily="18" charset="0"/>
                <a:cs typeface="Times New Roman" panose="02020603050405020304" pitchFamily="18" charset="0"/>
              </a:rPr>
              <a:t> </a:t>
            </a:r>
            <a:r>
              <a:rPr lang="en-US" altLang="en-US" sz="2000" b="1" i="1" dirty="0">
                <a:solidFill>
                  <a:schemeClr val="tx1"/>
                </a:solidFill>
                <a:latin typeface="Times New Roman" panose="02020603050405020304" pitchFamily="18" charset="0"/>
                <a:cs typeface="Times New Roman" panose="02020603050405020304" pitchFamily="18" charset="0"/>
              </a:rPr>
              <a:t>link</a:t>
            </a:r>
            <a:r>
              <a:rPr lang="en-US" altLang="en-US" sz="2000" b="1" dirty="0">
                <a:solidFill>
                  <a:schemeClr val="tx1"/>
                </a:solidFill>
                <a:latin typeface="Times New Roman" panose="02020603050405020304" pitchFamily="18" charset="0"/>
                <a:cs typeface="Times New Roman" panose="02020603050405020304" pitchFamily="18" charset="0"/>
              </a:rPr>
              <a:t> </a:t>
            </a:r>
            <a:r>
              <a:rPr lang="en-US" altLang="en-US" sz="2000" dirty="0">
                <a:solidFill>
                  <a:schemeClr val="tx1"/>
                </a:solidFill>
                <a:latin typeface="Times New Roman" panose="02020603050405020304" pitchFamily="18" charset="0"/>
                <a:cs typeface="Times New Roman" panose="02020603050405020304" pitchFamily="18" charset="0"/>
              </a:rPr>
              <a:t>between them</a:t>
            </a:r>
          </a:p>
          <a:p>
            <a:pPr lvl="1">
              <a:lnSpc>
                <a:spcPct val="90000"/>
              </a:lnSpc>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Exchange messages via send/receive</a:t>
            </a:r>
          </a:p>
          <a:p>
            <a:pPr>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rPr>
              <a:t>Implementation of communication link</a:t>
            </a:r>
          </a:p>
          <a:p>
            <a:pPr lvl="1">
              <a:lnSpc>
                <a:spcPct val="90000"/>
              </a:lnSpc>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Physical:</a:t>
            </a:r>
          </a:p>
          <a:p>
            <a:pPr lvl="2">
              <a:lnSpc>
                <a:spcPct val="90000"/>
              </a:lnSpc>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Shared memory</a:t>
            </a:r>
          </a:p>
          <a:p>
            <a:pPr lvl="2">
              <a:lnSpc>
                <a:spcPct val="90000"/>
              </a:lnSpc>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Hardware bus</a:t>
            </a:r>
          </a:p>
          <a:p>
            <a:pPr lvl="2">
              <a:lnSpc>
                <a:spcPct val="90000"/>
              </a:lnSpc>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Network</a:t>
            </a:r>
          </a:p>
          <a:p>
            <a:pPr lvl="1">
              <a:lnSpc>
                <a:spcPct val="90000"/>
              </a:lnSpc>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Logical:</a:t>
            </a:r>
          </a:p>
          <a:p>
            <a:pPr lvl="2">
              <a:lnSpc>
                <a:spcPct val="90000"/>
              </a:lnSpc>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 Direct or indirect</a:t>
            </a:r>
          </a:p>
          <a:p>
            <a:pPr lvl="2">
              <a:lnSpc>
                <a:spcPct val="90000"/>
              </a:lnSpc>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 Synchronous or asynchronous</a:t>
            </a:r>
          </a:p>
          <a:p>
            <a:pPr lvl="2">
              <a:lnSpc>
                <a:spcPct val="90000"/>
              </a:lnSpc>
              <a:buFont typeface="Arial" panose="020B0604020202020204" pitchFamily="34" charset="0"/>
              <a:buChar char="•"/>
            </a:pPr>
            <a:r>
              <a:rPr lang="en-US" altLang="en-US" sz="2000" dirty="0">
                <a:solidFill>
                  <a:schemeClr val="tx1"/>
                </a:solidFill>
                <a:latin typeface="Times New Roman" panose="02020603050405020304" pitchFamily="18" charset="0"/>
                <a:cs typeface="Times New Roman" panose="02020603050405020304" pitchFamily="18" charset="0"/>
              </a:rPr>
              <a:t> Automatic or explicit buffering</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06E1D70-F638-9A9B-FA1F-7F95FE793940}"/>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29066791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3A3B7-4E20-4115-A984-8017EBD53AE7}"/>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Direct Communication</a:t>
            </a:r>
          </a:p>
        </p:txBody>
      </p:sp>
      <p:sp>
        <p:nvSpPr>
          <p:cNvPr id="3" name="Content Placeholder 2">
            <a:extLst>
              <a:ext uri="{FF2B5EF4-FFF2-40B4-BE49-F238E27FC236}">
                <a16:creationId xmlns:a16="http://schemas.microsoft.com/office/drawing/2014/main" id="{AC054A88-C73C-4732-8DB6-EFE9252E3143}"/>
              </a:ext>
            </a:extLst>
          </p:cNvPr>
          <p:cNvSpPr>
            <a:spLocks noGrp="1"/>
          </p:cNvSpPr>
          <p:nvPr>
            <p:ph idx="1"/>
          </p:nvPr>
        </p:nvSpPr>
        <p:spPr>
          <a:xfrm>
            <a:off x="2592925" y="1540189"/>
            <a:ext cx="8915400" cy="4587656"/>
          </a:xfrm>
        </p:spPr>
        <p:txBody>
          <a:bodyPr/>
          <a:lstStyle/>
          <a:p>
            <a:r>
              <a:rPr lang="en-US" altLang="en-US" sz="2400" dirty="0">
                <a:solidFill>
                  <a:schemeClr val="tx1"/>
                </a:solidFill>
                <a:latin typeface="Times New Roman" panose="02020603050405020304" pitchFamily="18" charset="0"/>
                <a:cs typeface="Times New Roman" panose="02020603050405020304" pitchFamily="18" charset="0"/>
              </a:rPr>
              <a:t>Processes must name each other explicitly:</a:t>
            </a:r>
          </a:p>
          <a:p>
            <a:pPr lvl="1"/>
            <a:r>
              <a:rPr lang="en-US" altLang="en-US" sz="2000" b="1" dirty="0">
                <a:solidFill>
                  <a:schemeClr val="tx1"/>
                </a:solidFill>
                <a:latin typeface="Times New Roman" panose="02020603050405020304" pitchFamily="18" charset="0"/>
                <a:cs typeface="Times New Roman" panose="02020603050405020304" pitchFamily="18" charset="0"/>
              </a:rPr>
              <a:t>send</a:t>
            </a: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i="1" dirty="0">
                <a:solidFill>
                  <a:schemeClr val="tx1"/>
                </a:solidFill>
                <a:latin typeface="Times New Roman" panose="02020603050405020304" pitchFamily="18" charset="0"/>
                <a:cs typeface="Times New Roman" panose="02020603050405020304" pitchFamily="18" charset="0"/>
              </a:rPr>
              <a:t>P, message</a:t>
            </a:r>
            <a:r>
              <a:rPr lang="en-US" altLang="en-US" sz="2000" dirty="0">
                <a:solidFill>
                  <a:schemeClr val="tx1"/>
                </a:solidFill>
                <a:latin typeface="Times New Roman" panose="02020603050405020304" pitchFamily="18" charset="0"/>
                <a:cs typeface="Times New Roman" panose="02020603050405020304" pitchFamily="18" charset="0"/>
              </a:rPr>
              <a:t>) – send a message to process P</a:t>
            </a:r>
          </a:p>
          <a:p>
            <a:pPr lvl="1"/>
            <a:r>
              <a:rPr lang="en-US" altLang="en-US" sz="2000" b="1" dirty="0">
                <a:solidFill>
                  <a:schemeClr val="tx1"/>
                </a:solidFill>
                <a:latin typeface="Times New Roman" panose="02020603050405020304" pitchFamily="18" charset="0"/>
                <a:cs typeface="Times New Roman" panose="02020603050405020304" pitchFamily="18" charset="0"/>
              </a:rPr>
              <a:t>receive</a:t>
            </a:r>
            <a:r>
              <a:rPr lang="en-US" altLang="en-US" sz="2000" dirty="0">
                <a:solidFill>
                  <a:schemeClr val="tx1"/>
                </a:solidFill>
                <a:latin typeface="Times New Roman" panose="02020603050405020304" pitchFamily="18" charset="0"/>
                <a:cs typeface="Times New Roman" panose="02020603050405020304" pitchFamily="18" charset="0"/>
              </a:rPr>
              <a:t>(</a:t>
            </a:r>
            <a:r>
              <a:rPr lang="en-US" altLang="en-US" sz="2000" i="1" dirty="0">
                <a:solidFill>
                  <a:schemeClr val="tx1"/>
                </a:solidFill>
                <a:latin typeface="Times New Roman" panose="02020603050405020304" pitchFamily="18" charset="0"/>
                <a:cs typeface="Times New Roman" panose="02020603050405020304" pitchFamily="18" charset="0"/>
              </a:rPr>
              <a:t>Q, message</a:t>
            </a:r>
            <a:r>
              <a:rPr lang="en-US" altLang="en-US" sz="2000" dirty="0">
                <a:solidFill>
                  <a:schemeClr val="tx1"/>
                </a:solidFill>
                <a:latin typeface="Times New Roman" panose="02020603050405020304" pitchFamily="18" charset="0"/>
                <a:cs typeface="Times New Roman" panose="02020603050405020304" pitchFamily="18" charset="0"/>
              </a:rPr>
              <a:t>) – receive a message from process Q</a:t>
            </a:r>
          </a:p>
          <a:p>
            <a:r>
              <a:rPr lang="en-US" altLang="en-US" sz="2400" dirty="0">
                <a:solidFill>
                  <a:schemeClr val="tx1"/>
                </a:solidFill>
                <a:latin typeface="Times New Roman" panose="02020603050405020304" pitchFamily="18" charset="0"/>
                <a:cs typeface="Times New Roman" panose="02020603050405020304" pitchFamily="18" charset="0"/>
              </a:rPr>
              <a:t>Properties of communication link</a:t>
            </a:r>
          </a:p>
          <a:p>
            <a:pPr lvl="1"/>
            <a:r>
              <a:rPr lang="en-US" altLang="en-US" sz="2000" dirty="0">
                <a:solidFill>
                  <a:schemeClr val="tx1"/>
                </a:solidFill>
                <a:latin typeface="Times New Roman" panose="02020603050405020304" pitchFamily="18" charset="0"/>
                <a:cs typeface="Times New Roman" panose="02020603050405020304" pitchFamily="18" charset="0"/>
              </a:rPr>
              <a:t>Links are established automatically</a:t>
            </a:r>
          </a:p>
          <a:p>
            <a:pPr lvl="1"/>
            <a:r>
              <a:rPr lang="en-US" altLang="en-US" sz="2000" dirty="0">
                <a:solidFill>
                  <a:schemeClr val="tx1"/>
                </a:solidFill>
                <a:latin typeface="Times New Roman" panose="02020603050405020304" pitchFamily="18" charset="0"/>
                <a:cs typeface="Times New Roman" panose="02020603050405020304" pitchFamily="18" charset="0"/>
              </a:rPr>
              <a:t>A link is associated with exactly one pair of communicating processes</a:t>
            </a:r>
          </a:p>
          <a:p>
            <a:pPr lvl="1"/>
            <a:r>
              <a:rPr lang="en-US" altLang="en-US" sz="2000" dirty="0">
                <a:solidFill>
                  <a:schemeClr val="tx1"/>
                </a:solidFill>
                <a:latin typeface="Times New Roman" panose="02020603050405020304" pitchFamily="18" charset="0"/>
                <a:cs typeface="Times New Roman" panose="02020603050405020304" pitchFamily="18" charset="0"/>
              </a:rPr>
              <a:t>Between each pair there exists exactly one link</a:t>
            </a:r>
          </a:p>
          <a:p>
            <a:pPr lvl="1"/>
            <a:r>
              <a:rPr lang="en-US" altLang="en-US" sz="2000" dirty="0">
                <a:solidFill>
                  <a:schemeClr val="tx1"/>
                </a:solidFill>
                <a:latin typeface="Times New Roman" panose="02020603050405020304" pitchFamily="18" charset="0"/>
                <a:cs typeface="Times New Roman" panose="02020603050405020304" pitchFamily="18" charset="0"/>
              </a:rPr>
              <a:t>The link may be unidirectional, but is usually bi-directional</a:t>
            </a:r>
          </a:p>
          <a:p>
            <a:endParaRPr lang="en-US" dirty="0"/>
          </a:p>
        </p:txBody>
      </p:sp>
      <p:sp>
        <p:nvSpPr>
          <p:cNvPr id="4" name="Footer Placeholder 3">
            <a:extLst>
              <a:ext uri="{FF2B5EF4-FFF2-40B4-BE49-F238E27FC236}">
                <a16:creationId xmlns:a16="http://schemas.microsoft.com/office/drawing/2014/main" id="{C210E950-7100-DE97-1A13-1DC29FF3CF70}"/>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2989700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A720F-2F66-4C3D-897A-4F1900141655}"/>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Indirect Communication</a:t>
            </a:r>
          </a:p>
        </p:txBody>
      </p:sp>
      <p:sp>
        <p:nvSpPr>
          <p:cNvPr id="3" name="Content Placeholder 2">
            <a:extLst>
              <a:ext uri="{FF2B5EF4-FFF2-40B4-BE49-F238E27FC236}">
                <a16:creationId xmlns:a16="http://schemas.microsoft.com/office/drawing/2014/main" id="{5ED15CA2-5F3E-4A4E-A797-BD0D62BFBD3E}"/>
              </a:ext>
            </a:extLst>
          </p:cNvPr>
          <p:cNvSpPr>
            <a:spLocks noGrp="1"/>
          </p:cNvSpPr>
          <p:nvPr>
            <p:ph idx="1"/>
          </p:nvPr>
        </p:nvSpPr>
        <p:spPr>
          <a:xfrm>
            <a:off x="2592925" y="1264554"/>
            <a:ext cx="8915400" cy="5463791"/>
          </a:xfrm>
        </p:spPr>
        <p:txBody>
          <a:bodyPr>
            <a:normAutofit/>
          </a:bodyPr>
          <a:lstStyle/>
          <a:p>
            <a:r>
              <a:rPr lang="en-US" altLang="en-US" sz="2400" dirty="0">
                <a:solidFill>
                  <a:schemeClr val="tx1"/>
                </a:solidFill>
                <a:latin typeface="Times New Roman" panose="02020603050405020304" pitchFamily="18" charset="0"/>
                <a:cs typeface="Times New Roman" panose="02020603050405020304" pitchFamily="18" charset="0"/>
              </a:rPr>
              <a:t>Messages are directed and received from mailboxes (also referred to as ports)</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Each mailbox has a unique id</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Processes can communicate only if they share a mailbox</a:t>
            </a:r>
          </a:p>
          <a:p>
            <a:r>
              <a:rPr lang="en-US" altLang="en-US" sz="2400" dirty="0">
                <a:solidFill>
                  <a:schemeClr val="tx1"/>
                </a:solidFill>
                <a:latin typeface="Times New Roman" panose="02020603050405020304" pitchFamily="18" charset="0"/>
                <a:cs typeface="Times New Roman" panose="02020603050405020304" pitchFamily="18" charset="0"/>
              </a:rPr>
              <a:t>Properties of communication link</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Link established only if processes share a common mailbox</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A link may be associated with many processes</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Each pair of processes may share several communication links</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Link may be unidirectional or bi-directional</a:t>
            </a:r>
          </a:p>
          <a:p>
            <a:r>
              <a:rPr lang="en-US" altLang="en-US" sz="2400" dirty="0">
                <a:solidFill>
                  <a:schemeClr val="tx1"/>
                </a:solidFill>
                <a:latin typeface="Times New Roman" panose="02020603050405020304" pitchFamily="18" charset="0"/>
                <a:cs typeface="Times New Roman" panose="02020603050405020304" pitchFamily="18" charset="0"/>
              </a:rPr>
              <a:t>Mailbox sharing</a:t>
            </a:r>
          </a:p>
          <a:p>
            <a:pPr lvl="1">
              <a:buFont typeface="Wingdings" panose="05000000000000000000" pitchFamily="2" charset="2"/>
              <a:buChar char="Ø"/>
            </a:pP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1</a:t>
            </a:r>
            <a:r>
              <a:rPr lang="en-US" altLang="en-US" sz="2000" i="1" dirty="0">
                <a:solidFill>
                  <a:schemeClr val="tx1"/>
                </a:solidFill>
                <a:latin typeface="Times New Roman" panose="02020603050405020304" pitchFamily="18" charset="0"/>
                <a:cs typeface="Times New Roman" panose="02020603050405020304" pitchFamily="18" charset="0"/>
              </a:rPr>
              <a:t>, P</a:t>
            </a:r>
            <a:r>
              <a:rPr lang="en-US" altLang="en-US" sz="2000" i="1" baseline="-25000" dirty="0">
                <a:solidFill>
                  <a:schemeClr val="tx1"/>
                </a:solidFill>
                <a:latin typeface="Times New Roman" panose="02020603050405020304" pitchFamily="18" charset="0"/>
                <a:cs typeface="Times New Roman" panose="02020603050405020304" pitchFamily="18" charset="0"/>
              </a:rPr>
              <a:t>2</a:t>
            </a:r>
            <a:r>
              <a:rPr lang="en-US" altLang="en-US" sz="2000" i="1" dirty="0">
                <a:solidFill>
                  <a:schemeClr val="tx1"/>
                </a:solidFill>
                <a:latin typeface="Times New Roman" panose="02020603050405020304" pitchFamily="18" charset="0"/>
                <a:cs typeface="Times New Roman" panose="02020603050405020304" pitchFamily="18" charset="0"/>
              </a:rPr>
              <a:t>,</a:t>
            </a:r>
            <a:r>
              <a:rPr lang="en-US" altLang="en-US" sz="2000" dirty="0">
                <a:solidFill>
                  <a:schemeClr val="tx1"/>
                </a:solidFill>
                <a:latin typeface="Times New Roman" panose="02020603050405020304" pitchFamily="18" charset="0"/>
                <a:cs typeface="Times New Roman" panose="02020603050405020304" pitchFamily="18" charset="0"/>
              </a:rPr>
              <a:t> and</a:t>
            </a:r>
            <a:r>
              <a:rPr lang="en-US" altLang="en-US" sz="2000" i="1" dirty="0">
                <a:solidFill>
                  <a:schemeClr val="tx1"/>
                </a:solidFill>
                <a:latin typeface="Times New Roman" panose="02020603050405020304" pitchFamily="18" charset="0"/>
                <a:cs typeface="Times New Roman" panose="02020603050405020304" pitchFamily="18" charset="0"/>
              </a:rPr>
              <a:t> P</a:t>
            </a:r>
            <a:r>
              <a:rPr lang="en-US" altLang="en-US" sz="2000" i="1" baseline="-25000" dirty="0">
                <a:solidFill>
                  <a:schemeClr val="tx1"/>
                </a:solidFill>
                <a:latin typeface="Times New Roman" panose="02020603050405020304" pitchFamily="18" charset="0"/>
                <a:cs typeface="Times New Roman" panose="02020603050405020304" pitchFamily="18" charset="0"/>
              </a:rPr>
              <a:t>3</a:t>
            </a:r>
            <a:r>
              <a:rPr lang="en-US" altLang="en-US" sz="2000" dirty="0">
                <a:solidFill>
                  <a:schemeClr val="tx1"/>
                </a:solidFill>
                <a:latin typeface="Times New Roman" panose="02020603050405020304" pitchFamily="18" charset="0"/>
                <a:cs typeface="Times New Roman" panose="02020603050405020304" pitchFamily="18" charset="0"/>
              </a:rPr>
              <a:t> share mailbox A</a:t>
            </a:r>
          </a:p>
          <a:p>
            <a:pPr lvl="1">
              <a:buFont typeface="Wingdings" panose="05000000000000000000" pitchFamily="2" charset="2"/>
              <a:buChar char="Ø"/>
            </a:pP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1</a:t>
            </a:r>
            <a:r>
              <a:rPr lang="en-US" altLang="en-US" sz="2000" dirty="0">
                <a:solidFill>
                  <a:schemeClr val="tx1"/>
                </a:solidFill>
                <a:latin typeface="Times New Roman" panose="02020603050405020304" pitchFamily="18" charset="0"/>
                <a:cs typeface="Times New Roman" panose="02020603050405020304" pitchFamily="18" charset="0"/>
              </a:rPr>
              <a:t>, sends;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2</a:t>
            </a:r>
            <a:r>
              <a:rPr lang="en-US" altLang="en-US" sz="2000" i="1" dirty="0">
                <a:solidFill>
                  <a:schemeClr val="tx1"/>
                </a:solidFill>
                <a:latin typeface="Times New Roman" panose="02020603050405020304" pitchFamily="18" charset="0"/>
                <a:cs typeface="Times New Roman" panose="02020603050405020304" pitchFamily="18" charset="0"/>
              </a:rPr>
              <a:t> </a:t>
            </a:r>
            <a:r>
              <a:rPr lang="en-US" altLang="en-US" sz="2000" dirty="0">
                <a:solidFill>
                  <a:schemeClr val="tx1"/>
                </a:solidFill>
                <a:latin typeface="Times New Roman" panose="02020603050405020304" pitchFamily="18" charset="0"/>
                <a:cs typeface="Times New Roman" panose="02020603050405020304" pitchFamily="18" charset="0"/>
              </a:rPr>
              <a:t>and</a:t>
            </a:r>
            <a:r>
              <a:rPr lang="en-US" altLang="en-US" sz="2000" i="1" dirty="0">
                <a:solidFill>
                  <a:schemeClr val="tx1"/>
                </a:solidFill>
                <a:latin typeface="Times New Roman" panose="02020603050405020304" pitchFamily="18" charset="0"/>
                <a:cs typeface="Times New Roman" panose="02020603050405020304" pitchFamily="18" charset="0"/>
              </a:rPr>
              <a:t> P</a:t>
            </a:r>
            <a:r>
              <a:rPr lang="en-US" altLang="en-US" sz="2000" i="1" baseline="-25000" dirty="0">
                <a:solidFill>
                  <a:schemeClr val="tx1"/>
                </a:solidFill>
                <a:latin typeface="Times New Roman" panose="02020603050405020304" pitchFamily="18" charset="0"/>
                <a:cs typeface="Times New Roman" panose="02020603050405020304" pitchFamily="18" charset="0"/>
              </a:rPr>
              <a:t>3</a:t>
            </a:r>
            <a:r>
              <a:rPr lang="en-US" altLang="en-US" sz="2000" dirty="0">
                <a:solidFill>
                  <a:schemeClr val="tx1"/>
                </a:solidFill>
                <a:latin typeface="Times New Roman" panose="02020603050405020304" pitchFamily="18" charset="0"/>
                <a:cs typeface="Times New Roman" panose="02020603050405020304" pitchFamily="18" charset="0"/>
              </a:rPr>
              <a:t> receive</a:t>
            </a:r>
          </a:p>
          <a:p>
            <a:endParaRPr lang="en-US" dirty="0"/>
          </a:p>
        </p:txBody>
      </p:sp>
      <p:sp>
        <p:nvSpPr>
          <p:cNvPr id="4" name="Footer Placeholder 3">
            <a:extLst>
              <a:ext uri="{FF2B5EF4-FFF2-40B4-BE49-F238E27FC236}">
                <a16:creationId xmlns:a16="http://schemas.microsoft.com/office/drawing/2014/main" id="{C423CB8F-7FF5-FA93-9B37-8F494D1058CA}"/>
              </a:ext>
            </a:extLst>
          </p:cNvPr>
          <p:cNvSpPr>
            <a:spLocks noGrp="1"/>
          </p:cNvSpPr>
          <p:nvPr>
            <p:ph type="ftr" sz="quarter" idx="11"/>
          </p:nvPr>
        </p:nvSpPr>
        <p:spPr>
          <a:xfrm>
            <a:off x="2592925" y="6545782"/>
            <a:ext cx="7619999" cy="365125"/>
          </a:xfrm>
        </p:spPr>
        <p:txBody>
          <a:bodyPr/>
          <a:lstStyle/>
          <a:p>
            <a:r>
              <a:rPr lang="en-US" dirty="0"/>
              <a:t>- Prepared by: Rishav Acharya</a:t>
            </a:r>
          </a:p>
        </p:txBody>
      </p:sp>
    </p:spTree>
    <p:extLst>
      <p:ext uri="{BB962C8B-B14F-4D97-AF65-F5344CB8AC3E}">
        <p14:creationId xmlns:p14="http://schemas.microsoft.com/office/powerpoint/2010/main" val="3929032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3DD72-9540-4036-933C-847F532BED8C}"/>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Critical Section</a:t>
            </a:r>
            <a:endParaRPr lang="en-US" dirty="0"/>
          </a:p>
        </p:txBody>
      </p:sp>
      <p:sp>
        <p:nvSpPr>
          <p:cNvPr id="3" name="Content Placeholder 2">
            <a:extLst>
              <a:ext uri="{FF2B5EF4-FFF2-40B4-BE49-F238E27FC236}">
                <a16:creationId xmlns:a16="http://schemas.microsoft.com/office/drawing/2014/main" id="{D50824B8-EA2C-4031-99EE-B9B0BDE2A6FB}"/>
              </a:ext>
            </a:extLst>
          </p:cNvPr>
          <p:cNvSpPr>
            <a:spLocks noGrp="1"/>
          </p:cNvSpPr>
          <p:nvPr>
            <p:ph idx="1"/>
          </p:nvPr>
        </p:nvSpPr>
        <p:spPr>
          <a:xfrm>
            <a:off x="2589212" y="1296537"/>
            <a:ext cx="8915400" cy="5268036"/>
          </a:xfrm>
        </p:spPr>
        <p:txBody>
          <a:bodyPr>
            <a:normAutofit/>
          </a:bodyPr>
          <a:lstStyle/>
          <a:p>
            <a:r>
              <a:rPr lang="en-US" sz="2400" dirty="0">
                <a:solidFill>
                  <a:schemeClr val="tx1"/>
                </a:solidFill>
                <a:latin typeface="Times New Roman" panose="02020603050405020304" pitchFamily="18" charset="0"/>
                <a:cs typeface="Times New Roman" panose="02020603050405020304" pitchFamily="18" charset="0"/>
              </a:rPr>
              <a:t>Process have to access shared memory or files or doing other critical tasks</a:t>
            </a:r>
          </a:p>
          <a:p>
            <a:r>
              <a:rPr lang="en-US" sz="2400" dirty="0">
                <a:solidFill>
                  <a:schemeClr val="tx1"/>
                </a:solidFill>
                <a:latin typeface="Times New Roman" panose="02020603050405020304" pitchFamily="18" charset="0"/>
                <a:cs typeface="Times New Roman" panose="02020603050405020304" pitchFamily="18" charset="0"/>
              </a:rPr>
              <a:t>That part of the program where the shared memory is accessed is called </a:t>
            </a:r>
            <a:r>
              <a:rPr lang="en-US" sz="2400" b="1" dirty="0">
                <a:solidFill>
                  <a:schemeClr val="tx1"/>
                </a:solidFill>
                <a:latin typeface="Times New Roman" panose="02020603050405020304" pitchFamily="18" charset="0"/>
                <a:cs typeface="Times New Roman" panose="02020603050405020304" pitchFamily="18" charset="0"/>
              </a:rPr>
              <a:t>critical section or critical region </a:t>
            </a:r>
          </a:p>
          <a:p>
            <a:r>
              <a:rPr lang="en-US" altLang="en-US" sz="2400" dirty="0">
                <a:solidFill>
                  <a:schemeClr val="tx1"/>
                </a:solidFill>
                <a:latin typeface="Times New Roman" panose="02020603050405020304" pitchFamily="18" charset="0"/>
                <a:cs typeface="Times New Roman" panose="02020603050405020304" pitchFamily="18" charset="0"/>
              </a:rPr>
              <a:t>Consider system of </a:t>
            </a:r>
            <a:r>
              <a:rPr lang="en-US" altLang="en-US" sz="2400" b="1" i="1" dirty="0">
                <a:solidFill>
                  <a:schemeClr val="tx1"/>
                </a:solidFill>
                <a:latin typeface="Times New Roman" panose="02020603050405020304" pitchFamily="18" charset="0"/>
                <a:cs typeface="Times New Roman" panose="02020603050405020304" pitchFamily="18" charset="0"/>
              </a:rPr>
              <a:t>n</a:t>
            </a:r>
            <a:r>
              <a:rPr lang="en-US" altLang="en-US" sz="2400" b="1" dirty="0">
                <a:solidFill>
                  <a:schemeClr val="tx1"/>
                </a:solidFill>
                <a:latin typeface="Times New Roman" panose="02020603050405020304" pitchFamily="18" charset="0"/>
                <a:cs typeface="Times New Roman" panose="02020603050405020304" pitchFamily="18" charset="0"/>
              </a:rPr>
              <a:t> </a:t>
            </a:r>
            <a:r>
              <a:rPr lang="en-US" altLang="en-US" sz="2400" dirty="0">
                <a:solidFill>
                  <a:schemeClr val="tx1"/>
                </a:solidFill>
                <a:latin typeface="Times New Roman" panose="02020603050405020304" pitchFamily="18" charset="0"/>
                <a:cs typeface="Times New Roman" panose="02020603050405020304" pitchFamily="18" charset="0"/>
              </a:rPr>
              <a:t>processes {</a:t>
            </a:r>
            <a:r>
              <a:rPr lang="en-US" altLang="en-US" sz="2400" b="1" i="1" dirty="0">
                <a:solidFill>
                  <a:schemeClr val="tx1"/>
                </a:solidFill>
                <a:latin typeface="Times New Roman" panose="02020603050405020304" pitchFamily="18" charset="0"/>
                <a:cs typeface="Times New Roman" panose="02020603050405020304" pitchFamily="18" charset="0"/>
              </a:rPr>
              <a:t>p</a:t>
            </a:r>
            <a:r>
              <a:rPr lang="en-US" altLang="en-US" sz="2400" b="1" i="1" baseline="-25000" dirty="0">
                <a:solidFill>
                  <a:schemeClr val="tx1"/>
                </a:solidFill>
                <a:latin typeface="Times New Roman" panose="02020603050405020304" pitchFamily="18" charset="0"/>
                <a:cs typeface="Times New Roman" panose="02020603050405020304" pitchFamily="18" charset="0"/>
              </a:rPr>
              <a:t>0</a:t>
            </a:r>
            <a:r>
              <a:rPr lang="en-US" altLang="en-US" sz="2400" b="1" i="1" dirty="0">
                <a:solidFill>
                  <a:schemeClr val="tx1"/>
                </a:solidFill>
                <a:latin typeface="Times New Roman" panose="02020603050405020304" pitchFamily="18" charset="0"/>
                <a:cs typeface="Times New Roman" panose="02020603050405020304" pitchFamily="18" charset="0"/>
              </a:rPr>
              <a:t>, p</a:t>
            </a:r>
            <a:r>
              <a:rPr lang="en-US" altLang="en-US" sz="2400" b="1" i="1" baseline="-25000" dirty="0">
                <a:solidFill>
                  <a:schemeClr val="tx1"/>
                </a:solidFill>
                <a:latin typeface="Times New Roman" panose="02020603050405020304" pitchFamily="18" charset="0"/>
                <a:cs typeface="Times New Roman" panose="02020603050405020304" pitchFamily="18" charset="0"/>
              </a:rPr>
              <a:t>1</a:t>
            </a:r>
            <a:r>
              <a:rPr lang="en-US" altLang="en-US" sz="2400" b="1" i="1" dirty="0">
                <a:solidFill>
                  <a:schemeClr val="tx1"/>
                </a:solidFill>
                <a:latin typeface="Times New Roman" panose="02020603050405020304" pitchFamily="18" charset="0"/>
                <a:cs typeface="Times New Roman" panose="02020603050405020304" pitchFamily="18" charset="0"/>
              </a:rPr>
              <a:t>, … p</a:t>
            </a:r>
            <a:r>
              <a:rPr lang="en-US" altLang="en-US" sz="2400" b="1" i="1" baseline="-25000" dirty="0">
                <a:solidFill>
                  <a:schemeClr val="tx1"/>
                </a:solidFill>
                <a:latin typeface="Times New Roman" panose="02020603050405020304" pitchFamily="18" charset="0"/>
                <a:cs typeface="Times New Roman" panose="02020603050405020304" pitchFamily="18" charset="0"/>
              </a:rPr>
              <a:t>n-1</a:t>
            </a:r>
            <a:r>
              <a:rPr lang="en-US" altLang="en-US" sz="2400" dirty="0">
                <a:solidFill>
                  <a:schemeClr val="tx1"/>
                </a:solidFill>
                <a:latin typeface="Times New Roman" panose="02020603050405020304" pitchFamily="18" charset="0"/>
                <a:cs typeface="Times New Roman" panose="02020603050405020304" pitchFamily="18" charset="0"/>
              </a:rPr>
              <a:t>}</a:t>
            </a:r>
          </a:p>
          <a:p>
            <a:r>
              <a:rPr lang="en-US" altLang="en-US" sz="2400" dirty="0">
                <a:solidFill>
                  <a:schemeClr val="tx1"/>
                </a:solidFill>
                <a:latin typeface="Times New Roman" panose="02020603050405020304" pitchFamily="18" charset="0"/>
                <a:cs typeface="Times New Roman" panose="02020603050405020304" pitchFamily="18" charset="0"/>
              </a:rPr>
              <a:t>Each process has </a:t>
            </a:r>
            <a:r>
              <a:rPr lang="en-US" altLang="en-US" sz="2400" b="1" dirty="0">
                <a:solidFill>
                  <a:schemeClr val="tx1"/>
                </a:solidFill>
                <a:latin typeface="Times New Roman" panose="02020603050405020304" pitchFamily="18" charset="0"/>
                <a:cs typeface="Times New Roman" panose="02020603050405020304" pitchFamily="18" charset="0"/>
              </a:rPr>
              <a:t>critical section </a:t>
            </a:r>
            <a:r>
              <a:rPr lang="en-US" altLang="en-US" sz="2400" dirty="0">
                <a:solidFill>
                  <a:schemeClr val="tx1"/>
                </a:solidFill>
                <a:latin typeface="Times New Roman" panose="02020603050405020304" pitchFamily="18" charset="0"/>
                <a:cs typeface="Times New Roman" panose="02020603050405020304" pitchFamily="18" charset="0"/>
              </a:rPr>
              <a:t>segment of code</a:t>
            </a: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Process may be changing common variables, updating table, writing file, </a:t>
            </a:r>
            <a:r>
              <a:rPr lang="en-US" altLang="en-US" sz="2000" dirty="0" err="1">
                <a:solidFill>
                  <a:schemeClr val="tx1"/>
                </a:solidFill>
                <a:latin typeface="Times New Roman" panose="02020603050405020304" pitchFamily="18" charset="0"/>
                <a:cs typeface="Times New Roman" panose="02020603050405020304" pitchFamily="18" charset="0"/>
              </a:rPr>
              <a:t>etc</a:t>
            </a:r>
            <a:endParaRPr lang="en-US" altLang="en-US" sz="2000" dirty="0">
              <a:solidFill>
                <a:schemeClr val="tx1"/>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altLang="en-US" sz="2000" dirty="0">
                <a:solidFill>
                  <a:schemeClr val="tx1"/>
                </a:solidFill>
                <a:latin typeface="Times New Roman" panose="02020603050405020304" pitchFamily="18" charset="0"/>
                <a:cs typeface="Times New Roman" panose="02020603050405020304" pitchFamily="18" charset="0"/>
              </a:rPr>
              <a:t>When one process in critical section, no other may be in its critical section</a:t>
            </a:r>
          </a:p>
          <a:p>
            <a:r>
              <a:rPr lang="en-US" altLang="en-US" sz="2400" b="1" i="1" dirty="0">
                <a:solidFill>
                  <a:schemeClr val="tx1"/>
                </a:solidFill>
                <a:latin typeface="Times New Roman" panose="02020603050405020304" pitchFamily="18" charset="0"/>
                <a:cs typeface="Times New Roman" panose="02020603050405020304" pitchFamily="18" charset="0"/>
              </a:rPr>
              <a:t>Critical section problem </a:t>
            </a:r>
            <a:r>
              <a:rPr lang="en-US" altLang="en-US" sz="2400" dirty="0">
                <a:solidFill>
                  <a:schemeClr val="tx1"/>
                </a:solidFill>
                <a:latin typeface="Times New Roman" panose="02020603050405020304" pitchFamily="18" charset="0"/>
                <a:cs typeface="Times New Roman" panose="02020603050405020304" pitchFamily="18" charset="0"/>
              </a:rPr>
              <a:t>is to design protocol to solve this</a:t>
            </a:r>
          </a:p>
          <a:p>
            <a:r>
              <a:rPr lang="en-US" altLang="en-US" sz="2400" dirty="0">
                <a:solidFill>
                  <a:schemeClr val="tx1"/>
                </a:solidFill>
                <a:latin typeface="Times New Roman" panose="02020603050405020304" pitchFamily="18" charset="0"/>
                <a:cs typeface="Times New Roman" panose="02020603050405020304" pitchFamily="18" charset="0"/>
              </a:rPr>
              <a:t>Each process must ask permission to enter critical section in </a:t>
            </a:r>
            <a:r>
              <a:rPr lang="en-US" altLang="en-US" sz="2400" b="1" dirty="0">
                <a:solidFill>
                  <a:schemeClr val="tx1"/>
                </a:solidFill>
                <a:latin typeface="Times New Roman" panose="02020603050405020304" pitchFamily="18" charset="0"/>
                <a:cs typeface="Times New Roman" panose="02020603050405020304" pitchFamily="18" charset="0"/>
              </a:rPr>
              <a:t>entry section</a:t>
            </a:r>
            <a:r>
              <a:rPr lang="en-US" altLang="en-US" sz="2400" dirty="0">
                <a:solidFill>
                  <a:schemeClr val="tx1"/>
                </a:solidFill>
                <a:latin typeface="Times New Roman" panose="02020603050405020304" pitchFamily="18" charset="0"/>
                <a:cs typeface="Times New Roman" panose="02020603050405020304" pitchFamily="18" charset="0"/>
              </a:rPr>
              <a:t>, may follow critical section with </a:t>
            </a:r>
            <a:r>
              <a:rPr lang="en-US" altLang="en-US" sz="2400" b="1" dirty="0">
                <a:solidFill>
                  <a:schemeClr val="tx1"/>
                </a:solidFill>
                <a:latin typeface="Times New Roman" panose="02020603050405020304" pitchFamily="18" charset="0"/>
                <a:cs typeface="Times New Roman" panose="02020603050405020304" pitchFamily="18" charset="0"/>
              </a:rPr>
              <a:t>exit section</a:t>
            </a:r>
            <a:r>
              <a:rPr lang="en-US" altLang="en-US" sz="2400" dirty="0">
                <a:solidFill>
                  <a:schemeClr val="tx1"/>
                </a:solidFill>
                <a:latin typeface="Times New Roman" panose="02020603050405020304" pitchFamily="18" charset="0"/>
                <a:cs typeface="Times New Roman" panose="02020603050405020304" pitchFamily="18" charset="0"/>
              </a:rPr>
              <a:t>, then </a:t>
            </a:r>
            <a:r>
              <a:rPr lang="en-US" altLang="en-US" sz="2400" b="1" dirty="0">
                <a:solidFill>
                  <a:schemeClr val="tx1"/>
                </a:solidFill>
                <a:latin typeface="Times New Roman" panose="02020603050405020304" pitchFamily="18" charset="0"/>
                <a:cs typeface="Times New Roman" panose="02020603050405020304" pitchFamily="18" charset="0"/>
              </a:rPr>
              <a:t>remainder section</a:t>
            </a:r>
          </a:p>
          <a:p>
            <a:endParaRPr lang="en-US" sz="2000" dirty="0">
              <a:solidFill>
                <a:schemeClr val="tx1"/>
              </a:solidFill>
              <a:latin typeface="Times New Roman" panose="02020603050405020304" pitchFamily="18" charset="0"/>
              <a:cs typeface="Times New Roman" panose="02020603050405020304" pitchFamily="18" charset="0"/>
            </a:endParaRPr>
          </a:p>
          <a:p>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700718EA-4B2F-F939-9CB7-9D0AB9ED3C16}"/>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26473769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2EAE1-E9F5-42D5-948F-E3B01D043E7F}"/>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CS-Conditions to have good solution</a:t>
            </a:r>
          </a:p>
        </p:txBody>
      </p:sp>
      <p:sp>
        <p:nvSpPr>
          <p:cNvPr id="3" name="Content Placeholder 2">
            <a:extLst>
              <a:ext uri="{FF2B5EF4-FFF2-40B4-BE49-F238E27FC236}">
                <a16:creationId xmlns:a16="http://schemas.microsoft.com/office/drawing/2014/main" id="{ACE4E341-55FE-4E6B-B5B1-E74893847648}"/>
              </a:ext>
            </a:extLst>
          </p:cNvPr>
          <p:cNvSpPr>
            <a:spLocks noGrp="1"/>
          </p:cNvSpPr>
          <p:nvPr>
            <p:ph idx="1"/>
          </p:nvPr>
        </p:nvSpPr>
        <p:spPr>
          <a:xfrm>
            <a:off x="2592925" y="1574041"/>
            <a:ext cx="8915400" cy="4796326"/>
          </a:xfrm>
        </p:spPr>
        <p:txBody>
          <a:bodyPr>
            <a:normAutofit/>
          </a:bodyPr>
          <a:lstStyle/>
          <a:p>
            <a:r>
              <a:rPr lang="en-US" sz="2400" dirty="0">
                <a:solidFill>
                  <a:schemeClr val="tx1"/>
                </a:solidFill>
                <a:latin typeface="Times New Roman" panose="02020603050405020304" pitchFamily="18" charset="0"/>
                <a:cs typeface="Times New Roman" panose="02020603050405020304" pitchFamily="18" charset="0"/>
              </a:rPr>
              <a:t>No two processes may be in critical section</a:t>
            </a:r>
          </a:p>
          <a:p>
            <a:r>
              <a:rPr lang="en-US" sz="2400" dirty="0">
                <a:solidFill>
                  <a:schemeClr val="tx1"/>
                </a:solidFill>
                <a:latin typeface="Times New Roman" panose="02020603050405020304" pitchFamily="18" charset="0"/>
                <a:cs typeface="Times New Roman" panose="02020603050405020304" pitchFamily="18" charset="0"/>
              </a:rPr>
              <a:t>No assumptions may be made about the speed or number of CPU</a:t>
            </a:r>
          </a:p>
          <a:p>
            <a:r>
              <a:rPr lang="en-US" sz="2400" dirty="0">
                <a:solidFill>
                  <a:schemeClr val="tx1"/>
                </a:solidFill>
                <a:latin typeface="Times New Roman" panose="02020603050405020304" pitchFamily="18" charset="0"/>
                <a:cs typeface="Times New Roman" panose="02020603050405020304" pitchFamily="18" charset="0"/>
              </a:rPr>
              <a:t>No process running outside the critical section may block other process</a:t>
            </a:r>
          </a:p>
          <a:p>
            <a:r>
              <a:rPr lang="en-US" sz="2400" dirty="0">
                <a:solidFill>
                  <a:schemeClr val="tx1"/>
                </a:solidFill>
                <a:latin typeface="Times New Roman" panose="02020603050405020304" pitchFamily="18" charset="0"/>
                <a:cs typeface="Times New Roman" panose="02020603050405020304" pitchFamily="18" charset="0"/>
              </a:rPr>
              <a:t>No process should have wait forever to enter its critical section</a:t>
            </a:r>
          </a:p>
        </p:txBody>
      </p:sp>
      <p:sp>
        <p:nvSpPr>
          <p:cNvPr id="4" name="Footer Placeholder 3">
            <a:extLst>
              <a:ext uri="{FF2B5EF4-FFF2-40B4-BE49-F238E27FC236}">
                <a16:creationId xmlns:a16="http://schemas.microsoft.com/office/drawing/2014/main" id="{1BD2A712-7205-CC1C-CBA0-3BCF32893ED6}"/>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25485275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B9CE4-58D6-4550-9A13-A5C2DD6B6736}"/>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Critical Section Solutions</a:t>
            </a:r>
            <a:endParaRPr lang="en-US" dirty="0"/>
          </a:p>
        </p:txBody>
      </p:sp>
      <p:sp>
        <p:nvSpPr>
          <p:cNvPr id="3" name="Content Placeholder 2">
            <a:extLst>
              <a:ext uri="{FF2B5EF4-FFF2-40B4-BE49-F238E27FC236}">
                <a16:creationId xmlns:a16="http://schemas.microsoft.com/office/drawing/2014/main" id="{901631A3-1E6F-45CF-B7C9-40A7CCEC6667}"/>
              </a:ext>
            </a:extLst>
          </p:cNvPr>
          <p:cNvSpPr>
            <a:spLocks noGrp="1"/>
          </p:cNvSpPr>
          <p:nvPr>
            <p:ph idx="1"/>
          </p:nvPr>
        </p:nvSpPr>
        <p:spPr>
          <a:xfrm>
            <a:off x="2589212" y="1437563"/>
            <a:ext cx="8915400" cy="5140658"/>
          </a:xfrm>
        </p:spPr>
        <p:txBody>
          <a:bodyPr>
            <a:normAutofit/>
          </a:bodyPr>
          <a:lstStyle/>
          <a:p>
            <a:r>
              <a:rPr lang="en-US" altLang="en-US" sz="2400" b="1" dirty="0">
                <a:solidFill>
                  <a:schemeClr val="tx1"/>
                </a:solidFill>
                <a:latin typeface="Times New Roman" panose="02020603050405020304" pitchFamily="18" charset="0"/>
                <a:cs typeface="Times New Roman" panose="02020603050405020304" pitchFamily="18" charset="0"/>
              </a:rPr>
              <a:t>Mutual Exclusion </a:t>
            </a:r>
            <a:r>
              <a:rPr lang="en-US" altLang="en-US" sz="2400" dirty="0">
                <a:solidFill>
                  <a:schemeClr val="tx1"/>
                </a:solidFill>
                <a:latin typeface="Times New Roman" panose="02020603050405020304" pitchFamily="18" charset="0"/>
                <a:cs typeface="Times New Roman" panose="02020603050405020304" pitchFamily="18" charset="0"/>
              </a:rPr>
              <a:t>- If process </a:t>
            </a:r>
            <a:r>
              <a:rPr lang="en-US" altLang="en-US" sz="2400" b="1" i="1" dirty="0">
                <a:solidFill>
                  <a:schemeClr val="tx1"/>
                </a:solidFill>
                <a:latin typeface="Times New Roman" panose="02020603050405020304" pitchFamily="18" charset="0"/>
                <a:cs typeface="Times New Roman" panose="02020603050405020304" pitchFamily="18" charset="0"/>
              </a:rPr>
              <a:t>P</a:t>
            </a:r>
            <a:r>
              <a:rPr lang="en-US" altLang="en-US" sz="2400" b="1" i="1" baseline="-25000" dirty="0">
                <a:solidFill>
                  <a:schemeClr val="tx1"/>
                </a:solidFill>
                <a:latin typeface="Times New Roman" panose="02020603050405020304" pitchFamily="18" charset="0"/>
                <a:cs typeface="Times New Roman" panose="02020603050405020304" pitchFamily="18" charset="0"/>
              </a:rPr>
              <a:t>i</a:t>
            </a:r>
            <a:r>
              <a:rPr lang="en-US" altLang="en-US" sz="2400" b="1" dirty="0">
                <a:solidFill>
                  <a:schemeClr val="tx1"/>
                </a:solidFill>
                <a:latin typeface="Times New Roman" panose="02020603050405020304" pitchFamily="18" charset="0"/>
                <a:cs typeface="Times New Roman" panose="02020603050405020304" pitchFamily="18" charset="0"/>
              </a:rPr>
              <a:t> </a:t>
            </a:r>
            <a:r>
              <a:rPr lang="en-US" altLang="en-US" sz="2400" dirty="0">
                <a:solidFill>
                  <a:schemeClr val="tx1"/>
                </a:solidFill>
                <a:latin typeface="Times New Roman" panose="02020603050405020304" pitchFamily="18" charset="0"/>
                <a:cs typeface="Times New Roman" panose="02020603050405020304" pitchFamily="18" charset="0"/>
              </a:rPr>
              <a:t>is executing in its critical section, then no other processes can be executing in their critical sections</a:t>
            </a:r>
          </a:p>
          <a:p>
            <a:r>
              <a:rPr lang="en-US" altLang="en-US" sz="2400" b="1" dirty="0">
                <a:solidFill>
                  <a:schemeClr val="tx1"/>
                </a:solidFill>
                <a:latin typeface="Times New Roman" panose="02020603050405020304" pitchFamily="18" charset="0"/>
                <a:cs typeface="Times New Roman" panose="02020603050405020304" pitchFamily="18" charset="0"/>
              </a:rPr>
              <a:t>Progress </a:t>
            </a:r>
            <a:r>
              <a:rPr lang="en-US" altLang="en-US" sz="2400" dirty="0">
                <a:solidFill>
                  <a:schemeClr val="tx1"/>
                </a:solidFill>
                <a:latin typeface="Times New Roman" panose="02020603050405020304" pitchFamily="18" charset="0"/>
                <a:cs typeface="Times New Roman" panose="02020603050405020304" pitchFamily="18" charset="0"/>
              </a:rPr>
              <a:t>- If no process is executing in its critical section and there exist some processes that wish to enter their critical section, then the selection of the processes that will enter the critical section next cannot be postponed indefinitely</a:t>
            </a:r>
          </a:p>
          <a:p>
            <a:r>
              <a:rPr lang="en-US" altLang="en-US" sz="2400" b="1" dirty="0">
                <a:solidFill>
                  <a:schemeClr val="tx1"/>
                </a:solidFill>
                <a:latin typeface="Times New Roman" panose="02020603050405020304" pitchFamily="18" charset="0"/>
                <a:cs typeface="Times New Roman" panose="02020603050405020304" pitchFamily="18" charset="0"/>
              </a:rPr>
              <a:t>Bounded Waiting </a:t>
            </a:r>
            <a:r>
              <a:rPr lang="en-US" altLang="en-US" sz="2400" dirty="0">
                <a:solidFill>
                  <a:schemeClr val="tx1"/>
                </a:solidFill>
                <a:latin typeface="Times New Roman" panose="02020603050405020304" pitchFamily="18" charset="0"/>
                <a:cs typeface="Times New Roman" panose="02020603050405020304" pitchFamily="18" charset="0"/>
              </a:rPr>
              <a:t>-  A bound must exist on the number of times that other processes are allowed to enter their critical sections after a process has made a request to enter its critical section and before that request is granted</a:t>
            </a:r>
          </a:p>
          <a:p>
            <a:pPr marL="795338" lvl="1" indent="-338138">
              <a:buSzPct val="125000"/>
              <a:buFont typeface="Wingdings 2" panose="05020102010507070707" pitchFamily="18" charset="2"/>
              <a:buChar char=""/>
            </a:pPr>
            <a:r>
              <a:rPr lang="en-US" altLang="en-US" sz="2000" dirty="0">
                <a:solidFill>
                  <a:schemeClr val="tx1"/>
                </a:solidFill>
                <a:latin typeface="Times New Roman" panose="02020603050405020304" pitchFamily="18" charset="0"/>
                <a:cs typeface="Times New Roman" panose="02020603050405020304" pitchFamily="18" charset="0"/>
              </a:rPr>
              <a:t>Assume that each process executes at a nonzero speed </a:t>
            </a:r>
          </a:p>
          <a:p>
            <a:pPr marL="795338" lvl="1" indent="-338138">
              <a:buSzPct val="125000"/>
              <a:buFont typeface="Wingdings 2" panose="05020102010507070707" pitchFamily="18" charset="2"/>
              <a:buChar char=""/>
            </a:pPr>
            <a:r>
              <a:rPr lang="en-US" altLang="en-US" sz="2000" dirty="0">
                <a:solidFill>
                  <a:schemeClr val="tx1"/>
                </a:solidFill>
                <a:latin typeface="Times New Roman" panose="02020603050405020304" pitchFamily="18" charset="0"/>
                <a:cs typeface="Times New Roman" panose="02020603050405020304" pitchFamily="18" charset="0"/>
              </a:rPr>
              <a:t>No assumption concerning </a:t>
            </a:r>
            <a:r>
              <a:rPr lang="en-US" altLang="en-US" sz="2000" b="1" dirty="0">
                <a:solidFill>
                  <a:schemeClr val="tx1"/>
                </a:solidFill>
                <a:latin typeface="Times New Roman" panose="02020603050405020304" pitchFamily="18" charset="0"/>
                <a:cs typeface="Times New Roman" panose="02020603050405020304" pitchFamily="18" charset="0"/>
              </a:rPr>
              <a:t>relative speed </a:t>
            </a:r>
            <a:r>
              <a:rPr lang="en-US" altLang="en-US" sz="2000" dirty="0">
                <a:solidFill>
                  <a:schemeClr val="tx1"/>
                </a:solidFill>
                <a:latin typeface="Times New Roman" panose="02020603050405020304" pitchFamily="18" charset="0"/>
                <a:cs typeface="Times New Roman" panose="02020603050405020304" pitchFamily="18" charset="0"/>
              </a:rPr>
              <a:t>of the</a:t>
            </a:r>
            <a:r>
              <a:rPr lang="en-US" altLang="en-US" sz="2000" b="1" dirty="0">
                <a:solidFill>
                  <a:schemeClr val="tx1"/>
                </a:solidFill>
                <a:latin typeface="Times New Roman" panose="02020603050405020304" pitchFamily="18" charset="0"/>
                <a:cs typeface="Times New Roman" panose="02020603050405020304" pitchFamily="18" charset="0"/>
              </a:rPr>
              <a:t> </a:t>
            </a:r>
            <a:r>
              <a:rPr lang="en-US" altLang="en-US" sz="2000" b="1" i="1" dirty="0">
                <a:solidFill>
                  <a:schemeClr val="tx1"/>
                </a:solidFill>
                <a:latin typeface="Times New Roman" panose="02020603050405020304" pitchFamily="18" charset="0"/>
                <a:cs typeface="Times New Roman" panose="02020603050405020304" pitchFamily="18" charset="0"/>
              </a:rPr>
              <a:t>n</a:t>
            </a:r>
            <a:r>
              <a:rPr lang="en-US" altLang="en-US" sz="2000" b="1" dirty="0">
                <a:solidFill>
                  <a:schemeClr val="tx1"/>
                </a:solidFill>
                <a:latin typeface="Times New Roman" panose="02020603050405020304" pitchFamily="18" charset="0"/>
                <a:cs typeface="Times New Roman" panose="02020603050405020304" pitchFamily="18" charset="0"/>
              </a:rPr>
              <a:t> </a:t>
            </a:r>
            <a:r>
              <a:rPr lang="en-US" altLang="en-US" sz="2000" dirty="0">
                <a:solidFill>
                  <a:schemeClr val="tx1"/>
                </a:solidFill>
                <a:latin typeface="Times New Roman" panose="02020603050405020304" pitchFamily="18" charset="0"/>
                <a:cs typeface="Times New Roman" panose="02020603050405020304" pitchFamily="18" charset="0"/>
              </a:rPr>
              <a:t>processes</a:t>
            </a:r>
          </a:p>
          <a:p>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54AB512-9C88-9C23-9E84-AD733E664C2A}"/>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9973369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15FDA-F412-4E04-8206-3112238DF510}"/>
              </a:ext>
            </a:extLst>
          </p:cNvPr>
          <p:cNvSpPr>
            <a:spLocks noGrp="1"/>
          </p:cNvSpPr>
          <p:nvPr>
            <p:ph type="title"/>
          </p:nvPr>
        </p:nvSpPr>
        <p:spPr>
          <a:xfrm>
            <a:off x="2596638" y="668740"/>
            <a:ext cx="8911687" cy="1280890"/>
          </a:xfrm>
        </p:spPr>
        <p:txBody>
          <a:bodyPr/>
          <a:lstStyle/>
          <a:p>
            <a:r>
              <a:rPr lang="en-US" b="1" dirty="0">
                <a:solidFill>
                  <a:schemeClr val="tx1"/>
                </a:solidFill>
                <a:latin typeface="Times New Roman" panose="02020603050405020304" pitchFamily="18" charset="0"/>
                <a:cs typeface="Times New Roman" panose="02020603050405020304" pitchFamily="18" charset="0"/>
              </a:rPr>
              <a:t>Race Conditions</a:t>
            </a:r>
          </a:p>
        </p:txBody>
      </p:sp>
      <p:sp>
        <p:nvSpPr>
          <p:cNvPr id="3" name="Content Placeholder 2">
            <a:extLst>
              <a:ext uri="{FF2B5EF4-FFF2-40B4-BE49-F238E27FC236}">
                <a16:creationId xmlns:a16="http://schemas.microsoft.com/office/drawing/2014/main" id="{9B4172AE-B200-4453-B7C8-B17969850061}"/>
              </a:ext>
            </a:extLst>
          </p:cNvPr>
          <p:cNvSpPr>
            <a:spLocks noGrp="1"/>
          </p:cNvSpPr>
          <p:nvPr>
            <p:ph idx="1"/>
          </p:nvPr>
        </p:nvSpPr>
        <p:spPr>
          <a:xfrm>
            <a:off x="2596638" y="1815152"/>
            <a:ext cx="8915400" cy="3493828"/>
          </a:xfrm>
        </p:spPr>
        <p:txBody>
          <a:bodyPr>
            <a:normAutofit/>
          </a:bodyPr>
          <a:lstStyle/>
          <a:p>
            <a:r>
              <a:rPr lang="en-US" sz="2400" dirty="0">
                <a:solidFill>
                  <a:schemeClr val="tx1"/>
                </a:solidFill>
                <a:latin typeface="Times New Roman" panose="02020603050405020304" pitchFamily="18" charset="0"/>
                <a:cs typeface="Times New Roman" panose="02020603050405020304" pitchFamily="18" charset="0"/>
              </a:rPr>
              <a:t>It occurs inside a critical section</a:t>
            </a:r>
          </a:p>
          <a:p>
            <a:endParaRPr lang="en-US" sz="2400" dirty="0">
              <a:solidFill>
                <a:schemeClr val="tx1"/>
              </a:solidFill>
              <a:latin typeface="Times New Roman" panose="02020603050405020304" pitchFamily="18" charset="0"/>
              <a:cs typeface="Times New Roman" panose="02020603050405020304" pitchFamily="18" charset="0"/>
            </a:endParaRPr>
          </a:p>
          <a:p>
            <a:r>
              <a:rPr lang="en-US" sz="2400" dirty="0">
                <a:solidFill>
                  <a:schemeClr val="tx1"/>
                </a:solidFill>
                <a:latin typeface="Times New Roman" panose="02020603050405020304" pitchFamily="18" charset="0"/>
                <a:cs typeface="Times New Roman" panose="02020603050405020304" pitchFamily="18" charset="0"/>
              </a:rPr>
              <a:t>This happens when the result of multiple thread execution in critical section differs according to the order in which the threads execute</a:t>
            </a:r>
          </a:p>
          <a:p>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9900A70-A1A7-75A5-D56C-579B74593BFD}"/>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0457681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6DBE5-4CB8-4017-8C9F-1FFD39806BF1}"/>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Race Condition (contd.)</a:t>
            </a:r>
          </a:p>
        </p:txBody>
      </p:sp>
      <p:sp>
        <p:nvSpPr>
          <p:cNvPr id="3" name="Content Placeholder 2">
            <a:extLst>
              <a:ext uri="{FF2B5EF4-FFF2-40B4-BE49-F238E27FC236}">
                <a16:creationId xmlns:a16="http://schemas.microsoft.com/office/drawing/2014/main" id="{65912A47-6BBD-4677-B321-0A9B5BCA64A0}"/>
              </a:ext>
            </a:extLst>
          </p:cNvPr>
          <p:cNvSpPr>
            <a:spLocks noGrp="1"/>
          </p:cNvSpPr>
          <p:nvPr>
            <p:ph idx="1"/>
          </p:nvPr>
        </p:nvSpPr>
        <p:spPr>
          <a:xfrm>
            <a:off x="2589212" y="1405719"/>
            <a:ext cx="8915400" cy="5452281"/>
          </a:xfrm>
        </p:spPr>
        <p:txBody>
          <a:bodyPr>
            <a:normAutofit lnSpcReduction="10000"/>
          </a:bodyPr>
          <a:lstStyle/>
          <a:p>
            <a:pPr>
              <a:lnSpc>
                <a:spcPct val="90000"/>
              </a:lnSpc>
            </a:pPr>
            <a:r>
              <a:rPr lang="en-US" altLang="en-US" sz="2000" b="1" dirty="0">
                <a:solidFill>
                  <a:schemeClr val="tx1"/>
                </a:solidFill>
                <a:latin typeface="Times New Roman" panose="02020603050405020304" pitchFamily="18" charset="0"/>
                <a:cs typeface="Times New Roman" panose="02020603050405020304" pitchFamily="18" charset="0"/>
              </a:rPr>
              <a:t>counter++ </a:t>
            </a:r>
            <a:r>
              <a:rPr lang="en-US" altLang="en-US" sz="2000" dirty="0">
                <a:solidFill>
                  <a:schemeClr val="tx1"/>
                </a:solidFill>
                <a:latin typeface="Times New Roman" panose="02020603050405020304" pitchFamily="18" charset="0"/>
                <a:cs typeface="Times New Roman" panose="02020603050405020304" pitchFamily="18" charset="0"/>
              </a:rPr>
              <a:t>could be implemented as</a:t>
            </a:r>
            <a:br>
              <a:rPr lang="en-US" altLang="en-US" sz="2000" dirty="0">
                <a:solidFill>
                  <a:schemeClr val="tx1"/>
                </a:solidFill>
                <a:latin typeface="Times New Roman" panose="02020603050405020304" pitchFamily="18" charset="0"/>
                <a:cs typeface="Times New Roman" panose="02020603050405020304" pitchFamily="18" charset="0"/>
              </a:rPr>
            </a:br>
            <a:br>
              <a:rPr lang="en-US" altLang="en-US" sz="2000" dirty="0">
                <a:solidFill>
                  <a:schemeClr val="tx1"/>
                </a:solidFill>
                <a:latin typeface="Times New Roman" panose="02020603050405020304" pitchFamily="18" charset="0"/>
                <a:cs typeface="Times New Roman" panose="02020603050405020304" pitchFamily="18" charset="0"/>
              </a:rPr>
            </a:br>
            <a:r>
              <a:rPr lang="en-US" altLang="en-US" sz="2000" b="1" dirty="0">
                <a:solidFill>
                  <a:schemeClr val="tx1"/>
                </a:solidFill>
                <a:latin typeface="Times New Roman" panose="02020603050405020304" pitchFamily="18" charset="0"/>
                <a:cs typeface="Times New Roman" panose="02020603050405020304" pitchFamily="18" charset="0"/>
              </a:rPr>
              <a:t>     register1 = counter</a:t>
            </a:r>
            <a:br>
              <a:rPr lang="en-US" altLang="en-US" sz="2000" b="1" dirty="0">
                <a:solidFill>
                  <a:schemeClr val="tx1"/>
                </a:solidFill>
                <a:latin typeface="Times New Roman" panose="02020603050405020304" pitchFamily="18" charset="0"/>
                <a:cs typeface="Times New Roman" panose="02020603050405020304" pitchFamily="18" charset="0"/>
              </a:rPr>
            </a:br>
            <a:r>
              <a:rPr lang="en-US" altLang="en-US" sz="2000" b="1" dirty="0">
                <a:solidFill>
                  <a:schemeClr val="tx1"/>
                </a:solidFill>
                <a:latin typeface="Times New Roman" panose="02020603050405020304" pitchFamily="18" charset="0"/>
                <a:cs typeface="Times New Roman" panose="02020603050405020304" pitchFamily="18" charset="0"/>
              </a:rPr>
              <a:t>     register1 = register1 + 1</a:t>
            </a:r>
            <a:br>
              <a:rPr lang="en-US" altLang="en-US" sz="2000" b="1" dirty="0">
                <a:solidFill>
                  <a:schemeClr val="tx1"/>
                </a:solidFill>
                <a:latin typeface="Times New Roman" panose="02020603050405020304" pitchFamily="18" charset="0"/>
                <a:cs typeface="Times New Roman" panose="02020603050405020304" pitchFamily="18" charset="0"/>
              </a:rPr>
            </a:br>
            <a:r>
              <a:rPr lang="en-US" altLang="en-US" sz="2000" b="1" dirty="0">
                <a:solidFill>
                  <a:schemeClr val="tx1"/>
                </a:solidFill>
                <a:latin typeface="Times New Roman" panose="02020603050405020304" pitchFamily="18" charset="0"/>
                <a:cs typeface="Times New Roman" panose="02020603050405020304" pitchFamily="18" charset="0"/>
              </a:rPr>
              <a:t>     counter = register1</a:t>
            </a:r>
            <a:endParaRPr lang="en-US" altLang="en-US" sz="2000" dirty="0">
              <a:solidFill>
                <a:schemeClr val="tx1"/>
              </a:solidFill>
              <a:latin typeface="Times New Roman" panose="02020603050405020304" pitchFamily="18" charset="0"/>
              <a:cs typeface="Times New Roman" panose="02020603050405020304" pitchFamily="18" charset="0"/>
            </a:endParaRPr>
          </a:p>
          <a:p>
            <a:pPr>
              <a:lnSpc>
                <a:spcPct val="90000"/>
              </a:lnSpc>
            </a:pPr>
            <a:r>
              <a:rPr lang="en-US" altLang="en-US" sz="2000" b="1" dirty="0">
                <a:solidFill>
                  <a:schemeClr val="tx1"/>
                </a:solidFill>
                <a:latin typeface="Times New Roman" panose="02020603050405020304" pitchFamily="18" charset="0"/>
                <a:cs typeface="Times New Roman" panose="02020603050405020304" pitchFamily="18" charset="0"/>
              </a:rPr>
              <a:t>counter-- </a:t>
            </a:r>
            <a:r>
              <a:rPr lang="en-US" altLang="en-US" sz="2000" dirty="0">
                <a:solidFill>
                  <a:schemeClr val="tx1"/>
                </a:solidFill>
                <a:latin typeface="Times New Roman" panose="02020603050405020304" pitchFamily="18" charset="0"/>
                <a:cs typeface="Times New Roman" panose="02020603050405020304" pitchFamily="18" charset="0"/>
              </a:rPr>
              <a:t>could be implemented as</a:t>
            </a:r>
            <a:br>
              <a:rPr lang="en-US" altLang="en-US" sz="2000" dirty="0">
                <a:solidFill>
                  <a:schemeClr val="tx1"/>
                </a:solidFill>
                <a:latin typeface="Times New Roman" panose="02020603050405020304" pitchFamily="18" charset="0"/>
                <a:cs typeface="Times New Roman" panose="02020603050405020304" pitchFamily="18" charset="0"/>
              </a:rPr>
            </a:br>
            <a:br>
              <a:rPr lang="en-US" altLang="en-US" sz="2000" dirty="0">
                <a:solidFill>
                  <a:schemeClr val="tx1"/>
                </a:solidFill>
                <a:latin typeface="Times New Roman" panose="02020603050405020304" pitchFamily="18" charset="0"/>
                <a:cs typeface="Times New Roman" panose="02020603050405020304" pitchFamily="18" charset="0"/>
              </a:rPr>
            </a:br>
            <a:r>
              <a:rPr lang="en-US" altLang="en-US" sz="2000" b="1" dirty="0">
                <a:solidFill>
                  <a:schemeClr val="tx1"/>
                </a:solidFill>
                <a:latin typeface="Times New Roman" panose="02020603050405020304" pitchFamily="18" charset="0"/>
                <a:cs typeface="Times New Roman" panose="02020603050405020304" pitchFamily="18" charset="0"/>
              </a:rPr>
              <a:t>     register2 = counter</a:t>
            </a:r>
            <a:br>
              <a:rPr lang="en-US" altLang="en-US" sz="2000" b="1" dirty="0">
                <a:solidFill>
                  <a:schemeClr val="tx1"/>
                </a:solidFill>
                <a:latin typeface="Times New Roman" panose="02020603050405020304" pitchFamily="18" charset="0"/>
                <a:cs typeface="Times New Roman" panose="02020603050405020304" pitchFamily="18" charset="0"/>
              </a:rPr>
            </a:br>
            <a:r>
              <a:rPr lang="en-US" altLang="en-US" sz="2000" b="1" dirty="0">
                <a:solidFill>
                  <a:schemeClr val="tx1"/>
                </a:solidFill>
                <a:latin typeface="Times New Roman" panose="02020603050405020304" pitchFamily="18" charset="0"/>
                <a:cs typeface="Times New Roman" panose="02020603050405020304" pitchFamily="18" charset="0"/>
              </a:rPr>
              <a:t>     register2 = register2 - 1</a:t>
            </a:r>
            <a:br>
              <a:rPr lang="en-US" altLang="en-US" sz="2000" b="1" dirty="0">
                <a:solidFill>
                  <a:schemeClr val="tx1"/>
                </a:solidFill>
                <a:latin typeface="Times New Roman" panose="02020603050405020304" pitchFamily="18" charset="0"/>
                <a:cs typeface="Times New Roman" panose="02020603050405020304" pitchFamily="18" charset="0"/>
              </a:rPr>
            </a:br>
            <a:r>
              <a:rPr lang="en-US" altLang="en-US" sz="2000" b="1" dirty="0">
                <a:solidFill>
                  <a:schemeClr val="tx1"/>
                </a:solidFill>
                <a:latin typeface="Times New Roman" panose="02020603050405020304" pitchFamily="18" charset="0"/>
                <a:cs typeface="Times New Roman" panose="02020603050405020304" pitchFamily="18" charset="0"/>
              </a:rPr>
              <a:t>     counter = register2</a:t>
            </a:r>
          </a:p>
          <a:p>
            <a:pPr>
              <a:lnSpc>
                <a:spcPct val="90000"/>
              </a:lnSpc>
              <a:buFont typeface="Monotype Sorts" pitchFamily="-84" charset="2"/>
              <a:buNone/>
            </a:pPr>
            <a:endParaRPr lang="en-US" altLang="en-US" sz="2000" dirty="0">
              <a:solidFill>
                <a:schemeClr val="tx1"/>
              </a:solidFill>
              <a:latin typeface="Times New Roman" panose="02020603050405020304" pitchFamily="18" charset="0"/>
              <a:cs typeface="Times New Roman" panose="02020603050405020304" pitchFamily="18" charset="0"/>
            </a:endParaRPr>
          </a:p>
          <a:p>
            <a:pPr>
              <a:lnSpc>
                <a:spcPct val="90000"/>
              </a:lnSpc>
            </a:pPr>
            <a:r>
              <a:rPr lang="en-US" altLang="en-US" sz="2000" dirty="0">
                <a:solidFill>
                  <a:schemeClr val="tx1"/>
                </a:solidFill>
                <a:latin typeface="Times New Roman" panose="02020603050405020304" pitchFamily="18" charset="0"/>
                <a:cs typeface="Times New Roman" panose="02020603050405020304" pitchFamily="18" charset="0"/>
              </a:rPr>
              <a:t>Consider this execution interleaving with </a:t>
            </a:r>
            <a:r>
              <a:rPr lang="ja-JP" altLang="en-US" sz="2000" dirty="0">
                <a:solidFill>
                  <a:schemeClr val="tx1"/>
                </a:solidFill>
                <a:latin typeface="Times New Roman" panose="02020603050405020304" pitchFamily="18" charset="0"/>
                <a:cs typeface="Times New Roman" panose="02020603050405020304" pitchFamily="18" charset="0"/>
              </a:rPr>
              <a:t>“</a:t>
            </a:r>
            <a:r>
              <a:rPr lang="en-US" altLang="ja-JP" sz="2000" dirty="0">
                <a:solidFill>
                  <a:schemeClr val="tx1"/>
                </a:solidFill>
                <a:latin typeface="Times New Roman" panose="02020603050405020304" pitchFamily="18" charset="0"/>
                <a:cs typeface="Times New Roman" panose="02020603050405020304" pitchFamily="18" charset="0"/>
              </a:rPr>
              <a:t>count = 5</a:t>
            </a:r>
            <a:r>
              <a:rPr lang="ja-JP" altLang="en-US" sz="2000" dirty="0">
                <a:solidFill>
                  <a:schemeClr val="tx1"/>
                </a:solidFill>
                <a:latin typeface="Times New Roman" panose="02020603050405020304" pitchFamily="18" charset="0"/>
                <a:cs typeface="Times New Roman" panose="02020603050405020304" pitchFamily="18" charset="0"/>
              </a:rPr>
              <a:t>”</a:t>
            </a:r>
            <a:r>
              <a:rPr lang="en-US" altLang="ja-JP" sz="2000" dirty="0">
                <a:solidFill>
                  <a:schemeClr val="tx1"/>
                </a:solidFill>
                <a:latin typeface="Times New Roman" panose="02020603050405020304" pitchFamily="18" charset="0"/>
                <a:cs typeface="Times New Roman" panose="02020603050405020304" pitchFamily="18" charset="0"/>
              </a:rPr>
              <a:t> initially:</a:t>
            </a:r>
          </a:p>
          <a:p>
            <a:pPr lvl="1">
              <a:lnSpc>
                <a:spcPct val="90000"/>
              </a:lnSpc>
              <a:buFont typeface="Monotype Sorts" pitchFamily="-84" charset="2"/>
              <a:buNone/>
            </a:pPr>
            <a:r>
              <a:rPr lang="en-US" altLang="en-US" sz="2000" dirty="0">
                <a:solidFill>
                  <a:schemeClr val="tx1"/>
                </a:solidFill>
                <a:latin typeface="Times New Roman" panose="02020603050405020304" pitchFamily="18" charset="0"/>
                <a:cs typeface="Times New Roman" panose="02020603050405020304" pitchFamily="18" charset="0"/>
              </a:rPr>
              <a:t>	S0: producer execute </a:t>
            </a:r>
            <a:r>
              <a:rPr lang="en-US" altLang="en-US" sz="2000" b="1" dirty="0">
                <a:solidFill>
                  <a:schemeClr val="tx1"/>
                </a:solidFill>
                <a:latin typeface="Times New Roman" panose="02020603050405020304" pitchFamily="18" charset="0"/>
                <a:cs typeface="Times New Roman" panose="02020603050405020304" pitchFamily="18" charset="0"/>
              </a:rPr>
              <a:t>register1 = counter         </a:t>
            </a:r>
            <a:r>
              <a:rPr lang="en-US" altLang="en-US" sz="2000" dirty="0">
                <a:solidFill>
                  <a:schemeClr val="tx1"/>
                </a:solidFill>
                <a:latin typeface="Times New Roman" panose="02020603050405020304" pitchFamily="18" charset="0"/>
                <a:cs typeface="Times New Roman" panose="02020603050405020304" pitchFamily="18" charset="0"/>
              </a:rPr>
              <a:t>{register1 = 5}</a:t>
            </a:r>
            <a:br>
              <a:rPr lang="en-US" altLang="en-US" sz="2000" dirty="0">
                <a:solidFill>
                  <a:schemeClr val="tx1"/>
                </a:solidFill>
                <a:latin typeface="Times New Roman" panose="02020603050405020304" pitchFamily="18" charset="0"/>
                <a:cs typeface="Times New Roman" panose="02020603050405020304" pitchFamily="18" charset="0"/>
              </a:rPr>
            </a:br>
            <a:r>
              <a:rPr lang="en-US" altLang="en-US" sz="2000" dirty="0">
                <a:solidFill>
                  <a:schemeClr val="tx1"/>
                </a:solidFill>
                <a:latin typeface="Times New Roman" panose="02020603050405020304" pitchFamily="18" charset="0"/>
                <a:cs typeface="Times New Roman" panose="02020603050405020304" pitchFamily="18" charset="0"/>
              </a:rPr>
              <a:t>S1: producer execute </a:t>
            </a:r>
            <a:r>
              <a:rPr lang="en-US" altLang="en-US" sz="2000" b="1" dirty="0">
                <a:solidFill>
                  <a:schemeClr val="tx1"/>
                </a:solidFill>
                <a:latin typeface="Times New Roman" panose="02020603050405020304" pitchFamily="18" charset="0"/>
                <a:cs typeface="Times New Roman" panose="02020603050405020304" pitchFamily="18" charset="0"/>
              </a:rPr>
              <a:t>register1 = register1 + 1   </a:t>
            </a:r>
            <a:r>
              <a:rPr lang="en-US" altLang="en-US" sz="2000" dirty="0">
                <a:solidFill>
                  <a:schemeClr val="tx1"/>
                </a:solidFill>
                <a:latin typeface="Times New Roman" panose="02020603050405020304" pitchFamily="18" charset="0"/>
                <a:cs typeface="Times New Roman" panose="02020603050405020304" pitchFamily="18" charset="0"/>
              </a:rPr>
              <a:t>{register1 = 6} </a:t>
            </a:r>
            <a:br>
              <a:rPr lang="en-US" altLang="en-US" sz="2000" dirty="0">
                <a:solidFill>
                  <a:schemeClr val="tx1"/>
                </a:solidFill>
                <a:latin typeface="Times New Roman" panose="02020603050405020304" pitchFamily="18" charset="0"/>
                <a:cs typeface="Times New Roman" panose="02020603050405020304" pitchFamily="18" charset="0"/>
              </a:rPr>
            </a:br>
            <a:r>
              <a:rPr lang="en-US" altLang="en-US" sz="2000" dirty="0">
                <a:solidFill>
                  <a:schemeClr val="tx1"/>
                </a:solidFill>
                <a:latin typeface="Times New Roman" panose="02020603050405020304" pitchFamily="18" charset="0"/>
                <a:cs typeface="Times New Roman" panose="02020603050405020304" pitchFamily="18" charset="0"/>
              </a:rPr>
              <a:t>S2: consumer execute </a:t>
            </a:r>
            <a:r>
              <a:rPr lang="en-US" altLang="en-US" sz="2000" b="1" dirty="0">
                <a:solidFill>
                  <a:schemeClr val="tx1"/>
                </a:solidFill>
                <a:latin typeface="Times New Roman" panose="02020603050405020304" pitchFamily="18" charset="0"/>
                <a:cs typeface="Times New Roman" panose="02020603050405020304" pitchFamily="18" charset="0"/>
              </a:rPr>
              <a:t>register2 = counter        </a:t>
            </a:r>
            <a:r>
              <a:rPr lang="en-US" altLang="en-US" sz="2000" dirty="0">
                <a:solidFill>
                  <a:schemeClr val="tx1"/>
                </a:solidFill>
                <a:latin typeface="Times New Roman" panose="02020603050405020304" pitchFamily="18" charset="0"/>
                <a:cs typeface="Times New Roman" panose="02020603050405020304" pitchFamily="18" charset="0"/>
              </a:rPr>
              <a:t>{register2 = 5} </a:t>
            </a:r>
            <a:br>
              <a:rPr lang="en-US" altLang="en-US" sz="2000" dirty="0">
                <a:solidFill>
                  <a:schemeClr val="tx1"/>
                </a:solidFill>
                <a:latin typeface="Times New Roman" panose="02020603050405020304" pitchFamily="18" charset="0"/>
                <a:cs typeface="Times New Roman" panose="02020603050405020304" pitchFamily="18" charset="0"/>
              </a:rPr>
            </a:br>
            <a:r>
              <a:rPr lang="en-US" altLang="en-US" sz="2000" dirty="0">
                <a:solidFill>
                  <a:schemeClr val="tx1"/>
                </a:solidFill>
                <a:latin typeface="Times New Roman" panose="02020603050405020304" pitchFamily="18" charset="0"/>
                <a:cs typeface="Times New Roman" panose="02020603050405020304" pitchFamily="18" charset="0"/>
              </a:rPr>
              <a:t>S3: consumer execute </a:t>
            </a:r>
            <a:r>
              <a:rPr lang="en-US" altLang="en-US" sz="2000" b="1" dirty="0">
                <a:solidFill>
                  <a:schemeClr val="tx1"/>
                </a:solidFill>
                <a:latin typeface="Times New Roman" panose="02020603050405020304" pitchFamily="18" charset="0"/>
                <a:cs typeface="Times New Roman" panose="02020603050405020304" pitchFamily="18" charset="0"/>
              </a:rPr>
              <a:t>register2 = register2 – 1  </a:t>
            </a:r>
            <a:r>
              <a:rPr lang="en-US" altLang="en-US" sz="2000" dirty="0">
                <a:solidFill>
                  <a:schemeClr val="tx1"/>
                </a:solidFill>
                <a:latin typeface="Times New Roman" panose="02020603050405020304" pitchFamily="18" charset="0"/>
                <a:cs typeface="Times New Roman" panose="02020603050405020304" pitchFamily="18" charset="0"/>
              </a:rPr>
              <a:t>{register2 = 4} </a:t>
            </a:r>
            <a:br>
              <a:rPr lang="en-US" altLang="en-US" sz="2000" dirty="0">
                <a:solidFill>
                  <a:schemeClr val="tx1"/>
                </a:solidFill>
                <a:latin typeface="Times New Roman" panose="02020603050405020304" pitchFamily="18" charset="0"/>
                <a:cs typeface="Times New Roman" panose="02020603050405020304" pitchFamily="18" charset="0"/>
              </a:rPr>
            </a:br>
            <a:r>
              <a:rPr lang="en-US" altLang="en-US" sz="2000" dirty="0">
                <a:solidFill>
                  <a:schemeClr val="tx1"/>
                </a:solidFill>
                <a:latin typeface="Times New Roman" panose="02020603050405020304" pitchFamily="18" charset="0"/>
                <a:cs typeface="Times New Roman" panose="02020603050405020304" pitchFamily="18" charset="0"/>
              </a:rPr>
              <a:t>S4: producer execute </a:t>
            </a:r>
            <a:r>
              <a:rPr lang="en-US" altLang="en-US" sz="2000" b="1" dirty="0">
                <a:solidFill>
                  <a:schemeClr val="tx1"/>
                </a:solidFill>
                <a:latin typeface="Times New Roman" panose="02020603050405020304" pitchFamily="18" charset="0"/>
                <a:cs typeface="Times New Roman" panose="02020603050405020304" pitchFamily="18" charset="0"/>
              </a:rPr>
              <a:t>counter = register1         </a:t>
            </a:r>
            <a:r>
              <a:rPr lang="en-US" altLang="en-US" sz="2000" dirty="0">
                <a:solidFill>
                  <a:schemeClr val="tx1"/>
                </a:solidFill>
                <a:latin typeface="Times New Roman" panose="02020603050405020304" pitchFamily="18" charset="0"/>
                <a:cs typeface="Times New Roman" panose="02020603050405020304" pitchFamily="18" charset="0"/>
              </a:rPr>
              <a:t>{counter = 6 } </a:t>
            </a:r>
            <a:br>
              <a:rPr lang="en-US" altLang="en-US" sz="2000" dirty="0">
                <a:solidFill>
                  <a:schemeClr val="tx1"/>
                </a:solidFill>
                <a:latin typeface="Times New Roman" panose="02020603050405020304" pitchFamily="18" charset="0"/>
                <a:cs typeface="Times New Roman" panose="02020603050405020304" pitchFamily="18" charset="0"/>
              </a:rPr>
            </a:br>
            <a:r>
              <a:rPr lang="en-US" altLang="en-US" sz="2000" dirty="0">
                <a:solidFill>
                  <a:schemeClr val="tx1"/>
                </a:solidFill>
                <a:latin typeface="Times New Roman" panose="02020603050405020304" pitchFamily="18" charset="0"/>
                <a:cs typeface="Times New Roman" panose="02020603050405020304" pitchFamily="18" charset="0"/>
              </a:rPr>
              <a:t>S5: consumer execute </a:t>
            </a:r>
            <a:r>
              <a:rPr lang="en-US" altLang="en-US" sz="2000" b="1" dirty="0">
                <a:solidFill>
                  <a:schemeClr val="tx1"/>
                </a:solidFill>
                <a:latin typeface="Times New Roman" panose="02020603050405020304" pitchFamily="18" charset="0"/>
                <a:cs typeface="Times New Roman" panose="02020603050405020304" pitchFamily="18" charset="0"/>
              </a:rPr>
              <a:t>counter = register2        </a:t>
            </a:r>
            <a:r>
              <a:rPr lang="en-US" altLang="en-US" sz="2000" dirty="0">
                <a:solidFill>
                  <a:schemeClr val="tx1"/>
                </a:solidFill>
                <a:latin typeface="Times New Roman" panose="02020603050405020304" pitchFamily="18" charset="0"/>
                <a:cs typeface="Times New Roman" panose="02020603050405020304" pitchFamily="18" charset="0"/>
              </a:rPr>
              <a:t>{counter = 4}</a:t>
            </a:r>
          </a:p>
          <a:p>
            <a:endParaRPr lang="en-US" dirty="0"/>
          </a:p>
        </p:txBody>
      </p:sp>
      <p:sp>
        <p:nvSpPr>
          <p:cNvPr id="4" name="Footer Placeholder 3">
            <a:extLst>
              <a:ext uri="{FF2B5EF4-FFF2-40B4-BE49-F238E27FC236}">
                <a16:creationId xmlns:a16="http://schemas.microsoft.com/office/drawing/2014/main" id="{A0721A7D-ACC4-0066-242F-81427EBF0F0B}"/>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745875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E6F0-6DD5-472F-921C-99F08270ED8B}"/>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Implementing Mutual Exclusion</a:t>
            </a:r>
          </a:p>
        </p:txBody>
      </p:sp>
      <p:sp>
        <p:nvSpPr>
          <p:cNvPr id="3" name="Content Placeholder 2">
            <a:extLst>
              <a:ext uri="{FF2B5EF4-FFF2-40B4-BE49-F238E27FC236}">
                <a16:creationId xmlns:a16="http://schemas.microsoft.com/office/drawing/2014/main" id="{AB8BE544-4C25-440A-B2A8-9CA0585F1198}"/>
              </a:ext>
            </a:extLst>
          </p:cNvPr>
          <p:cNvSpPr>
            <a:spLocks noGrp="1"/>
          </p:cNvSpPr>
          <p:nvPr>
            <p:ph idx="1"/>
          </p:nvPr>
        </p:nvSpPr>
        <p:spPr>
          <a:xfrm>
            <a:off x="2306472" y="1264555"/>
            <a:ext cx="9198140" cy="5340961"/>
          </a:xfrm>
        </p:spPr>
        <p:txBody>
          <a:bodyPr>
            <a:normAutofit fontScale="92500" lnSpcReduction="10000"/>
          </a:bodyPr>
          <a:lstStyle/>
          <a:p>
            <a:pPr marL="0" indent="0">
              <a:buNone/>
            </a:pPr>
            <a:r>
              <a:rPr lang="en-US" sz="2800" dirty="0">
                <a:solidFill>
                  <a:schemeClr val="tx1"/>
                </a:solidFill>
                <a:latin typeface="Times New Roman" panose="02020603050405020304" pitchFamily="18" charset="0"/>
                <a:cs typeface="Times New Roman" panose="02020603050405020304" pitchFamily="18" charset="0"/>
              </a:rPr>
              <a:t>Prohibiting more than one process from reading writing the same data at the same time</a:t>
            </a:r>
          </a:p>
          <a:p>
            <a:r>
              <a:rPr lang="en-US" sz="2400" dirty="0">
                <a:solidFill>
                  <a:schemeClr val="tx1"/>
                </a:solidFill>
                <a:latin typeface="Times New Roman" panose="02020603050405020304" pitchFamily="18" charset="0"/>
                <a:cs typeface="Times New Roman" panose="02020603050405020304" pitchFamily="18" charset="0"/>
              </a:rPr>
              <a:t>How to Manage Race Condition</a:t>
            </a:r>
          </a:p>
          <a:p>
            <a:pPr marL="804863">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Mutual Exclusion with Busy Waiting </a:t>
            </a:r>
          </a:p>
          <a:p>
            <a:pPr marL="1309688">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Lock Variable</a:t>
            </a:r>
          </a:p>
          <a:p>
            <a:pPr marL="1309688">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Interrupt Disabling</a:t>
            </a:r>
          </a:p>
          <a:p>
            <a:pPr marL="1309688">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Strict Alteration</a:t>
            </a:r>
          </a:p>
          <a:p>
            <a:pPr marL="1309688">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Peterson’s Algorithm</a:t>
            </a:r>
          </a:p>
          <a:p>
            <a:pPr marL="1309688">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Test and Set Lock</a:t>
            </a:r>
          </a:p>
          <a:p>
            <a:pPr marL="736600">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Mutual Exclusion without Busy Waiting </a:t>
            </a:r>
          </a:p>
          <a:p>
            <a:pPr marL="1309688">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Sleep and wakeup </a:t>
            </a:r>
          </a:p>
          <a:p>
            <a:pPr marL="1309688">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Semaphore </a:t>
            </a:r>
          </a:p>
          <a:p>
            <a:pPr marL="0" indent="0">
              <a:buNone/>
            </a:pPr>
            <a:endParaRPr lang="en-US" sz="2800" dirty="0">
              <a:solidFill>
                <a:schemeClr val="tx1"/>
              </a:solidFill>
              <a:latin typeface="Times New Roman" panose="02020603050405020304" pitchFamily="18" charset="0"/>
              <a:cs typeface="Times New Roman" panose="02020603050405020304" pitchFamily="18" charset="0"/>
            </a:endParaRPr>
          </a:p>
          <a:p>
            <a:pPr marL="0" indent="0">
              <a:buNone/>
            </a:pPr>
            <a:endParaRPr lang="en-US" sz="21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81C6913E-231E-CA29-EAE9-EA598E7AD42A}"/>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778975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AA309-EC0C-475D-950A-5104932F47F8}"/>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ME with Busy Waiting</a:t>
            </a:r>
          </a:p>
        </p:txBody>
      </p:sp>
      <p:sp>
        <p:nvSpPr>
          <p:cNvPr id="3" name="Content Placeholder 2">
            <a:extLst>
              <a:ext uri="{FF2B5EF4-FFF2-40B4-BE49-F238E27FC236}">
                <a16:creationId xmlns:a16="http://schemas.microsoft.com/office/drawing/2014/main" id="{50CA354B-E150-478B-B961-842D0D628316}"/>
              </a:ext>
            </a:extLst>
          </p:cNvPr>
          <p:cNvSpPr>
            <a:spLocks noGrp="1"/>
          </p:cNvSpPr>
          <p:nvPr>
            <p:ph idx="1"/>
          </p:nvPr>
        </p:nvSpPr>
        <p:spPr>
          <a:xfrm>
            <a:off x="2589211" y="1540188"/>
            <a:ext cx="9106919" cy="5106271"/>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Continuously testing a variable until some value appears is called busy waiting</a:t>
            </a:r>
          </a:p>
          <a:p>
            <a:r>
              <a:rPr lang="en-US" sz="2000" dirty="0">
                <a:solidFill>
                  <a:schemeClr val="tx1"/>
                </a:solidFill>
                <a:latin typeface="Times New Roman" panose="02020603050405020304" pitchFamily="18" charset="0"/>
                <a:cs typeface="Times New Roman" panose="02020603050405020304" pitchFamily="18" charset="0"/>
              </a:rPr>
              <a:t>If the entry is allowed it execute else it sits in tight loop and waits</a:t>
            </a:r>
          </a:p>
          <a:p>
            <a:r>
              <a:rPr lang="en-US" sz="2000" dirty="0">
                <a:solidFill>
                  <a:schemeClr val="tx1"/>
                </a:solidFill>
                <a:latin typeface="Times New Roman" panose="02020603050405020304" pitchFamily="18" charset="0"/>
                <a:cs typeface="Times New Roman" panose="02020603050405020304" pitchFamily="18" charset="0"/>
              </a:rPr>
              <a:t>Busy-waiting: consumption of CPU cycles while a thread is waiting for a lock</a:t>
            </a:r>
          </a:p>
          <a:p>
            <a:pPr marL="8048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Very inefficient </a:t>
            </a:r>
          </a:p>
          <a:p>
            <a:pPr marL="8048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Can be avoided with a waiting queue</a:t>
            </a:r>
          </a:p>
          <a:p>
            <a:pPr marL="461963" indent="0">
              <a:buNone/>
            </a:pPr>
            <a:endParaRPr lang="en-US" sz="2000" dirty="0">
              <a:solidFill>
                <a:schemeClr val="tx1"/>
              </a:solidFill>
              <a:latin typeface="Times New Roman" panose="02020603050405020304" pitchFamily="18" charset="0"/>
              <a:cs typeface="Times New Roman" panose="02020603050405020304" pitchFamily="18" charset="0"/>
            </a:endParaRPr>
          </a:p>
          <a:p>
            <a:r>
              <a:rPr lang="en-US" sz="2400" b="1" u="sng" dirty="0">
                <a:solidFill>
                  <a:schemeClr val="tx1"/>
                </a:solidFill>
                <a:latin typeface="Times New Roman" panose="02020603050405020304" pitchFamily="18" charset="0"/>
                <a:cs typeface="Times New Roman" panose="02020603050405020304" pitchFamily="18" charset="0"/>
              </a:rPr>
              <a:t>Interrupt Disabling</a:t>
            </a:r>
          </a:p>
          <a:p>
            <a:pPr marL="8048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Each process disable all interrupts just after entering its CR and reenable them just before leaving it</a:t>
            </a:r>
          </a:p>
          <a:p>
            <a:pPr marL="8048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No clock interrupt, no other interrupt, no CPU switching to other process until the process turn on the interrupt</a:t>
            </a:r>
          </a:p>
        </p:txBody>
      </p:sp>
      <p:sp>
        <p:nvSpPr>
          <p:cNvPr id="4" name="Footer Placeholder 3">
            <a:extLst>
              <a:ext uri="{FF2B5EF4-FFF2-40B4-BE49-F238E27FC236}">
                <a16:creationId xmlns:a16="http://schemas.microsoft.com/office/drawing/2014/main" id="{EB3C08C9-FD46-3872-73A6-96DFB5212681}"/>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2441296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66CD6-20A9-4F7C-B88B-9858C9E67862}"/>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ME with Busy Waiting</a:t>
            </a:r>
            <a:endParaRPr lang="en-US" dirty="0"/>
          </a:p>
        </p:txBody>
      </p:sp>
      <p:sp>
        <p:nvSpPr>
          <p:cNvPr id="3" name="Content Placeholder 2">
            <a:extLst>
              <a:ext uri="{FF2B5EF4-FFF2-40B4-BE49-F238E27FC236}">
                <a16:creationId xmlns:a16="http://schemas.microsoft.com/office/drawing/2014/main" id="{0B97AE22-BD4A-4248-9F48-5EB4E9A09F94}"/>
              </a:ext>
            </a:extLst>
          </p:cNvPr>
          <p:cNvSpPr>
            <a:spLocks noGrp="1"/>
          </p:cNvSpPr>
          <p:nvPr>
            <p:ph idx="1"/>
          </p:nvPr>
        </p:nvSpPr>
        <p:spPr>
          <a:xfrm>
            <a:off x="2589212" y="1423915"/>
            <a:ext cx="8915400" cy="5290783"/>
          </a:xfrm>
        </p:spPr>
        <p:txBody>
          <a:bodyPr/>
          <a:lstStyle/>
          <a:p>
            <a:r>
              <a:rPr lang="en-US" sz="2400" b="1" u="sng" dirty="0">
                <a:solidFill>
                  <a:schemeClr val="tx1"/>
                </a:solidFill>
                <a:latin typeface="Times New Roman" panose="02020603050405020304" pitchFamily="18" charset="0"/>
                <a:cs typeface="Times New Roman" panose="02020603050405020304" pitchFamily="18" charset="0"/>
              </a:rPr>
              <a:t>Lock Variable</a:t>
            </a:r>
          </a:p>
          <a:p>
            <a:pPr marL="6270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A single, shared (lock) variable, initially 0. When a process wants to enter its CR, it first test the lock. If the lock is 0, the process set it to 1 and enters the CR. If the lock is already 1, the process just waits until it becomes 0.</a:t>
            </a:r>
          </a:p>
          <a:p>
            <a:endParaRPr lang="en-US" sz="2400" b="1" u="sng" dirty="0">
              <a:solidFill>
                <a:schemeClr val="tx1"/>
              </a:solidFill>
              <a:latin typeface="Times New Roman" panose="02020603050405020304" pitchFamily="18" charset="0"/>
              <a:cs typeface="Times New Roman" panose="02020603050405020304" pitchFamily="18" charset="0"/>
            </a:endParaRPr>
          </a:p>
          <a:p>
            <a:r>
              <a:rPr lang="en-US" sz="2400" b="1" u="sng" dirty="0">
                <a:solidFill>
                  <a:schemeClr val="tx1"/>
                </a:solidFill>
                <a:latin typeface="Times New Roman" panose="02020603050405020304" pitchFamily="18" charset="0"/>
                <a:cs typeface="Times New Roman" panose="02020603050405020304" pitchFamily="18" charset="0"/>
              </a:rPr>
              <a:t>Strict Alteration</a:t>
            </a:r>
          </a:p>
          <a:p>
            <a:pPr marL="627063">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Processes share a common integer variable turn. </a:t>
            </a:r>
          </a:p>
          <a:p>
            <a:pPr marL="1023938">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If turn == </a:t>
            </a:r>
            <a:r>
              <a:rPr lang="en-US" sz="2400" dirty="0" err="1">
                <a:solidFill>
                  <a:schemeClr val="tx1"/>
                </a:solidFill>
                <a:latin typeface="Times New Roman" panose="02020603050405020304" pitchFamily="18" charset="0"/>
                <a:cs typeface="Times New Roman" panose="02020603050405020304" pitchFamily="18" charset="0"/>
              </a:rPr>
              <a:t>i</a:t>
            </a:r>
            <a:r>
              <a:rPr lang="en-US" sz="2400" dirty="0">
                <a:solidFill>
                  <a:schemeClr val="tx1"/>
                </a:solidFill>
                <a:latin typeface="Times New Roman" panose="02020603050405020304" pitchFamily="18" charset="0"/>
                <a:cs typeface="Times New Roman" panose="02020603050405020304" pitchFamily="18" charset="0"/>
              </a:rPr>
              <a:t> then process Pi is allowed to execute in its CR,</a:t>
            </a:r>
          </a:p>
          <a:p>
            <a:pPr marL="1023938">
              <a:buFont typeface="Wingdings" panose="05000000000000000000" pitchFamily="2" charset="2"/>
              <a:buChar char="§"/>
            </a:pPr>
            <a:r>
              <a:rPr lang="en-US" sz="2400" dirty="0">
                <a:solidFill>
                  <a:schemeClr val="tx1"/>
                </a:solidFill>
                <a:latin typeface="Times New Roman" panose="02020603050405020304" pitchFamily="18" charset="0"/>
                <a:cs typeface="Times New Roman" panose="02020603050405020304" pitchFamily="18" charset="0"/>
              </a:rPr>
              <a:t>if turn == j then process </a:t>
            </a:r>
            <a:r>
              <a:rPr lang="en-US" sz="2400" dirty="0" err="1">
                <a:solidFill>
                  <a:schemeClr val="tx1"/>
                </a:solidFill>
                <a:latin typeface="Times New Roman" panose="02020603050405020304" pitchFamily="18" charset="0"/>
                <a:cs typeface="Times New Roman" panose="02020603050405020304" pitchFamily="18" charset="0"/>
              </a:rPr>
              <a:t>Pj</a:t>
            </a:r>
            <a:r>
              <a:rPr lang="en-US" sz="2400" dirty="0">
                <a:solidFill>
                  <a:schemeClr val="tx1"/>
                </a:solidFill>
                <a:latin typeface="Times New Roman" panose="02020603050405020304" pitchFamily="18" charset="0"/>
                <a:cs typeface="Times New Roman" panose="02020603050405020304" pitchFamily="18" charset="0"/>
              </a:rPr>
              <a:t> is allowed to execute</a:t>
            </a:r>
          </a:p>
        </p:txBody>
      </p:sp>
      <p:sp>
        <p:nvSpPr>
          <p:cNvPr id="4" name="Footer Placeholder 3">
            <a:extLst>
              <a:ext uri="{FF2B5EF4-FFF2-40B4-BE49-F238E27FC236}">
                <a16:creationId xmlns:a16="http://schemas.microsoft.com/office/drawing/2014/main" id="{7CF0FFEB-2139-9585-B986-BA5641BE9454}"/>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8528824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25F24-7BF3-40F5-8E57-2E764394487D}"/>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ME with Busy Waiting</a:t>
            </a:r>
            <a:endParaRPr lang="en-US" dirty="0"/>
          </a:p>
        </p:txBody>
      </p:sp>
      <p:sp>
        <p:nvSpPr>
          <p:cNvPr id="3" name="Content Placeholder 2">
            <a:extLst>
              <a:ext uri="{FF2B5EF4-FFF2-40B4-BE49-F238E27FC236}">
                <a16:creationId xmlns:a16="http://schemas.microsoft.com/office/drawing/2014/main" id="{4CECEFB8-31FC-49D8-8FE6-4DA59715C6B6}"/>
              </a:ext>
            </a:extLst>
          </p:cNvPr>
          <p:cNvSpPr>
            <a:spLocks noGrp="1"/>
          </p:cNvSpPr>
          <p:nvPr>
            <p:ph idx="1"/>
          </p:nvPr>
        </p:nvSpPr>
        <p:spPr>
          <a:xfrm>
            <a:off x="2589212" y="1540189"/>
            <a:ext cx="8915400" cy="3777622"/>
          </a:xfrm>
        </p:spPr>
        <p:txBody>
          <a:bodyPr/>
          <a:lstStyle/>
          <a:p>
            <a:r>
              <a:rPr lang="en-US" sz="2400" b="1" u="sng" dirty="0">
                <a:solidFill>
                  <a:schemeClr val="tx1"/>
                </a:solidFill>
                <a:latin typeface="Times New Roman" panose="02020603050405020304" pitchFamily="18" charset="0"/>
                <a:cs typeface="Times New Roman" panose="02020603050405020304" pitchFamily="18" charset="0"/>
              </a:rPr>
              <a:t>Peterson’s Algorithm</a:t>
            </a:r>
          </a:p>
          <a:p>
            <a:pPr marL="682625">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Before entering its CR, each process call enter_region with its own process number, 0 or 1 as parameter.</a:t>
            </a:r>
          </a:p>
          <a:p>
            <a:pPr marL="682625">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Call will cause to wait, if need be, until it is safe to enter</a:t>
            </a:r>
          </a:p>
          <a:p>
            <a:pPr marL="682625">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When leaving CR, the process calls leave_region to indicate that it is done and to allow other process to enter CR</a:t>
            </a:r>
          </a:p>
        </p:txBody>
      </p:sp>
      <p:sp>
        <p:nvSpPr>
          <p:cNvPr id="4" name="Footer Placeholder 3">
            <a:extLst>
              <a:ext uri="{FF2B5EF4-FFF2-40B4-BE49-F238E27FC236}">
                <a16:creationId xmlns:a16="http://schemas.microsoft.com/office/drawing/2014/main" id="{235C027E-8ABC-4B6B-6E5D-961755ACCDEE}"/>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9242442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FEB78-FC81-4C58-BB56-8E32F5877ACC}"/>
              </a:ext>
            </a:extLst>
          </p:cNvPr>
          <p:cNvSpPr>
            <a:spLocks noGrp="1"/>
          </p:cNvSpPr>
          <p:nvPr>
            <p:ph type="title"/>
          </p:nvPr>
        </p:nvSpPr>
        <p:spPr/>
        <p:txBody>
          <a:bodyPr/>
          <a:lstStyle/>
          <a:p>
            <a:r>
              <a:rPr lang="en-US" sz="3600" b="1" dirty="0">
                <a:solidFill>
                  <a:schemeClr val="tx1"/>
                </a:solidFill>
                <a:latin typeface="Times New Roman" panose="02020603050405020304" pitchFamily="18" charset="0"/>
                <a:cs typeface="Times New Roman" panose="02020603050405020304" pitchFamily="18" charset="0"/>
              </a:rPr>
              <a:t>Peterson’s Algorithm</a:t>
            </a:r>
            <a:endParaRPr lang="en-US" dirty="0"/>
          </a:p>
        </p:txBody>
      </p:sp>
      <p:pic>
        <p:nvPicPr>
          <p:cNvPr id="4" name="Picture 3">
            <a:extLst>
              <a:ext uri="{FF2B5EF4-FFF2-40B4-BE49-F238E27FC236}">
                <a16:creationId xmlns:a16="http://schemas.microsoft.com/office/drawing/2014/main" id="{5F7F3F77-20D7-4432-A424-FCD4466061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2925" y="1264555"/>
            <a:ext cx="7994876" cy="5315570"/>
          </a:xfrm>
          <a:prstGeom prst="rect">
            <a:avLst/>
          </a:prstGeom>
        </p:spPr>
      </p:pic>
    </p:spTree>
    <p:extLst>
      <p:ext uri="{BB962C8B-B14F-4D97-AF65-F5344CB8AC3E}">
        <p14:creationId xmlns:p14="http://schemas.microsoft.com/office/powerpoint/2010/main" val="11082410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F2FF1-D81F-467F-91AA-D0661F04345C}"/>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ME with Busy Waiting</a:t>
            </a:r>
            <a:endParaRPr lang="en-US" dirty="0"/>
          </a:p>
        </p:txBody>
      </p:sp>
      <p:sp>
        <p:nvSpPr>
          <p:cNvPr id="3" name="Content Placeholder 2">
            <a:extLst>
              <a:ext uri="{FF2B5EF4-FFF2-40B4-BE49-F238E27FC236}">
                <a16:creationId xmlns:a16="http://schemas.microsoft.com/office/drawing/2014/main" id="{1F5219FF-17AC-455D-915C-553F49A8638D}"/>
              </a:ext>
            </a:extLst>
          </p:cNvPr>
          <p:cNvSpPr>
            <a:spLocks noGrp="1"/>
          </p:cNvSpPr>
          <p:nvPr>
            <p:ph idx="1"/>
          </p:nvPr>
        </p:nvSpPr>
        <p:spPr>
          <a:xfrm>
            <a:off x="2589212" y="1669575"/>
            <a:ext cx="8915400" cy="4690281"/>
          </a:xfrm>
        </p:spPr>
        <p:txBody>
          <a:bodyPr/>
          <a:lstStyle/>
          <a:p>
            <a:r>
              <a:rPr lang="en-US" sz="2400" b="1" u="sng" dirty="0">
                <a:solidFill>
                  <a:schemeClr val="tx1"/>
                </a:solidFill>
                <a:latin typeface="Times New Roman" panose="02020603050405020304" pitchFamily="18" charset="0"/>
                <a:cs typeface="Times New Roman" panose="02020603050405020304" pitchFamily="18" charset="0"/>
              </a:rPr>
              <a:t>Test and Set Lock</a:t>
            </a:r>
          </a:p>
          <a:p>
            <a:pPr marL="6270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Help from the hardware</a:t>
            </a:r>
          </a:p>
          <a:p>
            <a:pPr marL="6270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Reads the content of the memory word lock into register RX and the stores a non-zero value at the memory address lock</a:t>
            </a:r>
          </a:p>
          <a:p>
            <a:pPr marL="6270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A shared variable (lock) is used to coordinate access to shared memory</a:t>
            </a:r>
          </a:p>
          <a:p>
            <a:pPr marL="6270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When lock is 0, any process may set it to 1 using TSL instructions and then read or write the shared memory</a:t>
            </a:r>
          </a:p>
          <a:p>
            <a:pPr marL="6270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When all the tasks are done, lock is set back to 0 using ordinary move instructions.</a:t>
            </a:r>
          </a:p>
        </p:txBody>
      </p:sp>
    </p:spTree>
    <p:extLst>
      <p:ext uri="{BB962C8B-B14F-4D97-AF65-F5344CB8AC3E}">
        <p14:creationId xmlns:p14="http://schemas.microsoft.com/office/powerpoint/2010/main" val="11241069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AF44-3BCF-4E4A-83E1-3E16F76CE1BB}"/>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ME without Busy Waiting</a:t>
            </a:r>
            <a:endParaRPr lang="en-US" dirty="0"/>
          </a:p>
        </p:txBody>
      </p:sp>
      <p:sp>
        <p:nvSpPr>
          <p:cNvPr id="3" name="Content Placeholder 2">
            <a:extLst>
              <a:ext uri="{FF2B5EF4-FFF2-40B4-BE49-F238E27FC236}">
                <a16:creationId xmlns:a16="http://schemas.microsoft.com/office/drawing/2014/main" id="{D898D4B7-688D-4D45-8D9E-6532A47404D6}"/>
              </a:ext>
            </a:extLst>
          </p:cNvPr>
          <p:cNvSpPr>
            <a:spLocks noGrp="1"/>
          </p:cNvSpPr>
          <p:nvPr>
            <p:ph idx="1"/>
          </p:nvPr>
        </p:nvSpPr>
        <p:spPr>
          <a:xfrm>
            <a:off x="2589212" y="1423916"/>
            <a:ext cx="9270692" cy="5099714"/>
          </a:xfrm>
        </p:spPr>
        <p:txBody>
          <a:bodyPr/>
          <a:lstStyle/>
          <a:p>
            <a:pPr marL="0" indent="0">
              <a:buNone/>
            </a:pPr>
            <a:r>
              <a:rPr lang="en-US" sz="2400" b="1" u="sng" dirty="0">
                <a:solidFill>
                  <a:schemeClr val="tx1"/>
                </a:solidFill>
                <a:latin typeface="Times New Roman" panose="02020603050405020304" pitchFamily="18" charset="0"/>
                <a:cs typeface="Times New Roman" panose="02020603050405020304" pitchFamily="18" charset="0"/>
              </a:rPr>
              <a:t>Sleep and Wakeup</a:t>
            </a:r>
          </a:p>
          <a:p>
            <a:r>
              <a:rPr lang="en-US" sz="2000" dirty="0">
                <a:solidFill>
                  <a:schemeClr val="tx1"/>
                </a:solidFill>
                <a:latin typeface="Times New Roman" panose="02020603050405020304" pitchFamily="18" charset="0"/>
                <a:cs typeface="Times New Roman" panose="02020603050405020304" pitchFamily="18" charset="0"/>
              </a:rPr>
              <a:t>Both Peterson’s solution and TSL are correct but have defect requiring busy waiting</a:t>
            </a:r>
          </a:p>
          <a:p>
            <a:r>
              <a:rPr lang="en-US" sz="2000" dirty="0">
                <a:solidFill>
                  <a:schemeClr val="tx1"/>
                </a:solidFill>
                <a:latin typeface="Times New Roman" panose="02020603050405020304" pitchFamily="18" charset="0"/>
                <a:cs typeface="Times New Roman" panose="02020603050405020304" pitchFamily="18" charset="0"/>
              </a:rPr>
              <a:t>These approaches waste CPU time</a:t>
            </a:r>
          </a:p>
          <a:p>
            <a:r>
              <a:rPr lang="en-US" sz="2000" dirty="0">
                <a:solidFill>
                  <a:schemeClr val="tx1"/>
                </a:solidFill>
                <a:latin typeface="Times New Roman" panose="02020603050405020304" pitchFamily="18" charset="0"/>
                <a:cs typeface="Times New Roman" panose="02020603050405020304" pitchFamily="18" charset="0"/>
              </a:rPr>
              <a:t>Sleep and wakeup is simplest IPC primitives which blocks instead wasting CPU time</a:t>
            </a:r>
          </a:p>
          <a:p>
            <a:r>
              <a:rPr lang="en-US" sz="2000" dirty="0">
                <a:solidFill>
                  <a:srgbClr val="000000"/>
                </a:solidFill>
                <a:latin typeface="Times New Roman" panose="02020603050405020304" pitchFamily="18" charset="0"/>
              </a:rPr>
              <a:t>W</a:t>
            </a:r>
            <a:r>
              <a:rPr lang="en-US" sz="2000" b="0" i="0" dirty="0">
                <a:solidFill>
                  <a:srgbClr val="000000"/>
                </a:solidFill>
                <a:effectLst/>
                <a:latin typeface="Times New Roman" panose="02020603050405020304" pitchFamily="18" charset="0"/>
              </a:rPr>
              <a:t>hen a process is not permitted to access its critical section, it uses a system call known as </a:t>
            </a:r>
            <a:r>
              <a:rPr lang="en-US" sz="2000" b="1" i="0" dirty="0">
                <a:solidFill>
                  <a:srgbClr val="000000"/>
                </a:solidFill>
                <a:effectLst/>
                <a:latin typeface="Times New Roman" panose="02020603050405020304" pitchFamily="18" charset="0"/>
              </a:rPr>
              <a:t>Sleep</a:t>
            </a:r>
            <a:r>
              <a:rPr lang="en-US" sz="2000" b="0" i="0" dirty="0">
                <a:solidFill>
                  <a:srgbClr val="000000"/>
                </a:solidFill>
                <a:effectLst/>
                <a:latin typeface="Times New Roman" panose="02020603050405020304" pitchFamily="18" charset="0"/>
              </a:rPr>
              <a:t>, which causes that process to block</a:t>
            </a:r>
          </a:p>
          <a:p>
            <a:r>
              <a:rPr lang="en-US" sz="2000" b="0" i="0" dirty="0">
                <a:solidFill>
                  <a:srgbClr val="000000"/>
                </a:solidFill>
                <a:effectLst/>
                <a:latin typeface="Times New Roman" panose="02020603050405020304" pitchFamily="18" charset="0"/>
              </a:rPr>
              <a:t>The process will not be scheduled to run again, until another process uses the </a:t>
            </a:r>
            <a:r>
              <a:rPr lang="en-US" sz="2000" b="1" i="0" dirty="0">
                <a:solidFill>
                  <a:srgbClr val="000000"/>
                </a:solidFill>
                <a:effectLst/>
                <a:latin typeface="Times New Roman" panose="02020603050405020304" pitchFamily="18" charset="0"/>
              </a:rPr>
              <a:t>Wakeup</a:t>
            </a:r>
            <a:r>
              <a:rPr lang="en-US" sz="2000" b="0" i="0" dirty="0">
                <a:solidFill>
                  <a:srgbClr val="000000"/>
                </a:solidFill>
                <a:effectLst/>
                <a:latin typeface="Times New Roman" panose="02020603050405020304" pitchFamily="18" charset="0"/>
              </a:rPr>
              <a:t> system call</a:t>
            </a:r>
          </a:p>
          <a:p>
            <a:r>
              <a:rPr lang="en-US" sz="2000" b="0" i="0" dirty="0">
                <a:solidFill>
                  <a:srgbClr val="000000"/>
                </a:solidFill>
                <a:effectLst/>
                <a:latin typeface="Times New Roman" panose="02020603050405020304" pitchFamily="18" charset="0"/>
              </a:rPr>
              <a:t>In most cases, </a:t>
            </a:r>
            <a:r>
              <a:rPr lang="en-US" sz="2000" b="1" i="0" dirty="0">
                <a:solidFill>
                  <a:srgbClr val="000000"/>
                </a:solidFill>
                <a:effectLst/>
                <a:latin typeface="Times New Roman" panose="02020603050405020304" pitchFamily="18" charset="0"/>
              </a:rPr>
              <a:t>Wakeup</a:t>
            </a:r>
            <a:r>
              <a:rPr lang="en-US" sz="2000" b="0" i="0" dirty="0">
                <a:solidFill>
                  <a:srgbClr val="000000"/>
                </a:solidFill>
                <a:effectLst/>
                <a:latin typeface="Times New Roman" panose="02020603050405020304" pitchFamily="18" charset="0"/>
              </a:rPr>
              <a:t> is called by a process when it leaves its critical section if any other processes have blocked</a:t>
            </a:r>
            <a:endParaRPr lang="en-US" sz="2000" dirty="0"/>
          </a:p>
        </p:txBody>
      </p:sp>
      <p:sp>
        <p:nvSpPr>
          <p:cNvPr id="4" name="Footer Placeholder 3">
            <a:extLst>
              <a:ext uri="{FF2B5EF4-FFF2-40B4-BE49-F238E27FC236}">
                <a16:creationId xmlns:a16="http://schemas.microsoft.com/office/drawing/2014/main" id="{318F7A25-B05D-828D-7FDA-0BFB088376A8}"/>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77693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AF44-3BCF-4E4A-83E1-3E16F76CE1BB}"/>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ME without Busy Waiting (contd.)</a:t>
            </a:r>
            <a:endParaRPr lang="en-US" dirty="0"/>
          </a:p>
        </p:txBody>
      </p:sp>
      <p:sp>
        <p:nvSpPr>
          <p:cNvPr id="3" name="Content Placeholder 2">
            <a:extLst>
              <a:ext uri="{FF2B5EF4-FFF2-40B4-BE49-F238E27FC236}">
                <a16:creationId xmlns:a16="http://schemas.microsoft.com/office/drawing/2014/main" id="{D898D4B7-688D-4D45-8D9E-6532A47404D6}"/>
              </a:ext>
            </a:extLst>
          </p:cNvPr>
          <p:cNvSpPr>
            <a:spLocks noGrp="1"/>
          </p:cNvSpPr>
          <p:nvPr>
            <p:ph idx="1"/>
          </p:nvPr>
        </p:nvSpPr>
        <p:spPr>
          <a:xfrm>
            <a:off x="2589212" y="1423916"/>
            <a:ext cx="9270692" cy="5099714"/>
          </a:xfrm>
        </p:spPr>
        <p:txBody>
          <a:bodyPr/>
          <a:lstStyle/>
          <a:p>
            <a:pPr marL="0" indent="0">
              <a:buNone/>
            </a:pPr>
            <a:r>
              <a:rPr lang="en-US" sz="2400" b="1" u="sng" dirty="0">
                <a:solidFill>
                  <a:schemeClr val="tx1"/>
                </a:solidFill>
                <a:latin typeface="Times New Roman" panose="02020603050405020304" pitchFamily="18" charset="0"/>
                <a:cs typeface="Times New Roman" panose="02020603050405020304" pitchFamily="18" charset="0"/>
              </a:rPr>
              <a:t>Sleep and Wakeup (Producer-Consumer Problem)</a:t>
            </a:r>
          </a:p>
          <a:p>
            <a:r>
              <a:rPr lang="en-US" sz="2000" dirty="0">
                <a:solidFill>
                  <a:schemeClr val="tx1"/>
                </a:solidFill>
                <a:latin typeface="Times New Roman" panose="02020603050405020304" pitchFamily="18" charset="0"/>
                <a:cs typeface="Times New Roman" panose="02020603050405020304" pitchFamily="18" charset="0"/>
              </a:rPr>
              <a:t>Two process share a common, fixed sized buffer</a:t>
            </a:r>
          </a:p>
          <a:p>
            <a:r>
              <a:rPr lang="en-US" sz="2000" dirty="0">
                <a:solidFill>
                  <a:schemeClr val="tx1"/>
                </a:solidFill>
                <a:latin typeface="Times New Roman" panose="02020603050405020304" pitchFamily="18" charset="0"/>
                <a:cs typeface="Times New Roman" panose="02020603050405020304" pitchFamily="18" charset="0"/>
              </a:rPr>
              <a:t>Suppose one process, producer, is generating information that the second process, consumer, is using</a:t>
            </a:r>
          </a:p>
          <a:p>
            <a:r>
              <a:rPr lang="en-US" sz="2000" dirty="0">
                <a:solidFill>
                  <a:schemeClr val="tx1"/>
                </a:solidFill>
                <a:latin typeface="Times New Roman" panose="02020603050405020304" pitchFamily="18" charset="0"/>
                <a:cs typeface="Times New Roman" panose="02020603050405020304" pitchFamily="18" charset="0"/>
              </a:rPr>
              <a:t>Their speed may be mismatched, if producer insert item rapidly, the buffer will full and go to the sleep until consumer consumes some item, while consumer consumes rapidly, the buffer will empty and go to sleep until producer put something in the buffer</a:t>
            </a:r>
          </a:p>
          <a:p>
            <a:endParaRPr lang="en-US" sz="2000" dirty="0">
              <a:solidFill>
                <a:schemeClr val="tx1"/>
              </a:solidFill>
              <a:latin typeface="Times New Roman" panose="02020603050405020304" pitchFamily="18" charset="0"/>
              <a:cs typeface="Times New Roman" panose="02020603050405020304" pitchFamily="18" charset="0"/>
            </a:endParaRPr>
          </a:p>
          <a:p>
            <a:endParaRPr lang="en-US" sz="2000" dirty="0">
              <a:solidFill>
                <a:schemeClr val="tx1"/>
              </a:solidFill>
              <a:latin typeface="Times New Roman" panose="02020603050405020304" pitchFamily="18" charset="0"/>
              <a:cs typeface="Times New Roman" panose="02020603050405020304" pitchFamily="18" charset="0"/>
            </a:endParaRP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Code at </a:t>
            </a:r>
            <a:r>
              <a:rPr lang="en-US" sz="2000" dirty="0">
                <a:hlinkClick r:id="rId2"/>
              </a:rPr>
              <a:t>OS Sleep and Wake</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9BF5124-4F6C-3E41-1E3B-92F19D4A79F4}"/>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686577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F9AE3-E3F7-4415-8BD5-4B2C4C154483}"/>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ME without Busy Waiting (contd.)</a:t>
            </a:r>
            <a:endParaRPr lang="en-US" dirty="0"/>
          </a:p>
        </p:txBody>
      </p:sp>
      <p:sp>
        <p:nvSpPr>
          <p:cNvPr id="3" name="Content Placeholder 2">
            <a:extLst>
              <a:ext uri="{FF2B5EF4-FFF2-40B4-BE49-F238E27FC236}">
                <a16:creationId xmlns:a16="http://schemas.microsoft.com/office/drawing/2014/main" id="{4D9976B5-909D-43CA-820E-069C5AD2879A}"/>
              </a:ext>
            </a:extLst>
          </p:cNvPr>
          <p:cNvSpPr>
            <a:spLocks noGrp="1"/>
          </p:cNvSpPr>
          <p:nvPr>
            <p:ph idx="1"/>
          </p:nvPr>
        </p:nvSpPr>
        <p:spPr>
          <a:xfrm>
            <a:off x="2592925" y="1335472"/>
            <a:ext cx="8915400" cy="5317812"/>
          </a:xfrm>
        </p:spPr>
        <p:txBody>
          <a:bodyPr>
            <a:normAutofit fontScale="92500" lnSpcReduction="10000"/>
          </a:bodyPr>
          <a:lstStyle/>
          <a:p>
            <a:pPr marL="0" indent="0">
              <a:buNone/>
            </a:pPr>
            <a:r>
              <a:rPr lang="en-US" sz="2400" b="1" u="sng" dirty="0">
                <a:solidFill>
                  <a:schemeClr val="tx1"/>
                </a:solidFill>
                <a:latin typeface="Times New Roman" panose="02020603050405020304" pitchFamily="18" charset="0"/>
                <a:cs typeface="Times New Roman" panose="02020603050405020304" pitchFamily="18" charset="0"/>
              </a:rPr>
              <a:t>Semaphores</a:t>
            </a:r>
          </a:p>
          <a:p>
            <a:r>
              <a:rPr lang="en-US" sz="2200" dirty="0">
                <a:solidFill>
                  <a:schemeClr val="tx1"/>
                </a:solidFill>
                <a:latin typeface="Times New Roman" panose="02020603050405020304" pitchFamily="18" charset="0"/>
                <a:cs typeface="Times New Roman" panose="02020603050405020304" pitchFamily="18" charset="0"/>
              </a:rPr>
              <a:t>E. W. Dijkstra (1965) suggested using an integer variable to count the number of wakeups, called a semaphore</a:t>
            </a:r>
          </a:p>
          <a:p>
            <a:r>
              <a:rPr lang="en-US" sz="2200" dirty="0">
                <a:solidFill>
                  <a:schemeClr val="tx1"/>
                </a:solidFill>
                <a:latin typeface="Times New Roman" panose="02020603050405020304" pitchFamily="18" charset="0"/>
                <a:cs typeface="Times New Roman" panose="02020603050405020304" pitchFamily="18" charset="0"/>
              </a:rPr>
              <a:t>It could have the value 0, indicating no wakeups ware saved, or some positive value if one or more wakeups were pending</a:t>
            </a:r>
          </a:p>
          <a:p>
            <a:r>
              <a:rPr lang="en-US" sz="2200" dirty="0">
                <a:solidFill>
                  <a:schemeClr val="tx1"/>
                </a:solidFill>
                <a:latin typeface="Times New Roman" panose="02020603050405020304" pitchFamily="18" charset="0"/>
                <a:cs typeface="Times New Roman" panose="02020603050405020304" pitchFamily="18" charset="0"/>
              </a:rPr>
              <a:t>Operations: Down and Up</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Down: checks if the value greater than 0, if true, decrements the value and continue</a:t>
            </a:r>
          </a:p>
          <a:p>
            <a:pPr marL="627063"/>
            <a:r>
              <a:rPr lang="en-US" sz="2200" dirty="0">
                <a:solidFill>
                  <a:schemeClr val="tx1"/>
                </a:solidFill>
                <a:latin typeface="Times New Roman" panose="02020603050405020304" pitchFamily="18" charset="0"/>
                <a:cs typeface="Times New Roman" panose="02020603050405020304" pitchFamily="18" charset="0"/>
              </a:rPr>
              <a:t>If value is 0, the process is put to sleep without completing down</a:t>
            </a:r>
          </a:p>
          <a:p>
            <a:pPr marL="627063"/>
            <a:r>
              <a:rPr lang="en-US" sz="2200" dirty="0">
                <a:solidFill>
                  <a:schemeClr val="tx1"/>
                </a:solidFill>
                <a:latin typeface="Times New Roman" panose="02020603050405020304" pitchFamily="18" charset="0"/>
                <a:cs typeface="Times New Roman" panose="02020603050405020304" pitchFamily="18" charset="0"/>
              </a:rPr>
              <a:t>Checking value, changing it, and possibly going to sleep, is all done as single action</a:t>
            </a:r>
          </a:p>
          <a:p>
            <a:pPr>
              <a:buFont typeface="Wingdings" panose="05000000000000000000"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Up: increments the value</a:t>
            </a:r>
          </a:p>
          <a:p>
            <a:pPr marL="627063"/>
            <a:r>
              <a:rPr lang="en-US" sz="2200" dirty="0">
                <a:solidFill>
                  <a:schemeClr val="tx1"/>
                </a:solidFill>
                <a:latin typeface="Times New Roman" panose="02020603050405020304" pitchFamily="18" charset="0"/>
                <a:cs typeface="Times New Roman" panose="02020603050405020304" pitchFamily="18" charset="0"/>
              </a:rPr>
              <a:t>If one or more processes were sleeping, unable to complete earlier down operation, one of them is chosen and is allowed to complete its down.</a:t>
            </a:r>
          </a:p>
          <a:p>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7A217FD-7B2E-DB76-B99D-A540EA50F877}"/>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3095328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856BA-B223-4550-A98F-479C6833D59B}"/>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Monitors</a:t>
            </a:r>
          </a:p>
        </p:txBody>
      </p:sp>
      <p:sp>
        <p:nvSpPr>
          <p:cNvPr id="3" name="Content Placeholder 2">
            <a:extLst>
              <a:ext uri="{FF2B5EF4-FFF2-40B4-BE49-F238E27FC236}">
                <a16:creationId xmlns:a16="http://schemas.microsoft.com/office/drawing/2014/main" id="{AD288CF4-7227-4771-9107-4AE5902DDC0A}"/>
              </a:ext>
            </a:extLst>
          </p:cNvPr>
          <p:cNvSpPr>
            <a:spLocks noGrp="1"/>
          </p:cNvSpPr>
          <p:nvPr>
            <p:ph idx="1"/>
          </p:nvPr>
        </p:nvSpPr>
        <p:spPr>
          <a:xfrm>
            <a:off x="2589212" y="1540188"/>
            <a:ext cx="8915400" cy="4693701"/>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Set of multiple routines which are protected by a ME lock</a:t>
            </a:r>
          </a:p>
          <a:p>
            <a:r>
              <a:rPr lang="en-US" sz="2000" dirty="0">
                <a:solidFill>
                  <a:schemeClr val="tx1"/>
                </a:solidFill>
                <a:latin typeface="Times New Roman" panose="02020603050405020304" pitchFamily="18" charset="0"/>
                <a:cs typeface="Times New Roman" panose="02020603050405020304" pitchFamily="18" charset="0"/>
              </a:rPr>
              <a:t>None of the routine in the monitor can be executed by a thread until that thread acquires lock</a:t>
            </a:r>
          </a:p>
          <a:p>
            <a:r>
              <a:rPr lang="en-US" sz="2000" dirty="0">
                <a:solidFill>
                  <a:schemeClr val="tx1"/>
                </a:solidFill>
                <a:latin typeface="Times New Roman" panose="02020603050405020304" pitchFamily="18" charset="0"/>
                <a:cs typeface="Times New Roman" panose="02020603050405020304" pitchFamily="18" charset="0"/>
              </a:rPr>
              <a:t>This means only one thread can be executed within a monitor at a time</a:t>
            </a:r>
          </a:p>
          <a:p>
            <a:r>
              <a:rPr lang="en-US" sz="2000" dirty="0">
                <a:solidFill>
                  <a:schemeClr val="tx1"/>
                </a:solidFill>
                <a:latin typeface="Times New Roman" panose="02020603050405020304" pitchFamily="18" charset="0"/>
                <a:cs typeface="Times New Roman" panose="02020603050405020304" pitchFamily="18" charset="0"/>
              </a:rPr>
              <a:t>Any other thread must wait for the thread that’s currently executing to give up control of the lock</a:t>
            </a:r>
          </a:p>
          <a:p>
            <a:r>
              <a:rPr lang="en-US" sz="2000" dirty="0">
                <a:solidFill>
                  <a:schemeClr val="tx1"/>
                </a:solidFill>
                <a:latin typeface="Times New Roman" panose="02020603050405020304" pitchFamily="18" charset="0"/>
                <a:cs typeface="Times New Roman" panose="02020603050405020304" pitchFamily="18" charset="0"/>
              </a:rPr>
              <a:t>Processes that wish to access the shared data, do through the execution of monitor functions</a:t>
            </a:r>
          </a:p>
        </p:txBody>
      </p:sp>
      <p:sp>
        <p:nvSpPr>
          <p:cNvPr id="4" name="Footer Placeholder 3">
            <a:extLst>
              <a:ext uri="{FF2B5EF4-FFF2-40B4-BE49-F238E27FC236}">
                <a16:creationId xmlns:a16="http://schemas.microsoft.com/office/drawing/2014/main" id="{B78939B4-6049-3550-9193-6C5E180AFF4B}"/>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1146401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E1327-9107-47B2-B4B9-B8C52EA7DEC8}"/>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Message Passing</a:t>
            </a:r>
          </a:p>
        </p:txBody>
      </p:sp>
      <p:sp>
        <p:nvSpPr>
          <p:cNvPr id="3" name="Content Placeholder 2">
            <a:extLst>
              <a:ext uri="{FF2B5EF4-FFF2-40B4-BE49-F238E27FC236}">
                <a16:creationId xmlns:a16="http://schemas.microsoft.com/office/drawing/2014/main" id="{876F0F25-0BAC-4243-9A84-55C7C67A5FCB}"/>
              </a:ext>
            </a:extLst>
          </p:cNvPr>
          <p:cNvSpPr>
            <a:spLocks noGrp="1"/>
          </p:cNvSpPr>
          <p:nvPr>
            <p:ph idx="1"/>
          </p:nvPr>
        </p:nvSpPr>
        <p:spPr/>
        <p:txBody>
          <a:bodyPr>
            <a:normAutofit/>
          </a:bodyPr>
          <a:lstStyle/>
          <a:p>
            <a:r>
              <a:rPr lang="en-US" sz="2400" dirty="0">
                <a:solidFill>
                  <a:schemeClr val="tx1"/>
                </a:solidFill>
                <a:latin typeface="Times New Roman" panose="02020603050405020304" pitchFamily="18" charset="0"/>
                <a:cs typeface="Times New Roman" panose="02020603050405020304" pitchFamily="18" charset="0"/>
              </a:rPr>
              <a:t>This method of IPC uses two primitives :</a:t>
            </a:r>
          </a:p>
          <a:p>
            <a:pPr marL="804863">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Send</a:t>
            </a:r>
          </a:p>
          <a:p>
            <a:pPr marL="804863">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Receive</a:t>
            </a:r>
          </a:p>
          <a:p>
            <a:r>
              <a:rPr lang="en-US" sz="2400" dirty="0">
                <a:solidFill>
                  <a:schemeClr val="tx1"/>
                </a:solidFill>
                <a:latin typeface="Times New Roman" panose="02020603050405020304" pitchFamily="18" charset="0"/>
                <a:cs typeface="Times New Roman" panose="02020603050405020304" pitchFamily="18" charset="0"/>
              </a:rPr>
              <a:t>These are system calls rather than constructors</a:t>
            </a:r>
          </a:p>
          <a:p>
            <a:r>
              <a:rPr lang="en-US" sz="2400" dirty="0">
                <a:solidFill>
                  <a:schemeClr val="tx1"/>
                </a:solidFill>
                <a:latin typeface="Times New Roman" panose="02020603050405020304" pitchFamily="18" charset="0"/>
                <a:cs typeface="Times New Roman" panose="02020603050405020304" pitchFamily="18" charset="0"/>
              </a:rPr>
              <a:t>They can easily put into library procedures such as</a:t>
            </a:r>
          </a:p>
          <a:p>
            <a:pPr marL="804863">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Send(destination, &amp;message)</a:t>
            </a:r>
          </a:p>
          <a:p>
            <a:pPr marL="804863">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Receive(source, &amp;message)</a:t>
            </a:r>
          </a:p>
        </p:txBody>
      </p:sp>
      <p:sp>
        <p:nvSpPr>
          <p:cNvPr id="4" name="Footer Placeholder 3">
            <a:extLst>
              <a:ext uri="{FF2B5EF4-FFF2-40B4-BE49-F238E27FC236}">
                <a16:creationId xmlns:a16="http://schemas.microsoft.com/office/drawing/2014/main" id="{4D6AFF57-20A5-D989-B78D-62CA4884B9E2}"/>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0004408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0A816-44E9-A4DA-3625-739D0EEBCF40}"/>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Classical IPC Problem</a:t>
            </a:r>
          </a:p>
        </p:txBody>
      </p:sp>
      <p:sp>
        <p:nvSpPr>
          <p:cNvPr id="3" name="Content Placeholder 2">
            <a:extLst>
              <a:ext uri="{FF2B5EF4-FFF2-40B4-BE49-F238E27FC236}">
                <a16:creationId xmlns:a16="http://schemas.microsoft.com/office/drawing/2014/main" id="{04E9DF92-3872-B747-4FCE-2E32C51F2A98}"/>
              </a:ext>
            </a:extLst>
          </p:cNvPr>
          <p:cNvSpPr>
            <a:spLocks noGrp="1"/>
          </p:cNvSpPr>
          <p:nvPr>
            <p:ph idx="1"/>
          </p:nvPr>
        </p:nvSpPr>
        <p:spPr>
          <a:xfrm>
            <a:off x="2589212" y="1709394"/>
            <a:ext cx="8915400" cy="3777622"/>
          </a:xfrm>
        </p:spPr>
        <p:txBody>
          <a:bodyPr>
            <a:normAutofit/>
          </a:bodyPr>
          <a:lstStyle/>
          <a:p>
            <a:r>
              <a:rPr lang="en-US" sz="2400" dirty="0">
                <a:solidFill>
                  <a:schemeClr val="tx1"/>
                </a:solidFill>
                <a:latin typeface="Times New Roman" panose="02020603050405020304" pitchFamily="18" charset="0"/>
                <a:cs typeface="Times New Roman" panose="02020603050405020304" pitchFamily="18" charset="0"/>
              </a:rPr>
              <a:t>Producer-Consumer Problem</a:t>
            </a:r>
          </a:p>
          <a:p>
            <a:r>
              <a:rPr lang="en-US" sz="2400" dirty="0">
                <a:solidFill>
                  <a:schemeClr val="tx1"/>
                </a:solidFill>
                <a:latin typeface="Times New Roman" panose="02020603050405020304" pitchFamily="18" charset="0"/>
                <a:cs typeface="Times New Roman" panose="02020603050405020304" pitchFamily="18" charset="0"/>
              </a:rPr>
              <a:t>Sleeping Barber Problem</a:t>
            </a:r>
          </a:p>
          <a:p>
            <a:r>
              <a:rPr lang="en-US" sz="2400" dirty="0">
                <a:solidFill>
                  <a:schemeClr val="tx1"/>
                </a:solidFill>
                <a:latin typeface="Times New Roman" panose="02020603050405020304" pitchFamily="18" charset="0"/>
                <a:cs typeface="Times New Roman" panose="02020603050405020304" pitchFamily="18" charset="0"/>
              </a:rPr>
              <a:t>Dinning Philosopher Problem</a:t>
            </a:r>
          </a:p>
        </p:txBody>
      </p:sp>
      <p:sp>
        <p:nvSpPr>
          <p:cNvPr id="4" name="Footer Placeholder 3">
            <a:extLst>
              <a:ext uri="{FF2B5EF4-FFF2-40B4-BE49-F238E27FC236}">
                <a16:creationId xmlns:a16="http://schemas.microsoft.com/office/drawing/2014/main" id="{6B42E893-EF54-B1CA-22D9-D2FDB4D7599B}"/>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9963179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72964-0FD6-4ED4-B15E-A14D3DAFC7D5}"/>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Process Scheduling</a:t>
            </a:r>
          </a:p>
        </p:txBody>
      </p:sp>
      <p:sp>
        <p:nvSpPr>
          <p:cNvPr id="3" name="Content Placeholder 2">
            <a:extLst>
              <a:ext uri="{FF2B5EF4-FFF2-40B4-BE49-F238E27FC236}">
                <a16:creationId xmlns:a16="http://schemas.microsoft.com/office/drawing/2014/main" id="{CE49FFDC-7520-489B-8BA6-93DFB71F65FF}"/>
              </a:ext>
            </a:extLst>
          </p:cNvPr>
          <p:cNvSpPr>
            <a:spLocks noGrp="1"/>
          </p:cNvSpPr>
          <p:nvPr>
            <p:ph idx="1"/>
          </p:nvPr>
        </p:nvSpPr>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The part of OS that makes the choice which process to run next whenever two or more process are in ready state – </a:t>
            </a:r>
            <a:r>
              <a:rPr lang="en-US" sz="2000" b="1" dirty="0">
                <a:solidFill>
                  <a:schemeClr val="tx1"/>
                </a:solidFill>
                <a:latin typeface="Times New Roman" panose="02020603050405020304" pitchFamily="18" charset="0"/>
                <a:cs typeface="Times New Roman" panose="02020603050405020304" pitchFamily="18" charset="0"/>
              </a:rPr>
              <a:t>Schedular</a:t>
            </a:r>
          </a:p>
          <a:p>
            <a:r>
              <a:rPr lang="en-US" sz="2000" dirty="0">
                <a:solidFill>
                  <a:schemeClr val="tx1"/>
                </a:solidFill>
                <a:latin typeface="Times New Roman" panose="02020603050405020304" pitchFamily="18" charset="0"/>
                <a:cs typeface="Times New Roman" panose="02020603050405020304" pitchFamily="18" charset="0"/>
              </a:rPr>
              <a:t>The algorithm it uses is called </a:t>
            </a:r>
            <a:r>
              <a:rPr lang="en-US" sz="2000" b="1" dirty="0">
                <a:solidFill>
                  <a:schemeClr val="tx1"/>
                </a:solidFill>
                <a:latin typeface="Times New Roman" panose="02020603050405020304" pitchFamily="18" charset="0"/>
                <a:cs typeface="Times New Roman" panose="02020603050405020304" pitchFamily="18" charset="0"/>
              </a:rPr>
              <a:t>Scheduling algorithm</a:t>
            </a:r>
          </a:p>
          <a:p>
            <a:r>
              <a:rPr lang="en-US" sz="2000" dirty="0">
                <a:solidFill>
                  <a:schemeClr val="tx1"/>
                </a:solidFill>
                <a:latin typeface="Times New Roman" panose="02020603050405020304" pitchFamily="18" charset="0"/>
                <a:cs typeface="Times New Roman" panose="02020603050405020304" pitchFamily="18" charset="0"/>
              </a:rPr>
              <a:t>Process scheduling is the activity of process manager that handles the removal of the running process from the CPU and the selection of another process on the basis of particular strategy</a:t>
            </a:r>
          </a:p>
          <a:p>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761637EB-BAD4-37D8-F23C-4AE555DA465C}"/>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1713961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12164-D78D-485A-BF2F-F0D1922A6A85}"/>
              </a:ext>
            </a:extLst>
          </p:cNvPr>
          <p:cNvSpPr>
            <a:spLocks noGrp="1"/>
          </p:cNvSpPr>
          <p:nvPr>
            <p:ph type="title"/>
          </p:nvPr>
        </p:nvSpPr>
        <p:spPr>
          <a:xfrm>
            <a:off x="2592925" y="665054"/>
            <a:ext cx="8911687" cy="1280890"/>
          </a:xfrm>
        </p:spPr>
        <p:txBody>
          <a:bodyPr/>
          <a:lstStyle/>
          <a:p>
            <a:r>
              <a:rPr lang="en-US" b="1" dirty="0">
                <a:solidFill>
                  <a:schemeClr val="tx1"/>
                </a:solidFill>
                <a:latin typeface="Times New Roman" panose="02020603050405020304" pitchFamily="18" charset="0"/>
                <a:cs typeface="Times New Roman" panose="02020603050405020304" pitchFamily="18" charset="0"/>
              </a:rPr>
              <a:t>Process Behavior</a:t>
            </a:r>
          </a:p>
        </p:txBody>
      </p:sp>
      <p:sp>
        <p:nvSpPr>
          <p:cNvPr id="7" name="Content Placeholder 6">
            <a:extLst>
              <a:ext uri="{FF2B5EF4-FFF2-40B4-BE49-F238E27FC236}">
                <a16:creationId xmlns:a16="http://schemas.microsoft.com/office/drawing/2014/main" id="{032EB0CF-475A-438D-BA16-A93AB49E8019}"/>
              </a:ext>
            </a:extLst>
          </p:cNvPr>
          <p:cNvSpPr>
            <a:spLocks noGrp="1"/>
          </p:cNvSpPr>
          <p:nvPr>
            <p:ph idx="1"/>
          </p:nvPr>
        </p:nvSpPr>
        <p:spPr>
          <a:xfrm>
            <a:off x="2589212" y="1655928"/>
            <a:ext cx="8915400" cy="3777622"/>
          </a:xfrm>
        </p:spPr>
        <p:txBody>
          <a:bodyPr/>
          <a:lstStyle/>
          <a:p>
            <a:r>
              <a:rPr lang="en-US" sz="2000" dirty="0">
                <a:solidFill>
                  <a:schemeClr val="tx1"/>
                </a:solidFill>
                <a:latin typeface="Times New Roman" panose="02020603050405020304" pitchFamily="18" charset="0"/>
                <a:cs typeface="Times New Roman" panose="02020603050405020304" pitchFamily="18" charset="0"/>
              </a:rPr>
              <a:t>The process that uses CPU until quantum(time) expires – CPU Bound</a:t>
            </a:r>
          </a:p>
          <a:p>
            <a:r>
              <a:rPr lang="en-US" sz="2000" dirty="0">
                <a:solidFill>
                  <a:schemeClr val="tx1"/>
                </a:solidFill>
                <a:latin typeface="Times New Roman" panose="02020603050405020304" pitchFamily="18" charset="0"/>
                <a:cs typeface="Times New Roman" panose="02020603050405020304" pitchFamily="18" charset="0"/>
              </a:rPr>
              <a:t>The process that uses CPU briefly then generate I/O – I/O Bound</a:t>
            </a:r>
          </a:p>
          <a:p>
            <a:r>
              <a:rPr lang="en-US" sz="2000" dirty="0">
                <a:solidFill>
                  <a:schemeClr val="tx1"/>
                </a:solidFill>
                <a:latin typeface="Times New Roman" panose="02020603050405020304" pitchFamily="18" charset="0"/>
                <a:cs typeface="Times New Roman" panose="02020603050405020304" pitchFamily="18" charset="0"/>
              </a:rPr>
              <a:t>CPU bound process have long CPU-burst while I/O bound process have short CPU burst </a:t>
            </a:r>
          </a:p>
          <a:p>
            <a:endParaRPr lang="en-US" dirty="0"/>
          </a:p>
        </p:txBody>
      </p:sp>
      <p:pic>
        <p:nvPicPr>
          <p:cNvPr id="8" name="Content Placeholder 4">
            <a:extLst>
              <a:ext uri="{FF2B5EF4-FFF2-40B4-BE49-F238E27FC236}">
                <a16:creationId xmlns:a16="http://schemas.microsoft.com/office/drawing/2014/main" id="{BA2D3235-AEA3-4631-8203-316FDF872B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9724" y="3172105"/>
            <a:ext cx="8334375" cy="3020841"/>
          </a:xfrm>
          <a:prstGeom prst="rect">
            <a:avLst/>
          </a:prstGeom>
        </p:spPr>
      </p:pic>
      <p:sp>
        <p:nvSpPr>
          <p:cNvPr id="3" name="Footer Placeholder 2">
            <a:extLst>
              <a:ext uri="{FF2B5EF4-FFF2-40B4-BE49-F238E27FC236}">
                <a16:creationId xmlns:a16="http://schemas.microsoft.com/office/drawing/2014/main" id="{8BF91D6E-B5FC-8178-3556-CC42EB94A3A3}"/>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41847045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1C3E0-1A9E-46ED-A3AF-24A3F5580EB5}"/>
              </a:ext>
            </a:extLst>
          </p:cNvPr>
          <p:cNvSpPr>
            <a:spLocks noGrp="1"/>
          </p:cNvSpPr>
          <p:nvPr>
            <p:ph type="title"/>
          </p:nvPr>
        </p:nvSpPr>
        <p:spPr>
          <a:xfrm>
            <a:off x="2589212" y="310211"/>
            <a:ext cx="8911687" cy="1280890"/>
          </a:xfrm>
        </p:spPr>
        <p:txBody>
          <a:bodyPr/>
          <a:lstStyle/>
          <a:p>
            <a:r>
              <a:rPr lang="en-US" b="1" dirty="0">
                <a:solidFill>
                  <a:schemeClr val="tx1"/>
                </a:solidFill>
                <a:latin typeface="Times New Roman" panose="02020603050405020304" pitchFamily="18" charset="0"/>
                <a:cs typeface="Times New Roman" panose="02020603050405020304" pitchFamily="18" charset="0"/>
              </a:rPr>
              <a:t>Preemptive v/s Non-Preemptive</a:t>
            </a:r>
          </a:p>
        </p:txBody>
      </p:sp>
      <p:sp>
        <p:nvSpPr>
          <p:cNvPr id="3" name="Content Placeholder 2">
            <a:extLst>
              <a:ext uri="{FF2B5EF4-FFF2-40B4-BE49-F238E27FC236}">
                <a16:creationId xmlns:a16="http://schemas.microsoft.com/office/drawing/2014/main" id="{E8196E8E-182E-4FF9-AF7B-6FA7B2D90598}"/>
              </a:ext>
            </a:extLst>
          </p:cNvPr>
          <p:cNvSpPr>
            <a:spLocks noGrp="1"/>
          </p:cNvSpPr>
          <p:nvPr>
            <p:ph idx="1"/>
          </p:nvPr>
        </p:nvSpPr>
        <p:spPr>
          <a:xfrm>
            <a:off x="2589212" y="950655"/>
            <a:ext cx="8915400" cy="5907345"/>
          </a:xfrm>
        </p:spPr>
        <p:txBody>
          <a:bodyPr>
            <a:noAutofit/>
          </a:bodyPr>
          <a:lstStyle/>
          <a:p>
            <a:r>
              <a:rPr lang="en-US" sz="2000" dirty="0">
                <a:solidFill>
                  <a:schemeClr val="tx1"/>
                </a:solidFill>
                <a:latin typeface="Times New Roman" panose="02020603050405020304" pitchFamily="18" charset="0"/>
                <a:cs typeface="Times New Roman" panose="02020603050405020304" pitchFamily="18" charset="0"/>
              </a:rPr>
              <a:t>Non-preemptive: </a:t>
            </a:r>
          </a:p>
          <a:p>
            <a:pPr marL="6270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Once a process has been given the CPU, it runs until blocks for I/O or termination</a:t>
            </a:r>
          </a:p>
          <a:p>
            <a:pPr marL="6270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Treatment of all processes is fair</a:t>
            </a:r>
          </a:p>
          <a:p>
            <a:pPr marL="6270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Response times are more predictable</a:t>
            </a:r>
          </a:p>
          <a:p>
            <a:pPr marL="6270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Useful in real-time system</a:t>
            </a:r>
          </a:p>
          <a:p>
            <a:pPr marL="6270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Shorts jobs are made to wait by longer jobs - no priority</a:t>
            </a:r>
          </a:p>
          <a:p>
            <a:r>
              <a:rPr lang="en-US" sz="2000" dirty="0">
                <a:solidFill>
                  <a:schemeClr val="tx1"/>
                </a:solidFill>
                <a:latin typeface="Times New Roman" panose="02020603050405020304" pitchFamily="18" charset="0"/>
                <a:cs typeface="Times New Roman" panose="02020603050405020304" pitchFamily="18" charset="0"/>
              </a:rPr>
              <a:t>Preemptive:</a:t>
            </a:r>
          </a:p>
          <a:p>
            <a:pPr marL="6270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Processes are allowed to run for a maximum of some fixed time</a:t>
            </a:r>
          </a:p>
          <a:p>
            <a:pPr marL="6270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Useful in systems in which high-priority processes requires rapid attention</a:t>
            </a:r>
          </a:p>
          <a:p>
            <a:pPr marL="6270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In timesharing systems, preemptive scheduling is important in guaranteeing acceptable response times</a:t>
            </a:r>
          </a:p>
          <a:p>
            <a:pPr marL="627063">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High overhead</a:t>
            </a:r>
          </a:p>
        </p:txBody>
      </p:sp>
      <p:sp>
        <p:nvSpPr>
          <p:cNvPr id="4" name="Footer Placeholder 3">
            <a:extLst>
              <a:ext uri="{FF2B5EF4-FFF2-40B4-BE49-F238E27FC236}">
                <a16:creationId xmlns:a16="http://schemas.microsoft.com/office/drawing/2014/main" id="{D78C9857-29A9-9DAC-4EBC-1909BEEFF664}"/>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20121282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3AD7D-008F-43E7-9563-32D7163F27BD}"/>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Scheduling Criteria</a:t>
            </a:r>
          </a:p>
        </p:txBody>
      </p:sp>
      <p:sp>
        <p:nvSpPr>
          <p:cNvPr id="3" name="Content Placeholder 2">
            <a:extLst>
              <a:ext uri="{FF2B5EF4-FFF2-40B4-BE49-F238E27FC236}">
                <a16:creationId xmlns:a16="http://schemas.microsoft.com/office/drawing/2014/main" id="{9EC907B2-9BD5-498F-B787-D1275E43B49F}"/>
              </a:ext>
            </a:extLst>
          </p:cNvPr>
          <p:cNvSpPr>
            <a:spLocks noGrp="1"/>
          </p:cNvSpPr>
          <p:nvPr>
            <p:ph idx="1"/>
          </p:nvPr>
        </p:nvSpPr>
        <p:spPr>
          <a:xfrm>
            <a:off x="2589212" y="1663019"/>
            <a:ext cx="8915400" cy="4806020"/>
          </a:xfrm>
        </p:spPr>
        <p:txBody>
          <a:bodyPr>
            <a:normAutofit lnSpcReduction="10000"/>
          </a:bodyPr>
          <a:lstStyle/>
          <a:p>
            <a:r>
              <a:rPr lang="en-US" altLang="en-US" sz="2400" b="1" dirty="0">
                <a:solidFill>
                  <a:schemeClr val="tx1"/>
                </a:solidFill>
                <a:latin typeface="Times New Roman" panose="02020603050405020304" pitchFamily="18" charset="0"/>
                <a:cs typeface="Times New Roman" panose="02020603050405020304" pitchFamily="18" charset="0"/>
              </a:rPr>
              <a:t>CPU utilization </a:t>
            </a:r>
            <a:r>
              <a:rPr lang="en-US" altLang="en-US" sz="2400" dirty="0">
                <a:solidFill>
                  <a:schemeClr val="tx1"/>
                </a:solidFill>
                <a:latin typeface="Times New Roman" panose="02020603050405020304" pitchFamily="18" charset="0"/>
                <a:cs typeface="Times New Roman" panose="02020603050405020304" pitchFamily="18" charset="0"/>
              </a:rPr>
              <a:t>– keep the CPU as busy as possible</a:t>
            </a:r>
          </a:p>
          <a:p>
            <a:r>
              <a:rPr lang="en-US" altLang="en-US" sz="2400" b="1" dirty="0">
                <a:solidFill>
                  <a:schemeClr val="tx1"/>
                </a:solidFill>
                <a:latin typeface="Times New Roman" panose="02020603050405020304" pitchFamily="18" charset="0"/>
                <a:cs typeface="Times New Roman" panose="02020603050405020304" pitchFamily="18" charset="0"/>
              </a:rPr>
              <a:t>Turnaround time </a:t>
            </a:r>
            <a:r>
              <a:rPr lang="en-US" altLang="en-US" sz="2400" dirty="0">
                <a:solidFill>
                  <a:schemeClr val="tx1"/>
                </a:solidFill>
                <a:latin typeface="Times New Roman" panose="02020603050405020304" pitchFamily="18" charset="0"/>
                <a:cs typeface="Times New Roman" panose="02020603050405020304" pitchFamily="18" charset="0"/>
              </a:rPr>
              <a:t>– amount of time to execute a particular process</a:t>
            </a:r>
            <a:br>
              <a:rPr lang="en-US" altLang="en-US" sz="2400" dirty="0">
                <a:solidFill>
                  <a:schemeClr val="tx1"/>
                </a:solidFill>
                <a:latin typeface="Times New Roman" panose="02020603050405020304" pitchFamily="18" charset="0"/>
                <a:cs typeface="Times New Roman" panose="02020603050405020304" pitchFamily="18" charset="0"/>
              </a:rPr>
            </a:br>
            <a:br>
              <a:rPr lang="en-US" altLang="en-US" sz="2400" dirty="0">
                <a:solidFill>
                  <a:schemeClr val="tx1"/>
                </a:solidFill>
                <a:latin typeface="Times New Roman" panose="02020603050405020304" pitchFamily="18" charset="0"/>
                <a:cs typeface="Times New Roman" panose="02020603050405020304" pitchFamily="18" charset="0"/>
              </a:rPr>
            </a:br>
            <a:r>
              <a:rPr lang="en-US" altLang="en-US" sz="2400" dirty="0">
                <a:solidFill>
                  <a:schemeClr val="tx1"/>
                </a:solidFill>
                <a:latin typeface="Times New Roman" panose="02020603050405020304" pitchFamily="18" charset="0"/>
                <a:cs typeface="Times New Roman" panose="02020603050405020304" pitchFamily="18" charset="0"/>
              </a:rPr>
              <a:t>T.A.T = Completion time – Arrival Time or BT+WT</a:t>
            </a:r>
            <a:br>
              <a:rPr lang="en-US" altLang="en-US" sz="2400" dirty="0">
                <a:solidFill>
                  <a:schemeClr val="tx1"/>
                </a:solidFill>
                <a:latin typeface="Times New Roman" panose="02020603050405020304" pitchFamily="18" charset="0"/>
                <a:cs typeface="Times New Roman" panose="02020603050405020304" pitchFamily="18" charset="0"/>
              </a:rPr>
            </a:br>
            <a:endParaRPr lang="en-US" altLang="en-US" sz="2400" dirty="0">
              <a:solidFill>
                <a:schemeClr val="tx1"/>
              </a:solidFill>
              <a:latin typeface="Times New Roman" panose="02020603050405020304" pitchFamily="18" charset="0"/>
              <a:cs typeface="Times New Roman" panose="02020603050405020304" pitchFamily="18" charset="0"/>
            </a:endParaRPr>
          </a:p>
          <a:p>
            <a:r>
              <a:rPr lang="en-US" altLang="en-US" sz="2400" b="1" dirty="0">
                <a:solidFill>
                  <a:schemeClr val="tx1"/>
                </a:solidFill>
                <a:latin typeface="Times New Roman" panose="02020603050405020304" pitchFamily="18" charset="0"/>
                <a:cs typeface="Times New Roman" panose="02020603050405020304" pitchFamily="18" charset="0"/>
              </a:rPr>
              <a:t>Waiting time </a:t>
            </a:r>
            <a:r>
              <a:rPr lang="en-US" altLang="en-US" sz="2400" dirty="0">
                <a:solidFill>
                  <a:schemeClr val="tx1"/>
                </a:solidFill>
                <a:latin typeface="Times New Roman" panose="02020603050405020304" pitchFamily="18" charset="0"/>
                <a:cs typeface="Times New Roman" panose="02020603050405020304" pitchFamily="18" charset="0"/>
              </a:rPr>
              <a:t>– amount of time a process has been waiting in the ready queue</a:t>
            </a:r>
            <a:br>
              <a:rPr lang="en-US" altLang="en-US" sz="2400" dirty="0">
                <a:solidFill>
                  <a:schemeClr val="tx1"/>
                </a:solidFill>
                <a:latin typeface="Times New Roman" panose="02020603050405020304" pitchFamily="18" charset="0"/>
                <a:cs typeface="Times New Roman" panose="02020603050405020304" pitchFamily="18" charset="0"/>
              </a:rPr>
            </a:br>
            <a:br>
              <a:rPr lang="en-US" altLang="en-US" sz="2400" dirty="0">
                <a:solidFill>
                  <a:schemeClr val="tx1"/>
                </a:solidFill>
                <a:latin typeface="Times New Roman" panose="02020603050405020304" pitchFamily="18" charset="0"/>
                <a:cs typeface="Times New Roman" panose="02020603050405020304" pitchFamily="18" charset="0"/>
              </a:rPr>
            </a:br>
            <a:r>
              <a:rPr lang="en-US" altLang="en-US" sz="2400" dirty="0">
                <a:solidFill>
                  <a:schemeClr val="tx1"/>
                </a:solidFill>
                <a:latin typeface="Times New Roman" panose="02020603050405020304" pitchFamily="18" charset="0"/>
                <a:cs typeface="Times New Roman" panose="02020603050405020304" pitchFamily="18" charset="0"/>
              </a:rPr>
              <a:t>W.T = T.A.T - Brust time</a:t>
            </a:r>
            <a:br>
              <a:rPr lang="en-US" altLang="en-US" sz="2400" dirty="0">
                <a:solidFill>
                  <a:schemeClr val="tx1"/>
                </a:solidFill>
                <a:latin typeface="Times New Roman" panose="02020603050405020304" pitchFamily="18" charset="0"/>
                <a:cs typeface="Times New Roman" panose="02020603050405020304" pitchFamily="18" charset="0"/>
              </a:rPr>
            </a:br>
            <a:endParaRPr lang="en-US" altLang="en-US" sz="2400" dirty="0">
              <a:solidFill>
                <a:schemeClr val="tx1"/>
              </a:solidFill>
              <a:latin typeface="Times New Roman" panose="02020603050405020304" pitchFamily="18" charset="0"/>
              <a:cs typeface="Times New Roman" panose="02020603050405020304" pitchFamily="18" charset="0"/>
            </a:endParaRPr>
          </a:p>
          <a:p>
            <a:r>
              <a:rPr lang="en-US" altLang="en-US" sz="2400" b="1" dirty="0">
                <a:solidFill>
                  <a:schemeClr val="tx1"/>
                </a:solidFill>
                <a:latin typeface="Times New Roman" panose="02020603050405020304" pitchFamily="18" charset="0"/>
                <a:cs typeface="Times New Roman" panose="02020603050405020304" pitchFamily="18" charset="0"/>
              </a:rPr>
              <a:t>Response time </a:t>
            </a:r>
            <a:r>
              <a:rPr lang="en-US" altLang="en-US" sz="2400" dirty="0">
                <a:solidFill>
                  <a:schemeClr val="tx1"/>
                </a:solidFill>
                <a:latin typeface="Times New Roman" panose="02020603050405020304" pitchFamily="18" charset="0"/>
                <a:cs typeface="Times New Roman" panose="02020603050405020304" pitchFamily="18" charset="0"/>
              </a:rPr>
              <a:t>– amount of time it takes from when a request was submitted until the first response is produced, not output  (for time-sharing environment)</a:t>
            </a:r>
          </a:p>
          <a:p>
            <a:endParaRPr lang="en-US" dirty="0"/>
          </a:p>
        </p:txBody>
      </p:sp>
      <p:sp>
        <p:nvSpPr>
          <p:cNvPr id="4" name="Footer Placeholder 3">
            <a:extLst>
              <a:ext uri="{FF2B5EF4-FFF2-40B4-BE49-F238E27FC236}">
                <a16:creationId xmlns:a16="http://schemas.microsoft.com/office/drawing/2014/main" id="{B32A8528-7FEB-9A30-B672-CD83B91A03C6}"/>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4785723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559EF-28ED-41A7-97BC-41C1F268D760}"/>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FCFS Scheduling</a:t>
            </a:r>
          </a:p>
        </p:txBody>
      </p:sp>
      <p:sp>
        <p:nvSpPr>
          <p:cNvPr id="4" name="Rectangle 3">
            <a:extLst>
              <a:ext uri="{FF2B5EF4-FFF2-40B4-BE49-F238E27FC236}">
                <a16:creationId xmlns:a16="http://schemas.microsoft.com/office/drawing/2014/main" id="{65478B68-EB80-4E89-BC14-F67B86EE32D0}"/>
              </a:ext>
            </a:extLst>
          </p:cNvPr>
          <p:cNvSpPr>
            <a:spLocks noGrp="1" noChangeArrowheads="1"/>
          </p:cNvSpPr>
          <p:nvPr>
            <p:ph idx="1"/>
          </p:nvPr>
        </p:nvSpPr>
        <p:spPr>
          <a:xfrm>
            <a:off x="2439088" y="1655928"/>
            <a:ext cx="8915400" cy="3778250"/>
          </a:xfrm>
        </p:spPr>
        <p:txBody>
          <a:bodyPr>
            <a:noAutofit/>
          </a:bodyPr>
          <a:lstStyle/>
          <a:p>
            <a:pPr>
              <a:lnSpc>
                <a:spcPct val="90000"/>
              </a:lnSpc>
              <a:buFont typeface="Monotype Sorts" pitchFamily="-84" charset="2"/>
              <a:buNone/>
              <a:tabLst>
                <a:tab pos="3028950" algn="ctr"/>
                <a:tab pos="4633913" algn="ctr"/>
              </a:tabLst>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u="sng" dirty="0">
                <a:solidFill>
                  <a:schemeClr val="tx1"/>
                </a:solidFill>
                <a:latin typeface="Times New Roman" panose="02020603050405020304" pitchFamily="18" charset="0"/>
                <a:cs typeface="Times New Roman" panose="02020603050405020304" pitchFamily="18" charset="0"/>
              </a:rPr>
              <a:t>Process</a:t>
            </a: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u="sng" dirty="0">
                <a:solidFill>
                  <a:schemeClr val="tx1"/>
                </a:solidFill>
                <a:latin typeface="Times New Roman" panose="02020603050405020304" pitchFamily="18" charset="0"/>
                <a:cs typeface="Times New Roman" panose="02020603050405020304" pitchFamily="18" charset="0"/>
              </a:rPr>
              <a:t>Burst Time	</a:t>
            </a:r>
          </a:p>
          <a:p>
            <a:pPr>
              <a:lnSpc>
                <a:spcPct val="90000"/>
              </a:lnSpc>
              <a:buFont typeface="Monotype Sorts" pitchFamily="-84" charset="2"/>
              <a:buNone/>
              <a:tabLst>
                <a:tab pos="3028950" algn="ctr"/>
                <a:tab pos="4633913" algn="ctr"/>
              </a:tabLst>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1</a:t>
            </a:r>
            <a:r>
              <a:rPr lang="en-US" altLang="en-US" sz="2000" dirty="0">
                <a:solidFill>
                  <a:schemeClr val="tx1"/>
                </a:solidFill>
                <a:latin typeface="Times New Roman" panose="02020603050405020304" pitchFamily="18" charset="0"/>
                <a:cs typeface="Times New Roman" panose="02020603050405020304" pitchFamily="18" charset="0"/>
              </a:rPr>
              <a:t>	24</a:t>
            </a:r>
          </a:p>
          <a:p>
            <a:pPr>
              <a:lnSpc>
                <a:spcPct val="90000"/>
              </a:lnSpc>
              <a:buFont typeface="Monotype Sorts" pitchFamily="-84" charset="2"/>
              <a:buNone/>
              <a:tabLst>
                <a:tab pos="3028950" algn="ctr"/>
                <a:tab pos="4633913" algn="ctr"/>
              </a:tabLst>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2</a:t>
            </a:r>
            <a:r>
              <a:rPr lang="en-US" altLang="en-US" sz="2000" dirty="0">
                <a:solidFill>
                  <a:schemeClr val="tx1"/>
                </a:solidFill>
                <a:latin typeface="Times New Roman" panose="02020603050405020304" pitchFamily="18" charset="0"/>
                <a:cs typeface="Times New Roman" panose="02020603050405020304" pitchFamily="18" charset="0"/>
              </a:rPr>
              <a:t> 	3</a:t>
            </a:r>
          </a:p>
          <a:p>
            <a:pPr>
              <a:lnSpc>
                <a:spcPct val="90000"/>
              </a:lnSpc>
              <a:buFont typeface="Monotype Sorts" pitchFamily="-84" charset="2"/>
              <a:buNone/>
              <a:tabLst>
                <a:tab pos="3028950" algn="ctr"/>
                <a:tab pos="4633913" algn="ctr"/>
              </a:tabLst>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3	 </a:t>
            </a:r>
            <a:r>
              <a:rPr lang="en-US" altLang="en-US" sz="2000" dirty="0">
                <a:solidFill>
                  <a:schemeClr val="tx1"/>
                </a:solidFill>
                <a:latin typeface="Times New Roman" panose="02020603050405020304" pitchFamily="18" charset="0"/>
                <a:cs typeface="Times New Roman" panose="02020603050405020304" pitchFamily="18" charset="0"/>
              </a:rPr>
              <a:t>3</a:t>
            </a:r>
            <a:r>
              <a:rPr lang="en-US" altLang="en-US" sz="2000" i="1" baseline="-25000" dirty="0">
                <a:solidFill>
                  <a:schemeClr val="tx1"/>
                </a:solidFill>
                <a:latin typeface="Times New Roman" panose="02020603050405020304" pitchFamily="18" charset="0"/>
                <a:cs typeface="Times New Roman" panose="02020603050405020304" pitchFamily="18" charset="0"/>
              </a:rPr>
              <a:t> </a:t>
            </a:r>
          </a:p>
          <a:p>
            <a:pPr>
              <a:lnSpc>
                <a:spcPct val="90000"/>
              </a:lnSpc>
              <a:tabLst>
                <a:tab pos="3028950" algn="ctr"/>
                <a:tab pos="4633913" algn="ctr"/>
              </a:tabLst>
            </a:pPr>
            <a:r>
              <a:rPr lang="en-US" altLang="en-US" sz="2000" dirty="0">
                <a:solidFill>
                  <a:schemeClr val="tx1"/>
                </a:solidFill>
                <a:latin typeface="Times New Roman" panose="02020603050405020304" pitchFamily="18" charset="0"/>
                <a:cs typeface="Times New Roman" panose="02020603050405020304" pitchFamily="18" charset="0"/>
              </a:rPr>
              <a:t>Suppose that the processes arrive in the order: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1</a:t>
            </a:r>
            <a:r>
              <a:rPr lang="en-US" altLang="en-US" sz="2000" dirty="0">
                <a:solidFill>
                  <a:schemeClr val="tx1"/>
                </a:solidFill>
                <a:latin typeface="Times New Roman" panose="02020603050405020304" pitchFamily="18" charset="0"/>
                <a:cs typeface="Times New Roman" panose="02020603050405020304" pitchFamily="18" charset="0"/>
              </a:rPr>
              <a:t> ,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2</a:t>
            </a:r>
            <a:r>
              <a:rPr lang="en-US" altLang="en-US" sz="2000" dirty="0">
                <a:solidFill>
                  <a:schemeClr val="tx1"/>
                </a:solidFill>
                <a:latin typeface="Times New Roman" panose="02020603050405020304" pitchFamily="18" charset="0"/>
                <a:cs typeface="Times New Roman" panose="02020603050405020304" pitchFamily="18" charset="0"/>
              </a:rPr>
              <a:t> ,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3  </a:t>
            </a:r>
            <a:br>
              <a:rPr lang="en-US" altLang="en-US" sz="2000" i="1" baseline="-25000" dirty="0">
                <a:solidFill>
                  <a:schemeClr val="tx1"/>
                </a:solidFill>
                <a:latin typeface="Times New Roman" panose="02020603050405020304" pitchFamily="18" charset="0"/>
                <a:cs typeface="Times New Roman" panose="02020603050405020304" pitchFamily="18" charset="0"/>
              </a:rPr>
            </a:br>
            <a:r>
              <a:rPr lang="en-US" altLang="en-US" sz="2000" dirty="0">
                <a:solidFill>
                  <a:schemeClr val="tx1"/>
                </a:solidFill>
                <a:latin typeface="Times New Roman" panose="02020603050405020304" pitchFamily="18" charset="0"/>
                <a:cs typeface="Times New Roman" panose="02020603050405020304" pitchFamily="18" charset="0"/>
              </a:rPr>
              <a:t>The Gantt Chart for the schedule is:</a:t>
            </a:r>
            <a:br>
              <a:rPr lang="en-US" altLang="en-US" sz="2000" dirty="0">
                <a:solidFill>
                  <a:schemeClr val="tx1"/>
                </a:solidFill>
                <a:latin typeface="Times New Roman" panose="02020603050405020304" pitchFamily="18" charset="0"/>
                <a:cs typeface="Times New Roman" panose="02020603050405020304" pitchFamily="18" charset="0"/>
              </a:rPr>
            </a:br>
            <a:br>
              <a:rPr lang="en-US" altLang="en-US" sz="2000" dirty="0">
                <a:solidFill>
                  <a:schemeClr val="tx1"/>
                </a:solidFill>
                <a:latin typeface="Times New Roman" panose="02020603050405020304" pitchFamily="18" charset="0"/>
                <a:cs typeface="Times New Roman" panose="02020603050405020304" pitchFamily="18" charset="0"/>
              </a:rPr>
            </a:br>
            <a:endParaRPr lang="en-US" altLang="en-US" sz="2000" dirty="0">
              <a:solidFill>
                <a:schemeClr val="tx1"/>
              </a:solidFill>
              <a:latin typeface="Times New Roman" panose="02020603050405020304" pitchFamily="18" charset="0"/>
              <a:cs typeface="Times New Roman" panose="02020603050405020304" pitchFamily="18" charset="0"/>
            </a:endParaRPr>
          </a:p>
          <a:p>
            <a:pPr>
              <a:lnSpc>
                <a:spcPct val="90000"/>
              </a:lnSpc>
              <a:tabLst>
                <a:tab pos="3028950" algn="ctr"/>
                <a:tab pos="4633913" algn="ctr"/>
              </a:tabLst>
            </a:pPr>
            <a:r>
              <a:rPr lang="en-US" altLang="en-US" sz="2000" dirty="0">
                <a:solidFill>
                  <a:schemeClr val="tx1"/>
                </a:solidFill>
                <a:latin typeface="Times New Roman" panose="02020603050405020304" pitchFamily="18" charset="0"/>
                <a:cs typeface="Times New Roman" panose="02020603050405020304" pitchFamily="18" charset="0"/>
              </a:rPr>
              <a:t>Waiting time for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1</a:t>
            </a:r>
            <a:r>
              <a:rPr lang="en-US" altLang="en-US" sz="2000" dirty="0">
                <a:solidFill>
                  <a:schemeClr val="tx1"/>
                </a:solidFill>
                <a:latin typeface="Times New Roman" panose="02020603050405020304" pitchFamily="18" charset="0"/>
                <a:cs typeface="Times New Roman" panose="02020603050405020304" pitchFamily="18" charset="0"/>
              </a:rPr>
              <a:t>  = 0;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2</a:t>
            </a:r>
            <a:r>
              <a:rPr lang="en-US" altLang="en-US" sz="2000" dirty="0">
                <a:solidFill>
                  <a:schemeClr val="tx1"/>
                </a:solidFill>
                <a:latin typeface="Times New Roman" panose="02020603050405020304" pitchFamily="18" charset="0"/>
                <a:cs typeface="Times New Roman" panose="02020603050405020304" pitchFamily="18" charset="0"/>
              </a:rPr>
              <a:t>  = 24;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3 </a:t>
            </a:r>
            <a:r>
              <a:rPr lang="en-US" altLang="en-US" sz="2000" dirty="0">
                <a:solidFill>
                  <a:schemeClr val="tx1"/>
                </a:solidFill>
                <a:latin typeface="Times New Roman" panose="02020603050405020304" pitchFamily="18" charset="0"/>
                <a:cs typeface="Times New Roman" panose="02020603050405020304" pitchFamily="18" charset="0"/>
              </a:rPr>
              <a:t>= 27</a:t>
            </a:r>
          </a:p>
          <a:p>
            <a:pPr>
              <a:lnSpc>
                <a:spcPct val="90000"/>
              </a:lnSpc>
              <a:tabLst>
                <a:tab pos="3028950" algn="ctr"/>
                <a:tab pos="4633913" algn="ctr"/>
              </a:tabLst>
            </a:pPr>
            <a:r>
              <a:rPr lang="en-US" altLang="en-US" sz="2000" dirty="0">
                <a:solidFill>
                  <a:schemeClr val="tx1"/>
                </a:solidFill>
                <a:latin typeface="Times New Roman" panose="02020603050405020304" pitchFamily="18" charset="0"/>
                <a:cs typeface="Times New Roman" panose="02020603050405020304" pitchFamily="18" charset="0"/>
              </a:rPr>
              <a:t>Average waiting time:  (0 + 24 + 27)/3 = 17</a:t>
            </a:r>
          </a:p>
        </p:txBody>
      </p:sp>
      <p:pic>
        <p:nvPicPr>
          <p:cNvPr id="5" name="Picture 1">
            <a:extLst>
              <a:ext uri="{FF2B5EF4-FFF2-40B4-BE49-F238E27FC236}">
                <a16:creationId xmlns:a16="http://schemas.microsoft.com/office/drawing/2014/main" id="{3274093A-EF44-4859-A593-8DF3D662F60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19369" y="3848290"/>
            <a:ext cx="6954838"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a:extLst>
              <a:ext uri="{FF2B5EF4-FFF2-40B4-BE49-F238E27FC236}">
                <a16:creationId xmlns:a16="http://schemas.microsoft.com/office/drawing/2014/main" id="{376E416D-ED0C-5FE0-52A1-29575F112B41}"/>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037636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B7DEB-EA55-444D-9C3E-8BDACC501121}"/>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FCFS Scheduling (contd.)</a:t>
            </a:r>
            <a:endParaRPr lang="en-US" dirty="0"/>
          </a:p>
        </p:txBody>
      </p:sp>
      <p:sp>
        <p:nvSpPr>
          <p:cNvPr id="4" name="Rectangle 3">
            <a:extLst>
              <a:ext uri="{FF2B5EF4-FFF2-40B4-BE49-F238E27FC236}">
                <a16:creationId xmlns:a16="http://schemas.microsoft.com/office/drawing/2014/main" id="{E4DB00CC-A665-4915-9254-62245E2D791E}"/>
              </a:ext>
            </a:extLst>
          </p:cNvPr>
          <p:cNvSpPr txBox="1">
            <a:spLocks noChangeArrowheads="1"/>
          </p:cNvSpPr>
          <p:nvPr/>
        </p:nvSpPr>
        <p:spPr>
          <a:xfrm>
            <a:off x="3222893" y="1410909"/>
            <a:ext cx="7651750" cy="511272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Monotype Sorts" pitchFamily="-84" charset="2"/>
              <a:buNone/>
              <a:tabLst>
                <a:tab pos="3649345" algn="ctr"/>
              </a:tabLst>
              <a:defRPr/>
            </a:pPr>
            <a:r>
              <a:rPr lang="en-US" altLang="en-US" sz="2000" dirty="0">
                <a:solidFill>
                  <a:schemeClr val="tx1"/>
                </a:solidFill>
                <a:latin typeface="Times New Roman" panose="02020603050405020304" pitchFamily="18" charset="0"/>
                <a:cs typeface="Times New Roman" panose="02020603050405020304" pitchFamily="18" charset="0"/>
              </a:rPr>
              <a:t>Suppose that the processes arrive in the order:</a:t>
            </a:r>
          </a:p>
          <a:p>
            <a:pPr>
              <a:buFont typeface="Monotype Sorts" pitchFamily="-84" charset="2"/>
              <a:buNone/>
              <a:tabLst>
                <a:tab pos="3649345" algn="ctr"/>
              </a:tabLst>
              <a:defRPr/>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2</a:t>
            </a:r>
            <a:r>
              <a:rPr lang="en-US" altLang="en-US" sz="2000" dirty="0">
                <a:solidFill>
                  <a:schemeClr val="tx1"/>
                </a:solidFill>
                <a:latin typeface="Times New Roman" panose="02020603050405020304" pitchFamily="18" charset="0"/>
                <a:cs typeface="Times New Roman" panose="02020603050405020304" pitchFamily="18" charset="0"/>
              </a:rPr>
              <a:t> ,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3</a:t>
            </a:r>
            <a:r>
              <a:rPr lang="en-US" altLang="en-US" sz="2000" dirty="0">
                <a:solidFill>
                  <a:schemeClr val="tx1"/>
                </a:solidFill>
                <a:latin typeface="Times New Roman" panose="02020603050405020304" pitchFamily="18" charset="0"/>
                <a:cs typeface="Times New Roman" panose="02020603050405020304" pitchFamily="18" charset="0"/>
              </a:rPr>
              <a:t> ,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1</a:t>
            </a:r>
            <a:r>
              <a:rPr lang="en-US" altLang="en-US" sz="2000" dirty="0">
                <a:solidFill>
                  <a:schemeClr val="tx1"/>
                </a:solidFill>
                <a:latin typeface="Times New Roman" panose="02020603050405020304" pitchFamily="18" charset="0"/>
                <a:cs typeface="Times New Roman" panose="02020603050405020304" pitchFamily="18" charset="0"/>
              </a:rPr>
              <a:t> </a:t>
            </a:r>
          </a:p>
          <a:p>
            <a:pPr>
              <a:tabLst>
                <a:tab pos="3649345" algn="ctr"/>
              </a:tabLst>
              <a:defRPr/>
            </a:pPr>
            <a:r>
              <a:rPr lang="en-US" altLang="en-US" sz="2000" dirty="0">
                <a:solidFill>
                  <a:schemeClr val="tx1"/>
                </a:solidFill>
                <a:latin typeface="Times New Roman" panose="02020603050405020304" pitchFamily="18" charset="0"/>
                <a:cs typeface="Times New Roman" panose="02020603050405020304" pitchFamily="18" charset="0"/>
              </a:rPr>
              <a:t>The Gantt chart for the schedule is:</a:t>
            </a:r>
            <a:br>
              <a:rPr lang="en-US" altLang="en-US" sz="2000" dirty="0">
                <a:solidFill>
                  <a:schemeClr val="tx1"/>
                </a:solidFill>
                <a:latin typeface="Times New Roman" panose="02020603050405020304" pitchFamily="18" charset="0"/>
                <a:cs typeface="Times New Roman" panose="02020603050405020304" pitchFamily="18" charset="0"/>
              </a:rPr>
            </a:br>
            <a:endParaRPr lang="en-US" altLang="en-US" sz="2000" dirty="0">
              <a:solidFill>
                <a:schemeClr val="tx1"/>
              </a:solidFill>
              <a:latin typeface="Times New Roman" panose="02020603050405020304" pitchFamily="18" charset="0"/>
              <a:cs typeface="Times New Roman" panose="02020603050405020304" pitchFamily="18" charset="0"/>
            </a:endParaRPr>
          </a:p>
          <a:p>
            <a:pPr marL="0" indent="0">
              <a:buFont typeface="Monotype Sorts" pitchFamily="-84" charset="2"/>
              <a:buNone/>
              <a:tabLst>
                <a:tab pos="3649345" algn="ctr"/>
              </a:tabLst>
              <a:defRPr/>
            </a:pPr>
            <a:endParaRPr lang="en-US" altLang="en-US" sz="2000" dirty="0">
              <a:solidFill>
                <a:schemeClr val="tx1"/>
              </a:solidFill>
              <a:latin typeface="Times New Roman" panose="02020603050405020304" pitchFamily="18" charset="0"/>
              <a:cs typeface="Times New Roman" panose="02020603050405020304" pitchFamily="18" charset="0"/>
            </a:endParaRPr>
          </a:p>
          <a:p>
            <a:pPr>
              <a:tabLst>
                <a:tab pos="3649345" algn="ctr"/>
              </a:tabLst>
              <a:defRPr/>
            </a:pPr>
            <a:endParaRPr lang="en-US" altLang="en-US" sz="2000" dirty="0">
              <a:solidFill>
                <a:schemeClr val="tx1"/>
              </a:solidFill>
              <a:latin typeface="Times New Roman" panose="02020603050405020304" pitchFamily="18" charset="0"/>
              <a:cs typeface="Times New Roman" panose="02020603050405020304" pitchFamily="18" charset="0"/>
            </a:endParaRPr>
          </a:p>
          <a:p>
            <a:pPr>
              <a:tabLst>
                <a:tab pos="3649345" algn="ctr"/>
              </a:tabLst>
              <a:defRPr/>
            </a:pPr>
            <a:r>
              <a:rPr lang="en-US" altLang="en-US" sz="2000" dirty="0">
                <a:solidFill>
                  <a:schemeClr val="tx1"/>
                </a:solidFill>
                <a:latin typeface="Times New Roman" panose="02020603050405020304" pitchFamily="18" charset="0"/>
                <a:cs typeface="Times New Roman" panose="02020603050405020304" pitchFamily="18" charset="0"/>
              </a:rPr>
              <a:t>Waiting time for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1 </a:t>
            </a:r>
            <a:r>
              <a:rPr lang="en-US" altLang="en-US" sz="2000" i="1" dirty="0">
                <a:solidFill>
                  <a:schemeClr val="tx1"/>
                </a:solidFill>
                <a:latin typeface="Times New Roman" panose="02020603050405020304" pitchFamily="18" charset="0"/>
                <a:cs typeface="Times New Roman" panose="02020603050405020304" pitchFamily="18" charset="0"/>
              </a:rPr>
              <a:t>=</a:t>
            </a:r>
            <a:r>
              <a:rPr lang="en-US" altLang="en-US" sz="2000" dirty="0">
                <a:solidFill>
                  <a:schemeClr val="tx1"/>
                </a:solidFill>
                <a:latin typeface="Times New Roman" panose="02020603050405020304" pitchFamily="18" charset="0"/>
                <a:cs typeface="Times New Roman" panose="02020603050405020304" pitchFamily="18" charset="0"/>
              </a:rPr>
              <a:t> 6</a:t>
            </a:r>
            <a:r>
              <a:rPr lang="en-US" altLang="en-US" sz="2000" i="1" dirty="0">
                <a:solidFill>
                  <a:schemeClr val="tx1"/>
                </a:solidFill>
                <a:latin typeface="Times New Roman" panose="02020603050405020304" pitchFamily="18" charset="0"/>
                <a:cs typeface="Times New Roman" panose="02020603050405020304" pitchFamily="18" charset="0"/>
              </a:rPr>
              <a:t>;</a:t>
            </a:r>
            <a:r>
              <a:rPr lang="en-US" altLang="en-US" sz="2000" i="1" baseline="-25000" dirty="0">
                <a:solidFill>
                  <a:schemeClr val="tx1"/>
                </a:solidFill>
                <a:latin typeface="Times New Roman" panose="02020603050405020304" pitchFamily="18" charset="0"/>
                <a:cs typeface="Times New Roman" panose="02020603050405020304" pitchFamily="18" charset="0"/>
              </a:rPr>
              <a:t>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2</a:t>
            </a:r>
            <a:r>
              <a:rPr lang="en-US" altLang="en-US" sz="2000" dirty="0">
                <a:solidFill>
                  <a:schemeClr val="tx1"/>
                </a:solidFill>
                <a:latin typeface="Times New Roman" panose="02020603050405020304" pitchFamily="18" charset="0"/>
                <a:cs typeface="Times New Roman" panose="02020603050405020304" pitchFamily="18" charset="0"/>
              </a:rPr>
              <a:t> = 0</a:t>
            </a:r>
            <a:r>
              <a:rPr lang="en-US" altLang="en-US" sz="2000" i="1" baseline="-25000" dirty="0">
                <a:solidFill>
                  <a:schemeClr val="tx1"/>
                </a:solidFill>
                <a:latin typeface="Times New Roman" panose="02020603050405020304" pitchFamily="18" charset="0"/>
                <a:cs typeface="Times New Roman" panose="02020603050405020304" pitchFamily="18" charset="0"/>
              </a:rPr>
              <a:t>;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3 </a:t>
            </a:r>
            <a:r>
              <a:rPr lang="en-US" altLang="en-US" sz="2000" i="1" dirty="0">
                <a:solidFill>
                  <a:schemeClr val="tx1"/>
                </a:solidFill>
                <a:latin typeface="Times New Roman" panose="02020603050405020304" pitchFamily="18" charset="0"/>
                <a:cs typeface="Times New Roman" panose="02020603050405020304" pitchFamily="18" charset="0"/>
              </a:rPr>
              <a:t>= </a:t>
            </a:r>
            <a:r>
              <a:rPr lang="en-US" altLang="en-US" sz="2000" dirty="0">
                <a:solidFill>
                  <a:schemeClr val="tx1"/>
                </a:solidFill>
                <a:latin typeface="Times New Roman" panose="02020603050405020304" pitchFamily="18" charset="0"/>
                <a:cs typeface="Times New Roman" panose="02020603050405020304" pitchFamily="18" charset="0"/>
              </a:rPr>
              <a:t>3</a:t>
            </a:r>
            <a:endParaRPr lang="en-US" altLang="en-US" sz="2000" i="1" dirty="0">
              <a:solidFill>
                <a:schemeClr val="tx1"/>
              </a:solidFill>
              <a:latin typeface="Times New Roman" panose="02020603050405020304" pitchFamily="18" charset="0"/>
              <a:cs typeface="Times New Roman" panose="02020603050405020304" pitchFamily="18" charset="0"/>
            </a:endParaRPr>
          </a:p>
          <a:p>
            <a:pPr>
              <a:tabLst>
                <a:tab pos="3649345" algn="ctr"/>
              </a:tabLst>
              <a:defRPr/>
            </a:pPr>
            <a:r>
              <a:rPr lang="en-US" altLang="en-US" sz="2000" dirty="0">
                <a:solidFill>
                  <a:schemeClr val="tx1"/>
                </a:solidFill>
                <a:latin typeface="Times New Roman" panose="02020603050405020304" pitchFamily="18" charset="0"/>
                <a:cs typeface="Times New Roman" panose="02020603050405020304" pitchFamily="18" charset="0"/>
              </a:rPr>
              <a:t>Average waiting time:   (6 + 0 + 3)/3 = 3</a:t>
            </a:r>
          </a:p>
          <a:p>
            <a:pPr>
              <a:tabLst>
                <a:tab pos="3649345" algn="ctr"/>
              </a:tabLst>
              <a:defRPr/>
            </a:pPr>
            <a:r>
              <a:rPr lang="en-US" altLang="en-US" sz="2000" dirty="0">
                <a:solidFill>
                  <a:schemeClr val="tx1"/>
                </a:solidFill>
                <a:latin typeface="Times New Roman" panose="02020603050405020304" pitchFamily="18" charset="0"/>
                <a:cs typeface="Times New Roman" panose="02020603050405020304" pitchFamily="18" charset="0"/>
              </a:rPr>
              <a:t>Much better than previous case</a:t>
            </a:r>
          </a:p>
          <a:p>
            <a:pPr>
              <a:tabLst>
                <a:tab pos="3649345" algn="ctr"/>
              </a:tabLst>
              <a:defRPr/>
            </a:pPr>
            <a:r>
              <a:rPr lang="en-US" altLang="en-US" sz="2000" b="1" dirty="0">
                <a:solidFill>
                  <a:schemeClr val="tx1"/>
                </a:solidFill>
                <a:latin typeface="Times New Roman" panose="02020603050405020304" pitchFamily="18" charset="0"/>
                <a:cs typeface="Times New Roman" panose="02020603050405020304" pitchFamily="18" charset="0"/>
              </a:rPr>
              <a:t>Convoy effect </a:t>
            </a:r>
            <a:r>
              <a:rPr lang="en-US" altLang="en-US" sz="2000" dirty="0">
                <a:solidFill>
                  <a:schemeClr val="tx1"/>
                </a:solidFill>
                <a:latin typeface="Times New Roman" panose="02020603050405020304" pitchFamily="18" charset="0"/>
                <a:cs typeface="Times New Roman" panose="02020603050405020304" pitchFamily="18" charset="0"/>
              </a:rPr>
              <a:t>- short process behind long process</a:t>
            </a:r>
          </a:p>
          <a:p>
            <a:pPr lvl="1">
              <a:tabLst>
                <a:tab pos="3649345" algn="ctr"/>
              </a:tabLst>
              <a:defRPr/>
            </a:pPr>
            <a:r>
              <a:rPr lang="en-US" altLang="en-US" sz="2000" dirty="0">
                <a:solidFill>
                  <a:schemeClr val="tx1"/>
                </a:solidFill>
                <a:latin typeface="Times New Roman" panose="02020603050405020304" pitchFamily="18" charset="0"/>
                <a:cs typeface="Times New Roman" panose="02020603050405020304" pitchFamily="18" charset="0"/>
              </a:rPr>
              <a:t>Consider one CPU-bound and many I/O-bound processes</a:t>
            </a:r>
          </a:p>
        </p:txBody>
      </p:sp>
      <p:pic>
        <p:nvPicPr>
          <p:cNvPr id="5" name="Picture 1">
            <a:extLst>
              <a:ext uri="{FF2B5EF4-FFF2-40B4-BE49-F238E27FC236}">
                <a16:creationId xmlns:a16="http://schemas.microsoft.com/office/drawing/2014/main" id="{66952C00-062B-4E45-A9E9-06DE7D9E82B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63075" y="2691799"/>
            <a:ext cx="7123113"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a:extLst>
              <a:ext uri="{FF2B5EF4-FFF2-40B4-BE49-F238E27FC236}">
                <a16:creationId xmlns:a16="http://schemas.microsoft.com/office/drawing/2014/main" id="{A8916DDD-A0DE-3771-3171-FE56B1EEF597}"/>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3373097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B3659-180A-4431-B1A5-78492BB9F150}"/>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SJF Scheduling </a:t>
            </a:r>
          </a:p>
        </p:txBody>
      </p:sp>
      <p:sp>
        <p:nvSpPr>
          <p:cNvPr id="4" name="Rectangle 36">
            <a:extLst>
              <a:ext uri="{FF2B5EF4-FFF2-40B4-BE49-F238E27FC236}">
                <a16:creationId xmlns:a16="http://schemas.microsoft.com/office/drawing/2014/main" id="{84BA1D3C-AED8-48A1-B083-F20F21F4371C}"/>
              </a:ext>
            </a:extLst>
          </p:cNvPr>
          <p:cNvSpPr txBox="1">
            <a:spLocks noChangeArrowheads="1"/>
          </p:cNvSpPr>
          <p:nvPr/>
        </p:nvSpPr>
        <p:spPr>
          <a:xfrm>
            <a:off x="2744433" y="1424556"/>
            <a:ext cx="8229600" cy="5153665"/>
          </a:xfrm>
          <a:prstGeom prst="rect">
            <a:avLst/>
          </a:prstGeom>
          <a:noFill/>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Monotype Sorts" pitchFamily="-84" charset="2"/>
              <a:buNone/>
              <a:tabLst>
                <a:tab pos="1600200" algn="ctr"/>
                <a:tab pos="3251200" algn="ctr"/>
                <a:tab pos="5140325" algn="ctr"/>
              </a:tabLst>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u="sng" dirty="0">
                <a:solidFill>
                  <a:schemeClr val="tx1"/>
                </a:solidFill>
                <a:latin typeface="Times New Roman" panose="02020603050405020304" pitchFamily="18" charset="0"/>
                <a:cs typeface="Times New Roman" panose="02020603050405020304" pitchFamily="18" charset="0"/>
              </a:rPr>
              <a:t>Process </a:t>
            </a: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u="sng" dirty="0">
                <a:solidFill>
                  <a:schemeClr val="tx1"/>
                </a:solidFill>
                <a:latin typeface="Times New Roman" panose="02020603050405020304" pitchFamily="18" charset="0"/>
                <a:cs typeface="Times New Roman" panose="02020603050405020304" pitchFamily="18" charset="0"/>
              </a:rPr>
              <a:t> </a:t>
            </a: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u="sng" dirty="0">
                <a:solidFill>
                  <a:schemeClr val="tx1"/>
                </a:solidFill>
                <a:latin typeface="Times New Roman" panose="02020603050405020304" pitchFamily="18" charset="0"/>
                <a:cs typeface="Times New Roman" panose="02020603050405020304" pitchFamily="18" charset="0"/>
              </a:rPr>
              <a:t>Burst Time</a:t>
            </a:r>
            <a:endParaRPr lang="en-US" altLang="en-US" sz="2000" dirty="0">
              <a:solidFill>
                <a:schemeClr val="tx1"/>
              </a:solidFill>
              <a:latin typeface="Times New Roman" panose="02020603050405020304" pitchFamily="18" charset="0"/>
              <a:cs typeface="Times New Roman" panose="02020603050405020304" pitchFamily="18" charset="0"/>
            </a:endParaRPr>
          </a:p>
          <a:p>
            <a:pPr>
              <a:buFont typeface="Monotype Sorts" pitchFamily="-84" charset="2"/>
              <a:buNone/>
              <a:tabLst>
                <a:tab pos="1600200" algn="ctr"/>
                <a:tab pos="3251200" algn="ctr"/>
                <a:tab pos="5140325" algn="ctr"/>
              </a:tabLst>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1</a:t>
            </a:r>
            <a:r>
              <a:rPr lang="en-US" altLang="en-US" sz="2000" dirty="0">
                <a:solidFill>
                  <a:schemeClr val="tx1"/>
                </a:solidFill>
                <a:latin typeface="Times New Roman" panose="02020603050405020304" pitchFamily="18" charset="0"/>
                <a:cs typeface="Times New Roman" panose="02020603050405020304" pitchFamily="18" charset="0"/>
              </a:rPr>
              <a:t>	6</a:t>
            </a:r>
          </a:p>
          <a:p>
            <a:pPr>
              <a:buFont typeface="Monotype Sorts" pitchFamily="-84" charset="2"/>
              <a:buNone/>
              <a:tabLst>
                <a:tab pos="1600200" algn="ctr"/>
                <a:tab pos="3251200" algn="ctr"/>
                <a:tab pos="5140325" algn="ctr"/>
              </a:tabLst>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2 	</a:t>
            </a:r>
            <a:r>
              <a:rPr lang="en-US" altLang="en-US" sz="2000" dirty="0">
                <a:solidFill>
                  <a:schemeClr val="tx1"/>
                </a:solidFill>
                <a:latin typeface="Times New Roman" panose="02020603050405020304" pitchFamily="18" charset="0"/>
                <a:cs typeface="Times New Roman" panose="02020603050405020304" pitchFamily="18" charset="0"/>
              </a:rPr>
              <a:t>8</a:t>
            </a:r>
          </a:p>
          <a:p>
            <a:pPr>
              <a:buFont typeface="Monotype Sorts" pitchFamily="-84" charset="2"/>
              <a:buNone/>
              <a:tabLst>
                <a:tab pos="1600200" algn="ctr"/>
                <a:tab pos="3251200" algn="ctr"/>
                <a:tab pos="5140325" algn="ctr"/>
              </a:tabLst>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3</a:t>
            </a:r>
            <a:r>
              <a:rPr lang="en-US" altLang="en-US" sz="2000" dirty="0">
                <a:solidFill>
                  <a:schemeClr val="tx1"/>
                </a:solidFill>
                <a:latin typeface="Times New Roman" panose="02020603050405020304" pitchFamily="18" charset="0"/>
                <a:cs typeface="Times New Roman" panose="02020603050405020304" pitchFamily="18" charset="0"/>
              </a:rPr>
              <a:t>	7</a:t>
            </a:r>
          </a:p>
          <a:p>
            <a:pPr>
              <a:buFont typeface="Monotype Sorts" pitchFamily="-84" charset="2"/>
              <a:buNone/>
              <a:tabLst>
                <a:tab pos="1600200" algn="ctr"/>
                <a:tab pos="3251200" algn="ctr"/>
                <a:tab pos="5140325" algn="ctr"/>
              </a:tabLst>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4</a:t>
            </a:r>
            <a:r>
              <a:rPr lang="en-US" altLang="en-US" sz="2000" dirty="0">
                <a:solidFill>
                  <a:schemeClr val="tx1"/>
                </a:solidFill>
                <a:latin typeface="Times New Roman" panose="02020603050405020304" pitchFamily="18" charset="0"/>
                <a:cs typeface="Times New Roman" panose="02020603050405020304" pitchFamily="18" charset="0"/>
              </a:rPr>
              <a:t>	3</a:t>
            </a:r>
          </a:p>
          <a:p>
            <a:pPr>
              <a:buFont typeface="Monotype Sorts" pitchFamily="-84" charset="2"/>
              <a:buNone/>
              <a:tabLst>
                <a:tab pos="1600200" algn="ctr"/>
                <a:tab pos="3251200" algn="ctr"/>
                <a:tab pos="5140325" algn="ctr"/>
              </a:tabLst>
            </a:pPr>
            <a:endParaRPr lang="en-US" altLang="en-US" sz="2000" dirty="0">
              <a:solidFill>
                <a:schemeClr val="tx1"/>
              </a:solidFill>
              <a:latin typeface="Times New Roman" panose="02020603050405020304" pitchFamily="18" charset="0"/>
              <a:cs typeface="Times New Roman" panose="02020603050405020304" pitchFamily="18" charset="0"/>
            </a:endParaRPr>
          </a:p>
          <a:p>
            <a:pPr>
              <a:tabLst>
                <a:tab pos="1600200" algn="ctr"/>
                <a:tab pos="3251200" algn="ctr"/>
                <a:tab pos="5140325" algn="ctr"/>
              </a:tabLst>
            </a:pPr>
            <a:r>
              <a:rPr lang="en-US" altLang="en-US" sz="2000" dirty="0">
                <a:solidFill>
                  <a:schemeClr val="tx1"/>
                </a:solidFill>
                <a:latin typeface="Times New Roman" panose="02020603050405020304" pitchFamily="18" charset="0"/>
                <a:cs typeface="Times New Roman" panose="02020603050405020304" pitchFamily="18" charset="0"/>
              </a:rPr>
              <a:t>SJF scheduling chart</a:t>
            </a:r>
          </a:p>
          <a:p>
            <a:pPr>
              <a:tabLst>
                <a:tab pos="1600200" algn="ctr"/>
                <a:tab pos="3251200" algn="ctr"/>
                <a:tab pos="5140325" algn="ctr"/>
              </a:tabLst>
            </a:pPr>
            <a:endParaRPr lang="en-US" altLang="en-US" sz="2000" dirty="0">
              <a:solidFill>
                <a:schemeClr val="tx1"/>
              </a:solidFill>
              <a:latin typeface="Times New Roman" panose="02020603050405020304" pitchFamily="18" charset="0"/>
              <a:cs typeface="Times New Roman" panose="02020603050405020304" pitchFamily="18" charset="0"/>
            </a:endParaRPr>
          </a:p>
          <a:p>
            <a:pPr>
              <a:tabLst>
                <a:tab pos="1600200" algn="ctr"/>
                <a:tab pos="3251200" algn="ctr"/>
                <a:tab pos="5140325" algn="ctr"/>
              </a:tabLst>
            </a:pPr>
            <a:endParaRPr lang="en-US" altLang="en-US" sz="2000" dirty="0">
              <a:solidFill>
                <a:schemeClr val="tx1"/>
              </a:solidFill>
              <a:latin typeface="Times New Roman" panose="02020603050405020304" pitchFamily="18" charset="0"/>
              <a:cs typeface="Times New Roman" panose="02020603050405020304" pitchFamily="18" charset="0"/>
            </a:endParaRPr>
          </a:p>
          <a:p>
            <a:pPr>
              <a:tabLst>
                <a:tab pos="1600200" algn="ctr"/>
                <a:tab pos="3251200" algn="ctr"/>
                <a:tab pos="5140325" algn="ctr"/>
              </a:tabLst>
            </a:pPr>
            <a:endParaRPr lang="en-US" altLang="en-US" sz="2000" dirty="0">
              <a:solidFill>
                <a:schemeClr val="tx1"/>
              </a:solidFill>
              <a:latin typeface="Times New Roman" panose="02020603050405020304" pitchFamily="18" charset="0"/>
              <a:cs typeface="Times New Roman" panose="02020603050405020304" pitchFamily="18" charset="0"/>
            </a:endParaRPr>
          </a:p>
          <a:p>
            <a:pPr>
              <a:tabLst>
                <a:tab pos="1600200" algn="ctr"/>
                <a:tab pos="3251200" algn="ctr"/>
                <a:tab pos="5140325" algn="ctr"/>
              </a:tabLst>
            </a:pPr>
            <a:r>
              <a:rPr lang="en-US" altLang="en-US" sz="2000" dirty="0">
                <a:solidFill>
                  <a:schemeClr val="tx1"/>
                </a:solidFill>
                <a:latin typeface="Times New Roman" panose="02020603050405020304" pitchFamily="18" charset="0"/>
                <a:cs typeface="Times New Roman" panose="02020603050405020304" pitchFamily="18" charset="0"/>
              </a:rPr>
              <a:t>Average waiting time = (3 + 16 + 9 + 0) / 4 = 7</a:t>
            </a:r>
            <a:endParaRPr lang="en-US" altLang="en-US" sz="2000" i="1" baseline="-25000" dirty="0">
              <a:solidFill>
                <a:schemeClr val="tx1"/>
              </a:solidFill>
              <a:latin typeface="Times New Roman" panose="02020603050405020304" pitchFamily="18" charset="0"/>
              <a:cs typeface="Times New Roman" panose="02020603050405020304" pitchFamily="18" charset="0"/>
            </a:endParaRPr>
          </a:p>
        </p:txBody>
      </p:sp>
      <p:pic>
        <p:nvPicPr>
          <p:cNvPr id="5" name="Picture 1">
            <a:extLst>
              <a:ext uri="{FF2B5EF4-FFF2-40B4-BE49-F238E27FC236}">
                <a16:creationId xmlns:a16="http://schemas.microsoft.com/office/drawing/2014/main" id="{0763900D-9A8F-42BE-993B-594F679C8F8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50724" y="4505326"/>
            <a:ext cx="6796087"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a:extLst>
              <a:ext uri="{FF2B5EF4-FFF2-40B4-BE49-F238E27FC236}">
                <a16:creationId xmlns:a16="http://schemas.microsoft.com/office/drawing/2014/main" id="{A79A6461-91D6-4938-58C5-75DBA4FEB9B4}"/>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6562983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AC4CD-7A17-4056-AA61-3B8A0F70BEC3}"/>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SRTF Scheduling </a:t>
            </a:r>
            <a:endParaRPr lang="en-US" dirty="0"/>
          </a:p>
        </p:txBody>
      </p:sp>
      <p:sp>
        <p:nvSpPr>
          <p:cNvPr id="4" name="Rectangle 36">
            <a:extLst>
              <a:ext uri="{FF2B5EF4-FFF2-40B4-BE49-F238E27FC236}">
                <a16:creationId xmlns:a16="http://schemas.microsoft.com/office/drawing/2014/main" id="{46D64995-72D1-4CA0-B3FB-556DD624FA4A}"/>
              </a:ext>
            </a:extLst>
          </p:cNvPr>
          <p:cNvSpPr txBox="1">
            <a:spLocks noChangeArrowheads="1"/>
          </p:cNvSpPr>
          <p:nvPr/>
        </p:nvSpPr>
        <p:spPr>
          <a:xfrm>
            <a:off x="2956541" y="1438205"/>
            <a:ext cx="7600950" cy="541979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tabLst>
                <a:tab pos="1601312" algn="ctr"/>
                <a:tab pos="3252629" algn="ctr"/>
                <a:tab pos="5141754" algn="ctr"/>
              </a:tabLst>
              <a:defRPr/>
            </a:pPr>
            <a:r>
              <a:rPr lang="en-US" altLang="en-US" sz="2000" dirty="0">
                <a:solidFill>
                  <a:schemeClr val="tx1"/>
                </a:solidFill>
                <a:latin typeface="Times New Roman" panose="02020603050405020304" pitchFamily="18" charset="0"/>
                <a:cs typeface="Times New Roman" panose="02020603050405020304" pitchFamily="18" charset="0"/>
              </a:rPr>
              <a:t>Now we add the concepts of varying arrival times and preemption to the analysis</a:t>
            </a:r>
          </a:p>
          <a:p>
            <a:pPr>
              <a:buFont typeface="Monotype Sorts" pitchFamily="-84" charset="2"/>
              <a:buNone/>
              <a:tabLst>
                <a:tab pos="1601312" algn="ctr"/>
                <a:tab pos="3252629" algn="ctr"/>
                <a:tab pos="5141754" algn="ctr"/>
              </a:tabLst>
              <a:defRPr/>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u="sng" dirty="0">
                <a:solidFill>
                  <a:schemeClr val="tx1"/>
                </a:solidFill>
                <a:latin typeface="Times New Roman" panose="02020603050405020304" pitchFamily="18" charset="0"/>
                <a:cs typeface="Times New Roman" panose="02020603050405020304" pitchFamily="18" charset="0"/>
              </a:rPr>
              <a:t>Process</a:t>
            </a: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u="sng" dirty="0">
                <a:solidFill>
                  <a:schemeClr val="tx1"/>
                </a:solidFill>
                <a:latin typeface="Times New Roman" panose="02020603050405020304" pitchFamily="18" charset="0"/>
                <a:cs typeface="Times New Roman" panose="02020603050405020304" pitchFamily="18" charset="0"/>
              </a:rPr>
              <a:t> </a:t>
            </a:r>
            <a:r>
              <a:rPr lang="en-US" altLang="en-US" sz="2000" i="1" u="sng" dirty="0">
                <a:solidFill>
                  <a:schemeClr val="tx1"/>
                </a:solidFill>
                <a:latin typeface="Times New Roman" panose="02020603050405020304" pitchFamily="18" charset="0"/>
                <a:cs typeface="Times New Roman" panose="02020603050405020304" pitchFamily="18" charset="0"/>
              </a:rPr>
              <a:t>Arrival </a:t>
            </a:r>
            <a:r>
              <a:rPr lang="en-US" altLang="en-US" sz="2000" u="sng" dirty="0">
                <a:solidFill>
                  <a:schemeClr val="tx1"/>
                </a:solidFill>
                <a:latin typeface="Times New Roman" panose="02020603050405020304" pitchFamily="18" charset="0"/>
                <a:cs typeface="Times New Roman" panose="02020603050405020304" pitchFamily="18" charset="0"/>
              </a:rPr>
              <a:t>Time</a:t>
            </a: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u="sng" dirty="0">
                <a:solidFill>
                  <a:schemeClr val="tx1"/>
                </a:solidFill>
                <a:latin typeface="Times New Roman" panose="02020603050405020304" pitchFamily="18" charset="0"/>
                <a:cs typeface="Times New Roman" panose="02020603050405020304" pitchFamily="18" charset="0"/>
              </a:rPr>
              <a:t>Burst Time</a:t>
            </a:r>
            <a:endParaRPr lang="en-US" altLang="en-US" sz="2000" dirty="0">
              <a:solidFill>
                <a:schemeClr val="tx1"/>
              </a:solidFill>
              <a:latin typeface="Times New Roman" panose="02020603050405020304" pitchFamily="18" charset="0"/>
              <a:cs typeface="Times New Roman" panose="02020603050405020304" pitchFamily="18" charset="0"/>
            </a:endParaRPr>
          </a:p>
          <a:p>
            <a:pPr>
              <a:buFont typeface="Monotype Sorts" pitchFamily="-84" charset="2"/>
              <a:buNone/>
              <a:tabLst>
                <a:tab pos="1601312" algn="ctr"/>
                <a:tab pos="3252629" algn="ctr"/>
                <a:tab pos="5141754" algn="ctr"/>
              </a:tabLst>
              <a:defRPr/>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1</a:t>
            </a:r>
            <a:r>
              <a:rPr lang="en-US" altLang="en-US" sz="2000" dirty="0">
                <a:solidFill>
                  <a:schemeClr val="tx1"/>
                </a:solidFill>
                <a:latin typeface="Times New Roman" panose="02020603050405020304" pitchFamily="18" charset="0"/>
                <a:cs typeface="Times New Roman" panose="02020603050405020304" pitchFamily="18" charset="0"/>
              </a:rPr>
              <a:t>	0	8</a:t>
            </a:r>
          </a:p>
          <a:p>
            <a:pPr>
              <a:buFont typeface="Monotype Sorts" pitchFamily="-84" charset="2"/>
              <a:buNone/>
              <a:tabLst>
                <a:tab pos="1601312" algn="ctr"/>
                <a:tab pos="3252629" algn="ctr"/>
                <a:tab pos="5141754" algn="ctr"/>
              </a:tabLst>
              <a:defRPr/>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2 	</a:t>
            </a:r>
            <a:r>
              <a:rPr lang="en-US" altLang="en-US" sz="2000" dirty="0">
                <a:solidFill>
                  <a:schemeClr val="tx1"/>
                </a:solidFill>
                <a:latin typeface="Times New Roman" panose="02020603050405020304" pitchFamily="18" charset="0"/>
                <a:cs typeface="Times New Roman" panose="02020603050405020304" pitchFamily="18" charset="0"/>
              </a:rPr>
              <a:t>1	4</a:t>
            </a:r>
          </a:p>
          <a:p>
            <a:pPr>
              <a:buFont typeface="Monotype Sorts" pitchFamily="-84" charset="2"/>
              <a:buNone/>
              <a:tabLst>
                <a:tab pos="1601312" algn="ctr"/>
                <a:tab pos="3252629" algn="ctr"/>
                <a:tab pos="5141754" algn="ctr"/>
              </a:tabLst>
              <a:defRPr/>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3</a:t>
            </a:r>
            <a:r>
              <a:rPr lang="en-US" altLang="en-US" sz="2000" dirty="0">
                <a:solidFill>
                  <a:schemeClr val="tx1"/>
                </a:solidFill>
                <a:latin typeface="Times New Roman" panose="02020603050405020304" pitchFamily="18" charset="0"/>
                <a:cs typeface="Times New Roman" panose="02020603050405020304" pitchFamily="18" charset="0"/>
              </a:rPr>
              <a:t>	2	9</a:t>
            </a:r>
          </a:p>
          <a:p>
            <a:pPr>
              <a:buFont typeface="Monotype Sorts" pitchFamily="-84" charset="2"/>
              <a:buNone/>
              <a:tabLst>
                <a:tab pos="1601312" algn="ctr"/>
                <a:tab pos="3252629" algn="ctr"/>
                <a:tab pos="5141754" algn="ctr"/>
              </a:tabLst>
              <a:defRPr/>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4</a:t>
            </a:r>
            <a:r>
              <a:rPr lang="en-US" altLang="en-US" sz="2000" dirty="0">
                <a:solidFill>
                  <a:schemeClr val="tx1"/>
                </a:solidFill>
                <a:latin typeface="Times New Roman" panose="02020603050405020304" pitchFamily="18" charset="0"/>
                <a:cs typeface="Times New Roman" panose="02020603050405020304" pitchFamily="18" charset="0"/>
              </a:rPr>
              <a:t>	3	5</a:t>
            </a:r>
          </a:p>
          <a:p>
            <a:pPr>
              <a:tabLst>
                <a:tab pos="1601312" algn="ctr"/>
                <a:tab pos="3252629" algn="ctr"/>
                <a:tab pos="5141754" algn="ctr"/>
              </a:tabLst>
              <a:defRPr/>
            </a:pPr>
            <a:r>
              <a:rPr lang="en-US" altLang="en-US" sz="2000" dirty="0">
                <a:solidFill>
                  <a:schemeClr val="tx1"/>
                </a:solidFill>
                <a:latin typeface="Times New Roman" panose="02020603050405020304" pitchFamily="18" charset="0"/>
                <a:cs typeface="Times New Roman" panose="02020603050405020304" pitchFamily="18" charset="0"/>
              </a:rPr>
              <a:t>Gantt Chart</a:t>
            </a:r>
          </a:p>
          <a:p>
            <a:pPr>
              <a:tabLst>
                <a:tab pos="1601312" algn="ctr"/>
                <a:tab pos="3252629" algn="ctr"/>
                <a:tab pos="5141754" algn="ctr"/>
              </a:tabLst>
              <a:defRPr/>
            </a:pPr>
            <a:endParaRPr lang="en-US" altLang="en-US" sz="2000" dirty="0">
              <a:solidFill>
                <a:schemeClr val="tx1"/>
              </a:solidFill>
              <a:latin typeface="Times New Roman" panose="02020603050405020304" pitchFamily="18" charset="0"/>
              <a:cs typeface="Times New Roman" panose="02020603050405020304" pitchFamily="18" charset="0"/>
            </a:endParaRPr>
          </a:p>
          <a:p>
            <a:pPr>
              <a:tabLst>
                <a:tab pos="1601312" algn="ctr"/>
                <a:tab pos="3252629" algn="ctr"/>
                <a:tab pos="5141754" algn="ctr"/>
              </a:tabLst>
              <a:defRPr/>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indent="0">
              <a:buFont typeface="Monotype Sorts" pitchFamily="-84" charset="2"/>
              <a:buNone/>
              <a:tabLst>
                <a:tab pos="1601312" algn="ctr"/>
                <a:tab pos="3252629" algn="ctr"/>
                <a:tab pos="5141754" algn="ctr"/>
              </a:tabLst>
              <a:defRPr/>
            </a:pPr>
            <a:endParaRPr lang="en-US" altLang="en-US" sz="2000" dirty="0">
              <a:solidFill>
                <a:schemeClr val="tx1"/>
              </a:solidFill>
              <a:latin typeface="Times New Roman" panose="02020603050405020304" pitchFamily="18" charset="0"/>
              <a:cs typeface="Times New Roman" panose="02020603050405020304" pitchFamily="18" charset="0"/>
            </a:endParaRPr>
          </a:p>
          <a:p>
            <a:pPr>
              <a:tabLst>
                <a:tab pos="1601312" algn="ctr"/>
                <a:tab pos="3252629" algn="ctr"/>
                <a:tab pos="5141754" algn="ctr"/>
              </a:tabLst>
              <a:defRPr/>
            </a:pPr>
            <a:r>
              <a:rPr lang="en-US" altLang="en-US" sz="2000" dirty="0">
                <a:solidFill>
                  <a:schemeClr val="tx1"/>
                </a:solidFill>
                <a:latin typeface="Times New Roman" panose="02020603050405020304" pitchFamily="18" charset="0"/>
                <a:cs typeface="Times New Roman" panose="02020603050405020304" pitchFamily="18" charset="0"/>
              </a:rPr>
              <a:t>Average waiting time = [(10-1)+(1-1)+(17-2)+5-3)]/4 = 26/4 = 6.5</a:t>
            </a:r>
          </a:p>
          <a:p>
            <a:pPr>
              <a:tabLst>
                <a:tab pos="1601312" algn="ctr"/>
                <a:tab pos="3252629" algn="ctr"/>
                <a:tab pos="5141754" algn="ctr"/>
              </a:tabLst>
              <a:defRPr/>
            </a:pPr>
            <a:endParaRPr lang="en-US" altLang="en-US" sz="2000" i="1" baseline="-25000" dirty="0">
              <a:solidFill>
                <a:schemeClr val="tx1"/>
              </a:solidFill>
              <a:latin typeface="Times New Roman" panose="02020603050405020304" pitchFamily="18" charset="0"/>
              <a:cs typeface="Times New Roman" panose="02020603050405020304" pitchFamily="18" charset="0"/>
            </a:endParaRPr>
          </a:p>
          <a:p>
            <a:pPr>
              <a:buFont typeface="Monotype Sorts" pitchFamily="-84" charset="2"/>
              <a:buNone/>
              <a:tabLst>
                <a:tab pos="1601312" algn="ctr"/>
                <a:tab pos="3252629" algn="ctr"/>
                <a:tab pos="5141754" algn="ctr"/>
              </a:tabLst>
              <a:defRPr/>
            </a:pPr>
            <a:endParaRPr lang="en-US" altLang="en-US" sz="2000" i="1" baseline="-25000" dirty="0">
              <a:solidFill>
                <a:schemeClr val="tx1"/>
              </a:solidFill>
              <a:latin typeface="Times New Roman" panose="02020603050405020304" pitchFamily="18" charset="0"/>
              <a:cs typeface="Times New Roman" panose="02020603050405020304" pitchFamily="18" charset="0"/>
            </a:endParaRPr>
          </a:p>
        </p:txBody>
      </p:sp>
      <p:pic>
        <p:nvPicPr>
          <p:cNvPr id="5" name="Picture 1">
            <a:extLst>
              <a:ext uri="{FF2B5EF4-FFF2-40B4-BE49-F238E27FC236}">
                <a16:creationId xmlns:a16="http://schemas.microsoft.com/office/drawing/2014/main" id="{2E775230-B511-4618-85E0-4D246FE005C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89162" y="4953001"/>
            <a:ext cx="65357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a:extLst>
              <a:ext uri="{FF2B5EF4-FFF2-40B4-BE49-F238E27FC236}">
                <a16:creationId xmlns:a16="http://schemas.microsoft.com/office/drawing/2014/main" id="{34A4B32F-63A1-CE1A-076B-2FFF8EC30563}"/>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2823031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146EE-CCD9-4A95-8103-5E4787CDDA4D}"/>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Round Robin (RR) Scheduling</a:t>
            </a:r>
          </a:p>
        </p:txBody>
      </p:sp>
      <p:sp>
        <p:nvSpPr>
          <p:cNvPr id="3" name="Content Placeholder 2">
            <a:extLst>
              <a:ext uri="{FF2B5EF4-FFF2-40B4-BE49-F238E27FC236}">
                <a16:creationId xmlns:a16="http://schemas.microsoft.com/office/drawing/2014/main" id="{AB9E5BD5-DCD0-4A2C-B533-6A00FDEABF88}"/>
              </a:ext>
            </a:extLst>
          </p:cNvPr>
          <p:cNvSpPr>
            <a:spLocks noGrp="1"/>
          </p:cNvSpPr>
          <p:nvPr>
            <p:ph idx="1"/>
          </p:nvPr>
        </p:nvSpPr>
        <p:spPr>
          <a:xfrm>
            <a:off x="2589212" y="1540189"/>
            <a:ext cx="8915400" cy="3777622"/>
          </a:xfrm>
        </p:spPr>
        <p:txBody>
          <a:bodyPr>
            <a:normAutofit/>
          </a:bodyPr>
          <a:lstStyle/>
          <a:p>
            <a:r>
              <a:rPr lang="en-US" sz="2000" dirty="0">
                <a:solidFill>
                  <a:schemeClr val="tx1"/>
                </a:solidFill>
                <a:latin typeface="Times New Roman" panose="02020603050405020304" pitchFamily="18" charset="0"/>
                <a:cs typeface="Times New Roman" panose="02020603050405020304" pitchFamily="18" charset="0"/>
              </a:rPr>
              <a:t>Each process is assigned a time interval (quantum), after the specified quantum, the running process is preempted to the last and a new process is allowed to run</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Advantages: </a:t>
            </a:r>
          </a:p>
          <a:p>
            <a:pPr marL="736600">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Fair allocation of CPU across the process. </a:t>
            </a:r>
          </a:p>
          <a:p>
            <a:pPr marL="736600">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Used in timesharing system. </a:t>
            </a:r>
          </a:p>
          <a:p>
            <a:pPr marL="736600">
              <a:buFont typeface="Wingdings" panose="05000000000000000000" pitchFamily="2" charset="2"/>
              <a:buChar char="Ø"/>
            </a:pPr>
            <a:r>
              <a:rPr lang="en-US" sz="2000" dirty="0">
                <a:solidFill>
                  <a:schemeClr val="tx1"/>
                </a:solidFill>
                <a:latin typeface="Times New Roman" panose="02020603050405020304" pitchFamily="18" charset="0"/>
                <a:cs typeface="Times New Roman" panose="02020603050405020304" pitchFamily="18" charset="0"/>
              </a:rPr>
              <a:t>Low average waiting time when process lengths very widely </a:t>
            </a:r>
          </a:p>
        </p:txBody>
      </p:sp>
      <p:sp>
        <p:nvSpPr>
          <p:cNvPr id="4" name="Footer Placeholder 3">
            <a:extLst>
              <a:ext uri="{FF2B5EF4-FFF2-40B4-BE49-F238E27FC236}">
                <a16:creationId xmlns:a16="http://schemas.microsoft.com/office/drawing/2014/main" id="{3D0EC59A-8AAA-DEC9-605C-A417AD917AF9}"/>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25017928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5190E-DE4D-4381-BDA8-21D8BDBDAC54}"/>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RR with quantum=4</a:t>
            </a:r>
          </a:p>
        </p:txBody>
      </p:sp>
      <p:sp>
        <p:nvSpPr>
          <p:cNvPr id="3" name="Content Placeholder 2">
            <a:extLst>
              <a:ext uri="{FF2B5EF4-FFF2-40B4-BE49-F238E27FC236}">
                <a16:creationId xmlns:a16="http://schemas.microsoft.com/office/drawing/2014/main" id="{8C482DF6-7AE3-45BE-A883-910845160368}"/>
              </a:ext>
            </a:extLst>
          </p:cNvPr>
          <p:cNvSpPr>
            <a:spLocks noGrp="1"/>
          </p:cNvSpPr>
          <p:nvPr>
            <p:ph idx="1"/>
          </p:nvPr>
        </p:nvSpPr>
        <p:spPr/>
        <p:txBody>
          <a:bodyPr>
            <a:normAutofit/>
          </a:bodyPr>
          <a:lstStyle/>
          <a:p>
            <a:pPr>
              <a:lnSpc>
                <a:spcPct val="90000"/>
              </a:lnSpc>
              <a:buFont typeface="Monotype Sorts" pitchFamily="-84" charset="2"/>
              <a:buNone/>
              <a:tabLst>
                <a:tab pos="2219325" algn="ctr"/>
                <a:tab pos="3994150" algn="ctr"/>
              </a:tabLst>
            </a:pPr>
            <a:r>
              <a:rPr lang="en-US" altLang="en-US" sz="1800" dirty="0">
                <a:solidFill>
                  <a:schemeClr val="tx1"/>
                </a:solidFill>
                <a:latin typeface="Times New Roman" panose="02020603050405020304" pitchFamily="18" charset="0"/>
                <a:cs typeface="Times New Roman" panose="02020603050405020304" pitchFamily="18" charset="0"/>
              </a:rPr>
              <a:t>		         </a:t>
            </a:r>
            <a:r>
              <a:rPr lang="en-US" altLang="en-US" sz="2400" u="sng" dirty="0">
                <a:solidFill>
                  <a:schemeClr val="tx1"/>
                </a:solidFill>
                <a:latin typeface="Times New Roman" panose="02020603050405020304" pitchFamily="18" charset="0"/>
                <a:cs typeface="Times New Roman" panose="02020603050405020304" pitchFamily="18" charset="0"/>
              </a:rPr>
              <a:t>Process</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u="sng" dirty="0">
                <a:solidFill>
                  <a:schemeClr val="tx1"/>
                </a:solidFill>
                <a:latin typeface="Times New Roman" panose="02020603050405020304" pitchFamily="18" charset="0"/>
                <a:cs typeface="Times New Roman" panose="02020603050405020304" pitchFamily="18" charset="0"/>
              </a:rPr>
              <a:t>Burst Time</a:t>
            </a:r>
          </a:p>
          <a:p>
            <a:pPr>
              <a:lnSpc>
                <a:spcPct val="90000"/>
              </a:lnSpc>
              <a:buFont typeface="Monotype Sorts" pitchFamily="-84" charset="2"/>
              <a:buNone/>
              <a:tabLst>
                <a:tab pos="2219325" algn="ctr"/>
                <a:tab pos="3994150" algn="ctr"/>
              </a:tabLst>
            </a:pPr>
            <a:r>
              <a:rPr lang="en-US" altLang="en-US" sz="2400" i="1" dirty="0">
                <a:solidFill>
                  <a:schemeClr val="tx1"/>
                </a:solidFill>
                <a:latin typeface="Times New Roman" panose="02020603050405020304" pitchFamily="18" charset="0"/>
                <a:cs typeface="Times New Roman" panose="02020603050405020304" pitchFamily="18" charset="0"/>
              </a:rPr>
              <a:t>		P</a:t>
            </a:r>
            <a:r>
              <a:rPr lang="en-US" altLang="en-US" sz="2400" i="1" baseline="-25000" dirty="0">
                <a:solidFill>
                  <a:schemeClr val="tx1"/>
                </a:solidFill>
                <a:latin typeface="Times New Roman" panose="02020603050405020304" pitchFamily="18" charset="0"/>
                <a:cs typeface="Times New Roman" panose="02020603050405020304" pitchFamily="18" charset="0"/>
              </a:rPr>
              <a:t>1	</a:t>
            </a:r>
            <a:r>
              <a:rPr lang="en-US" altLang="en-US" sz="2400" dirty="0">
                <a:solidFill>
                  <a:schemeClr val="tx1"/>
                </a:solidFill>
                <a:latin typeface="Times New Roman" panose="02020603050405020304" pitchFamily="18" charset="0"/>
                <a:cs typeface="Times New Roman" panose="02020603050405020304" pitchFamily="18" charset="0"/>
              </a:rPr>
              <a:t>24</a:t>
            </a:r>
          </a:p>
          <a:p>
            <a:pPr>
              <a:lnSpc>
                <a:spcPct val="90000"/>
              </a:lnSpc>
              <a:buFont typeface="Monotype Sorts" pitchFamily="-84" charset="2"/>
              <a:buNone/>
              <a:tabLst>
                <a:tab pos="2219325" algn="ctr"/>
                <a:tab pos="3994150" algn="ctr"/>
              </a:tabLst>
            </a:pP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i="1" dirty="0">
                <a:solidFill>
                  <a:schemeClr val="tx1"/>
                </a:solidFill>
                <a:latin typeface="Times New Roman" panose="02020603050405020304" pitchFamily="18" charset="0"/>
                <a:cs typeface="Times New Roman" panose="02020603050405020304" pitchFamily="18" charset="0"/>
              </a:rPr>
              <a:t>P</a:t>
            </a:r>
            <a:r>
              <a:rPr lang="en-US" altLang="en-US" sz="2400" i="1" baseline="-25000" dirty="0">
                <a:solidFill>
                  <a:schemeClr val="tx1"/>
                </a:solidFill>
                <a:latin typeface="Times New Roman" panose="02020603050405020304" pitchFamily="18" charset="0"/>
                <a:cs typeface="Times New Roman" panose="02020603050405020304" pitchFamily="18" charset="0"/>
              </a:rPr>
              <a:t>2	 </a:t>
            </a:r>
            <a:r>
              <a:rPr lang="en-US" altLang="en-US" sz="2400" dirty="0">
                <a:solidFill>
                  <a:schemeClr val="tx1"/>
                </a:solidFill>
                <a:latin typeface="Times New Roman" panose="02020603050405020304" pitchFamily="18" charset="0"/>
                <a:cs typeface="Times New Roman" panose="02020603050405020304" pitchFamily="18" charset="0"/>
              </a:rPr>
              <a:t>3</a:t>
            </a:r>
          </a:p>
          <a:p>
            <a:pPr>
              <a:lnSpc>
                <a:spcPct val="90000"/>
              </a:lnSpc>
              <a:buFont typeface="Monotype Sorts" pitchFamily="-84" charset="2"/>
              <a:buNone/>
              <a:tabLst>
                <a:tab pos="2219325" algn="ctr"/>
                <a:tab pos="3994150" algn="ctr"/>
              </a:tabLst>
            </a:pP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i="1" dirty="0">
                <a:solidFill>
                  <a:schemeClr val="tx1"/>
                </a:solidFill>
                <a:latin typeface="Times New Roman" panose="02020603050405020304" pitchFamily="18" charset="0"/>
                <a:cs typeface="Times New Roman" panose="02020603050405020304" pitchFamily="18" charset="0"/>
              </a:rPr>
              <a:t>P</a:t>
            </a:r>
            <a:r>
              <a:rPr lang="en-US" altLang="en-US" sz="2400" i="1" baseline="-25000" dirty="0">
                <a:solidFill>
                  <a:schemeClr val="tx1"/>
                </a:solidFill>
                <a:latin typeface="Times New Roman" panose="02020603050405020304" pitchFamily="18" charset="0"/>
                <a:cs typeface="Times New Roman" panose="02020603050405020304" pitchFamily="18" charset="0"/>
              </a:rPr>
              <a:t>3	</a:t>
            </a:r>
            <a:r>
              <a:rPr lang="en-US" altLang="en-US" sz="2400" dirty="0">
                <a:solidFill>
                  <a:schemeClr val="tx1"/>
                </a:solidFill>
                <a:latin typeface="Times New Roman" panose="02020603050405020304" pitchFamily="18" charset="0"/>
                <a:cs typeface="Times New Roman" panose="02020603050405020304" pitchFamily="18" charset="0"/>
              </a:rPr>
              <a:t>3	</a:t>
            </a:r>
          </a:p>
          <a:p>
            <a:pPr>
              <a:lnSpc>
                <a:spcPct val="90000"/>
              </a:lnSpc>
              <a:buFont typeface="Monotype Sorts" pitchFamily="-84" charset="2"/>
              <a:buNone/>
              <a:tabLst>
                <a:tab pos="2219325" algn="ctr"/>
                <a:tab pos="3994150" algn="ctr"/>
              </a:tabLst>
            </a:pPr>
            <a:endParaRPr lang="en-US" altLang="en-US" sz="2400" dirty="0">
              <a:solidFill>
                <a:schemeClr val="tx1"/>
              </a:solidFill>
              <a:latin typeface="Times New Roman" panose="02020603050405020304" pitchFamily="18" charset="0"/>
              <a:cs typeface="Times New Roman" panose="02020603050405020304" pitchFamily="18" charset="0"/>
            </a:endParaRPr>
          </a:p>
          <a:p>
            <a:pPr>
              <a:lnSpc>
                <a:spcPct val="90000"/>
              </a:lnSpc>
              <a:tabLst>
                <a:tab pos="2219325" algn="ctr"/>
                <a:tab pos="3994150" algn="ctr"/>
              </a:tabLst>
            </a:pPr>
            <a:r>
              <a:rPr lang="en-US" altLang="en-US" sz="2400" dirty="0">
                <a:solidFill>
                  <a:schemeClr val="tx1"/>
                </a:solidFill>
                <a:latin typeface="Times New Roman" panose="02020603050405020304" pitchFamily="18" charset="0"/>
                <a:cs typeface="Times New Roman" panose="02020603050405020304" pitchFamily="18" charset="0"/>
              </a:rPr>
              <a:t>The Gantt chart is: </a:t>
            </a:r>
            <a:br>
              <a:rPr lang="en-US" altLang="en-US" sz="2400" dirty="0">
                <a:solidFill>
                  <a:schemeClr val="tx1"/>
                </a:solidFill>
                <a:latin typeface="Times New Roman" panose="02020603050405020304" pitchFamily="18" charset="0"/>
                <a:cs typeface="Times New Roman" panose="02020603050405020304" pitchFamily="18" charset="0"/>
              </a:rPr>
            </a:br>
            <a:endParaRPr lang="en-US" altLang="en-US" sz="2400" dirty="0">
              <a:solidFill>
                <a:schemeClr val="tx1"/>
              </a:solidFill>
              <a:latin typeface="Times New Roman" panose="02020603050405020304" pitchFamily="18" charset="0"/>
              <a:cs typeface="Times New Roman" panose="02020603050405020304" pitchFamily="18" charset="0"/>
            </a:endParaRPr>
          </a:p>
        </p:txBody>
      </p:sp>
      <p:pic>
        <p:nvPicPr>
          <p:cNvPr id="6" name="Picture 1">
            <a:extLst>
              <a:ext uri="{FF2B5EF4-FFF2-40B4-BE49-F238E27FC236}">
                <a16:creationId xmlns:a16="http://schemas.microsoft.com/office/drawing/2014/main" id="{14581017-E073-442D-89A5-8DCF2F48FB6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32104" y="5122235"/>
            <a:ext cx="677068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2DFF1AD2-C8D7-B781-C843-868B60BE6760}"/>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6371063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83294-8275-4F1B-AFBF-052E30A7DA7A}"/>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Priority ( Event-Driven [ED] )Scheduling</a:t>
            </a:r>
          </a:p>
        </p:txBody>
      </p:sp>
      <p:sp>
        <p:nvSpPr>
          <p:cNvPr id="3" name="Content Placeholder 2">
            <a:extLst>
              <a:ext uri="{FF2B5EF4-FFF2-40B4-BE49-F238E27FC236}">
                <a16:creationId xmlns:a16="http://schemas.microsoft.com/office/drawing/2014/main" id="{A429B00E-AA9E-4965-BCFA-57CE1579B287}"/>
              </a:ext>
            </a:extLst>
          </p:cNvPr>
          <p:cNvSpPr>
            <a:spLocks noGrp="1"/>
          </p:cNvSpPr>
          <p:nvPr>
            <p:ph idx="1"/>
          </p:nvPr>
        </p:nvSpPr>
        <p:spPr/>
        <p:txBody>
          <a:bodyPr>
            <a:normAutofit/>
          </a:bodyPr>
          <a:lstStyle/>
          <a:p>
            <a:r>
              <a:rPr lang="en-US" altLang="en-US" sz="2000" dirty="0">
                <a:solidFill>
                  <a:schemeClr val="tx1"/>
                </a:solidFill>
                <a:latin typeface="Times New Roman" panose="02020603050405020304" pitchFamily="18" charset="0"/>
                <a:cs typeface="Times New Roman" panose="02020603050405020304" pitchFamily="18" charset="0"/>
              </a:rPr>
              <a:t>A priority number (integer) is associated with each process</a:t>
            </a:r>
          </a:p>
          <a:p>
            <a:endParaRPr lang="en-US" altLang="en-US" sz="2000" dirty="0">
              <a:solidFill>
                <a:schemeClr val="tx1"/>
              </a:solidFill>
              <a:latin typeface="Times New Roman" panose="02020603050405020304" pitchFamily="18" charset="0"/>
              <a:cs typeface="Times New Roman" panose="02020603050405020304" pitchFamily="18" charset="0"/>
            </a:endParaRPr>
          </a:p>
          <a:p>
            <a:r>
              <a:rPr lang="en-US" altLang="en-US" sz="2000" dirty="0">
                <a:solidFill>
                  <a:schemeClr val="tx1"/>
                </a:solidFill>
                <a:latin typeface="Times New Roman" panose="02020603050405020304" pitchFamily="18" charset="0"/>
                <a:cs typeface="Times New Roman" panose="02020603050405020304" pitchFamily="18" charset="0"/>
              </a:rPr>
              <a:t>The CPU is allocated to the process with the highest priority</a:t>
            </a:r>
            <a:br>
              <a:rPr lang="en-US" altLang="en-US" sz="2000" dirty="0">
                <a:solidFill>
                  <a:schemeClr val="tx1"/>
                </a:solidFill>
                <a:latin typeface="Times New Roman" panose="02020603050405020304" pitchFamily="18" charset="0"/>
                <a:cs typeface="Times New Roman" panose="02020603050405020304" pitchFamily="18" charset="0"/>
              </a:rPr>
            </a:br>
            <a:r>
              <a:rPr lang="en-US" altLang="en-US" sz="2000" dirty="0">
                <a:solidFill>
                  <a:schemeClr val="tx1"/>
                </a:solidFill>
                <a:latin typeface="Times New Roman" panose="02020603050405020304" pitchFamily="18" charset="0"/>
                <a:cs typeface="Times New Roman" panose="02020603050405020304" pitchFamily="18" charset="0"/>
              </a:rPr>
              <a:t>(smallest integer </a:t>
            </a:r>
            <a:r>
              <a:rPr lang="en-US"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highest priority)</a:t>
            </a:r>
          </a:p>
          <a:p>
            <a:endParaRPr lang="en-US"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r>
              <a:rPr lang="en-US" altLang="en-US" sz="2000" dirty="0">
                <a:solidFill>
                  <a:schemeClr val="tx1"/>
                </a:solidFill>
                <a:latin typeface="Times New Roman" panose="02020603050405020304" pitchFamily="18" charset="0"/>
                <a:cs typeface="Times New Roman" panose="02020603050405020304" pitchFamily="18" charset="0"/>
              </a:rPr>
              <a:t>Problem</a:t>
            </a:r>
            <a:r>
              <a:rPr lang="en-US"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sz="20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Starvation</a:t>
            </a:r>
            <a:r>
              <a:rPr lang="en-US"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 low priority processes may never execute</a:t>
            </a:r>
          </a:p>
          <a:p>
            <a:endParaRPr lang="en-US"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r>
              <a:rPr lang="en-US"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Solution: </a:t>
            </a:r>
            <a:r>
              <a:rPr lang="en-US" altLang="en-US" sz="2000" b="1"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Aging</a:t>
            </a:r>
            <a:r>
              <a:rPr lang="en-US"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 as time progresses increase the priority of the process</a:t>
            </a:r>
          </a:p>
          <a:p>
            <a:endParaRPr lang="en-US" altLang="en-US" sz="20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endParaRPr>
          </a:p>
          <a:p>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AC6F8F6-7545-B078-EEAE-54A6F05A3758}"/>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19465335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C4AB6-BF27-4795-9A1C-FFF4155A335A}"/>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Priority Scheduling (contd.)</a:t>
            </a:r>
            <a:endParaRPr lang="en-US" dirty="0"/>
          </a:p>
        </p:txBody>
      </p:sp>
      <p:sp>
        <p:nvSpPr>
          <p:cNvPr id="3" name="Content Placeholder 2">
            <a:extLst>
              <a:ext uri="{FF2B5EF4-FFF2-40B4-BE49-F238E27FC236}">
                <a16:creationId xmlns:a16="http://schemas.microsoft.com/office/drawing/2014/main" id="{EE44C831-E62D-4C2F-95C5-0B7FE39E1A64}"/>
              </a:ext>
            </a:extLst>
          </p:cNvPr>
          <p:cNvSpPr>
            <a:spLocks noGrp="1"/>
          </p:cNvSpPr>
          <p:nvPr>
            <p:ph idx="1"/>
          </p:nvPr>
        </p:nvSpPr>
        <p:spPr>
          <a:xfrm>
            <a:off x="2589212" y="1711325"/>
            <a:ext cx="8915400" cy="3777622"/>
          </a:xfrm>
        </p:spPr>
        <p:txBody>
          <a:bodyPr/>
          <a:lstStyle/>
          <a:p>
            <a:pPr>
              <a:buFont typeface="Monotype Sorts" pitchFamily="-84" charset="2"/>
              <a:buNone/>
              <a:tabLst>
                <a:tab pos="1600200" algn="ctr"/>
                <a:tab pos="3251200" algn="ctr"/>
                <a:tab pos="5140325" algn="ctr"/>
              </a:tabLst>
            </a:pPr>
            <a:r>
              <a:rPr lang="en-US" altLang="en-US" dirty="0"/>
              <a:t>		</a:t>
            </a:r>
            <a:r>
              <a:rPr lang="en-US" altLang="en-US" sz="2000" u="sng" dirty="0">
                <a:solidFill>
                  <a:schemeClr val="tx1"/>
                </a:solidFill>
                <a:latin typeface="Times New Roman" panose="02020603050405020304" pitchFamily="18" charset="0"/>
                <a:cs typeface="Times New Roman" panose="02020603050405020304" pitchFamily="18" charset="0"/>
              </a:rPr>
              <a:t>Process</a:t>
            </a: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u="sng" dirty="0">
                <a:solidFill>
                  <a:schemeClr val="tx1"/>
                </a:solidFill>
                <a:latin typeface="Times New Roman" panose="02020603050405020304" pitchFamily="18" charset="0"/>
                <a:cs typeface="Times New Roman" panose="02020603050405020304" pitchFamily="18" charset="0"/>
              </a:rPr>
              <a:t>Burst Time</a:t>
            </a: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u="sng" dirty="0">
                <a:solidFill>
                  <a:schemeClr val="tx1"/>
                </a:solidFill>
                <a:latin typeface="Times New Roman" panose="02020603050405020304" pitchFamily="18" charset="0"/>
                <a:cs typeface="Times New Roman" panose="02020603050405020304" pitchFamily="18" charset="0"/>
              </a:rPr>
              <a:t>Priority</a:t>
            </a:r>
            <a:endParaRPr lang="en-US" altLang="en-US" sz="2000" dirty="0">
              <a:solidFill>
                <a:schemeClr val="tx1"/>
              </a:solidFill>
              <a:latin typeface="Times New Roman" panose="02020603050405020304" pitchFamily="18" charset="0"/>
              <a:cs typeface="Times New Roman" panose="02020603050405020304" pitchFamily="18" charset="0"/>
            </a:endParaRPr>
          </a:p>
          <a:p>
            <a:pPr>
              <a:buFont typeface="Monotype Sorts" pitchFamily="-84" charset="2"/>
              <a:buNone/>
              <a:tabLst>
                <a:tab pos="1600200" algn="ctr"/>
                <a:tab pos="3251200" algn="ctr"/>
                <a:tab pos="5140325" algn="ctr"/>
              </a:tabLst>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1</a:t>
            </a:r>
            <a:r>
              <a:rPr lang="en-US" altLang="en-US" sz="2000" dirty="0">
                <a:solidFill>
                  <a:schemeClr val="tx1"/>
                </a:solidFill>
                <a:latin typeface="Times New Roman" panose="02020603050405020304" pitchFamily="18" charset="0"/>
                <a:cs typeface="Times New Roman" panose="02020603050405020304" pitchFamily="18" charset="0"/>
              </a:rPr>
              <a:t>	10	3</a:t>
            </a:r>
          </a:p>
          <a:p>
            <a:pPr>
              <a:buFont typeface="Monotype Sorts" pitchFamily="-84" charset="2"/>
              <a:buNone/>
              <a:tabLst>
                <a:tab pos="1600200" algn="ctr"/>
                <a:tab pos="3251200" algn="ctr"/>
                <a:tab pos="5140325" algn="ctr"/>
              </a:tabLst>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2 	</a:t>
            </a:r>
            <a:r>
              <a:rPr lang="en-US" altLang="en-US" sz="2000" dirty="0">
                <a:solidFill>
                  <a:schemeClr val="tx1"/>
                </a:solidFill>
                <a:latin typeface="Times New Roman" panose="02020603050405020304" pitchFamily="18" charset="0"/>
                <a:cs typeface="Times New Roman" panose="02020603050405020304" pitchFamily="18" charset="0"/>
              </a:rPr>
              <a:t>1	1</a:t>
            </a:r>
          </a:p>
          <a:p>
            <a:pPr>
              <a:buFont typeface="Monotype Sorts" pitchFamily="-84" charset="2"/>
              <a:buNone/>
              <a:tabLst>
                <a:tab pos="1600200" algn="ctr"/>
                <a:tab pos="3251200" algn="ctr"/>
                <a:tab pos="5140325" algn="ctr"/>
              </a:tabLst>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3</a:t>
            </a:r>
            <a:r>
              <a:rPr lang="en-US" altLang="en-US" sz="2000" dirty="0">
                <a:solidFill>
                  <a:schemeClr val="tx1"/>
                </a:solidFill>
                <a:latin typeface="Times New Roman" panose="02020603050405020304" pitchFamily="18" charset="0"/>
                <a:cs typeface="Times New Roman" panose="02020603050405020304" pitchFamily="18" charset="0"/>
              </a:rPr>
              <a:t>	2	4</a:t>
            </a:r>
          </a:p>
          <a:p>
            <a:pPr>
              <a:buFont typeface="Monotype Sorts" pitchFamily="-84" charset="2"/>
              <a:buNone/>
              <a:tabLst>
                <a:tab pos="1600200" algn="ctr"/>
                <a:tab pos="3251200" algn="ctr"/>
                <a:tab pos="5140325" algn="ctr"/>
              </a:tabLst>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4</a:t>
            </a:r>
            <a:r>
              <a:rPr lang="en-US" altLang="en-US" sz="2000" dirty="0">
                <a:solidFill>
                  <a:schemeClr val="tx1"/>
                </a:solidFill>
                <a:latin typeface="Times New Roman" panose="02020603050405020304" pitchFamily="18" charset="0"/>
                <a:cs typeface="Times New Roman" panose="02020603050405020304" pitchFamily="18" charset="0"/>
              </a:rPr>
              <a:t>	1	5</a:t>
            </a:r>
          </a:p>
          <a:p>
            <a:pPr>
              <a:buFont typeface="Monotype Sorts" pitchFamily="-84" charset="2"/>
              <a:buNone/>
              <a:tabLst>
                <a:tab pos="1600200" algn="ctr"/>
                <a:tab pos="3251200" algn="ctr"/>
                <a:tab pos="5140325" algn="ctr"/>
              </a:tabLst>
            </a:pPr>
            <a:r>
              <a:rPr lang="en-US" altLang="en-US" sz="2000" dirty="0">
                <a:solidFill>
                  <a:schemeClr val="tx1"/>
                </a:solidFill>
                <a:latin typeface="Times New Roman" panose="02020603050405020304" pitchFamily="18" charset="0"/>
                <a:cs typeface="Times New Roman" panose="02020603050405020304" pitchFamily="18" charset="0"/>
              </a:rPr>
              <a:t>		</a:t>
            </a:r>
            <a:r>
              <a:rPr lang="en-US" altLang="en-US" sz="2000" i="1" dirty="0">
                <a:solidFill>
                  <a:schemeClr val="tx1"/>
                </a:solidFill>
                <a:latin typeface="Times New Roman" panose="02020603050405020304" pitchFamily="18" charset="0"/>
                <a:cs typeface="Times New Roman" panose="02020603050405020304" pitchFamily="18" charset="0"/>
              </a:rPr>
              <a:t>P</a:t>
            </a:r>
            <a:r>
              <a:rPr lang="en-US" altLang="en-US" sz="2000" i="1" baseline="-25000" dirty="0">
                <a:solidFill>
                  <a:schemeClr val="tx1"/>
                </a:solidFill>
                <a:latin typeface="Times New Roman" panose="02020603050405020304" pitchFamily="18" charset="0"/>
                <a:cs typeface="Times New Roman" panose="02020603050405020304" pitchFamily="18" charset="0"/>
              </a:rPr>
              <a:t>5	</a:t>
            </a:r>
            <a:r>
              <a:rPr lang="en-US" altLang="en-US" sz="2000" dirty="0">
                <a:solidFill>
                  <a:schemeClr val="tx1"/>
                </a:solidFill>
                <a:latin typeface="Times New Roman" panose="02020603050405020304" pitchFamily="18" charset="0"/>
                <a:cs typeface="Times New Roman" panose="02020603050405020304" pitchFamily="18" charset="0"/>
              </a:rPr>
              <a:t>5	2</a:t>
            </a:r>
          </a:p>
          <a:p>
            <a:pPr>
              <a:buFont typeface="Monotype Sorts" pitchFamily="-84" charset="2"/>
              <a:buNone/>
              <a:tabLst>
                <a:tab pos="1600200" algn="ctr"/>
                <a:tab pos="3251200" algn="ctr"/>
                <a:tab pos="5140325" algn="ctr"/>
              </a:tabLst>
            </a:pPr>
            <a:endParaRPr lang="en-US" altLang="en-US" sz="2000" baseline="-25000" dirty="0">
              <a:solidFill>
                <a:schemeClr val="tx1"/>
              </a:solidFill>
              <a:latin typeface="Times New Roman" panose="02020603050405020304" pitchFamily="18" charset="0"/>
              <a:cs typeface="Times New Roman" panose="02020603050405020304" pitchFamily="18" charset="0"/>
            </a:endParaRPr>
          </a:p>
          <a:p>
            <a:pPr>
              <a:tabLst>
                <a:tab pos="1600200" algn="ctr"/>
                <a:tab pos="3251200" algn="ctr"/>
                <a:tab pos="5140325" algn="ctr"/>
              </a:tabLst>
            </a:pPr>
            <a:r>
              <a:rPr lang="en-US" altLang="en-US" sz="2000" dirty="0">
                <a:solidFill>
                  <a:schemeClr val="tx1"/>
                </a:solidFill>
                <a:latin typeface="Times New Roman" panose="02020603050405020304" pitchFamily="18" charset="0"/>
                <a:cs typeface="Times New Roman" panose="02020603050405020304" pitchFamily="18" charset="0"/>
              </a:rPr>
              <a:t>Priority scheduling Gantt Chart</a:t>
            </a:r>
          </a:p>
          <a:p>
            <a:endParaRPr lang="en-US" dirty="0"/>
          </a:p>
        </p:txBody>
      </p:sp>
      <p:pic>
        <p:nvPicPr>
          <p:cNvPr id="4" name="Picture 5" descr="C:\Users\as668\Desktop\in-5_6.jpg">
            <a:extLst>
              <a:ext uri="{FF2B5EF4-FFF2-40B4-BE49-F238E27FC236}">
                <a16:creationId xmlns:a16="http://schemas.microsoft.com/office/drawing/2014/main" id="{004F256A-2448-4CB1-B0C1-19C9422332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2498" y="5182077"/>
            <a:ext cx="7868827" cy="105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a:extLst>
              <a:ext uri="{FF2B5EF4-FFF2-40B4-BE49-F238E27FC236}">
                <a16:creationId xmlns:a16="http://schemas.microsoft.com/office/drawing/2014/main" id="{97125688-DAF9-051A-6983-A44C3E8B92F0}"/>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30746329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426D4-E388-4E8C-81F4-FABA94F2974C}"/>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Multilevel-Feedback-Queues (MFQ)</a:t>
            </a:r>
          </a:p>
        </p:txBody>
      </p:sp>
      <p:sp>
        <p:nvSpPr>
          <p:cNvPr id="3" name="Content Placeholder 2">
            <a:extLst>
              <a:ext uri="{FF2B5EF4-FFF2-40B4-BE49-F238E27FC236}">
                <a16:creationId xmlns:a16="http://schemas.microsoft.com/office/drawing/2014/main" id="{A40749FA-791E-4EFD-98EC-AFBFC5197741}"/>
              </a:ext>
            </a:extLst>
          </p:cNvPr>
          <p:cNvSpPr>
            <a:spLocks noGrp="1"/>
          </p:cNvSpPr>
          <p:nvPr>
            <p:ph idx="1"/>
          </p:nvPr>
        </p:nvSpPr>
        <p:spPr>
          <a:xfrm>
            <a:off x="2088107" y="1642280"/>
            <a:ext cx="9416505" cy="4854053"/>
          </a:xfrm>
        </p:spPr>
        <p:txBody>
          <a:bodyPr>
            <a:normAutofit/>
          </a:bodyPr>
          <a:lstStyle/>
          <a:p>
            <a:r>
              <a:rPr lang="en-US" altLang="en-US" sz="2000" dirty="0">
                <a:solidFill>
                  <a:schemeClr val="tx1"/>
                </a:solidFill>
                <a:latin typeface="Times New Roman" panose="02020603050405020304" pitchFamily="18" charset="0"/>
                <a:cs typeface="Times New Roman" panose="02020603050405020304" pitchFamily="18" charset="0"/>
              </a:rPr>
              <a:t>A process can move between the various queues; aging can be implemented this way</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MFQ implements multilevel queues having different priority to each level (here lower level higher priority), and allows a process to move between the queues.</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If the process use too much CPU time, it will be moved to a lower-priority queue</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Higher the level of queue(lower the priority) : larger the quantum size</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This leaves the I/O-bound and interactive processes in the high priority queue</a:t>
            </a:r>
          </a:p>
        </p:txBody>
      </p:sp>
      <p:sp>
        <p:nvSpPr>
          <p:cNvPr id="4" name="Footer Placeholder 3">
            <a:extLst>
              <a:ext uri="{FF2B5EF4-FFF2-40B4-BE49-F238E27FC236}">
                <a16:creationId xmlns:a16="http://schemas.microsoft.com/office/drawing/2014/main" id="{186EAAD0-C7AA-28AE-66B9-72D92E7E3007}"/>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5379728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426D4-E388-4E8C-81F4-FABA94F2974C}"/>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MFQ (contd.)</a:t>
            </a:r>
          </a:p>
        </p:txBody>
      </p:sp>
      <p:pic>
        <p:nvPicPr>
          <p:cNvPr id="5" name="Picture 4">
            <a:extLst>
              <a:ext uri="{FF2B5EF4-FFF2-40B4-BE49-F238E27FC236}">
                <a16:creationId xmlns:a16="http://schemas.microsoft.com/office/drawing/2014/main" id="{A563A2DA-107D-4CF0-ADA5-7D947ED333C3}"/>
              </a:ext>
            </a:extLst>
          </p:cNvPr>
          <p:cNvPicPr>
            <a:picLocks noChangeAspect="1"/>
          </p:cNvPicPr>
          <p:nvPr/>
        </p:nvPicPr>
        <p:blipFill>
          <a:blip r:embed="rId2"/>
          <a:stretch>
            <a:fillRect/>
          </a:stretch>
        </p:blipFill>
        <p:spPr>
          <a:xfrm>
            <a:off x="776355" y="2090617"/>
            <a:ext cx="11415645" cy="3805215"/>
          </a:xfrm>
          <a:prstGeom prst="rect">
            <a:avLst/>
          </a:prstGeom>
        </p:spPr>
      </p:pic>
      <p:sp>
        <p:nvSpPr>
          <p:cNvPr id="3" name="Footer Placeholder 2">
            <a:extLst>
              <a:ext uri="{FF2B5EF4-FFF2-40B4-BE49-F238E27FC236}">
                <a16:creationId xmlns:a16="http://schemas.microsoft.com/office/drawing/2014/main" id="{C7CFCB87-36D6-AEEA-ADA0-BD7E3C79933F}"/>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5280276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8C8FB-7541-4675-98DF-C44987510298}"/>
              </a:ext>
            </a:extLst>
          </p:cNvPr>
          <p:cNvSpPr>
            <a:spLocks noGrp="1"/>
          </p:cNvSpPr>
          <p:nvPr>
            <p:ph type="title"/>
          </p:nvPr>
        </p:nvSpPr>
        <p:spPr/>
        <p:txBody>
          <a:bodyPr/>
          <a:lstStyle/>
          <a:p>
            <a:r>
              <a:rPr lang="en-US" altLang="en-US" b="1" dirty="0">
                <a:solidFill>
                  <a:schemeClr val="tx1"/>
                </a:solidFill>
                <a:latin typeface="Times New Roman" panose="02020603050405020304" pitchFamily="18" charset="0"/>
                <a:cs typeface="Times New Roman" panose="02020603050405020304" pitchFamily="18" charset="0"/>
              </a:rPr>
              <a:t>Real-Time CPU Scheduling</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C0DB41E-AA44-4C6A-BC26-5C5234EF6667}"/>
              </a:ext>
            </a:extLst>
          </p:cNvPr>
          <p:cNvSpPr>
            <a:spLocks noGrp="1"/>
          </p:cNvSpPr>
          <p:nvPr>
            <p:ph idx="1"/>
          </p:nvPr>
        </p:nvSpPr>
        <p:spPr/>
        <p:txBody>
          <a:bodyPr>
            <a:normAutofit/>
          </a:bodyPr>
          <a:lstStyle/>
          <a:p>
            <a:r>
              <a:rPr lang="en-US" altLang="en-US" sz="2000" b="1" dirty="0">
                <a:solidFill>
                  <a:schemeClr val="tx1"/>
                </a:solidFill>
                <a:latin typeface="Times New Roman" panose="02020603050405020304" pitchFamily="18" charset="0"/>
                <a:cs typeface="Times New Roman" panose="02020603050405020304" pitchFamily="18" charset="0"/>
              </a:rPr>
              <a:t>Soft real-time systems </a:t>
            </a:r>
            <a:r>
              <a:rPr lang="en-US" altLang="en-US" sz="2000" dirty="0">
                <a:solidFill>
                  <a:schemeClr val="tx1"/>
                </a:solidFill>
                <a:latin typeface="Times New Roman" panose="02020603050405020304" pitchFamily="18" charset="0"/>
                <a:cs typeface="Times New Roman" panose="02020603050405020304" pitchFamily="18" charset="0"/>
              </a:rPr>
              <a:t>– no guarantee as to when critical real-time process will be scheduled</a:t>
            </a:r>
          </a:p>
          <a:p>
            <a:r>
              <a:rPr lang="en-US" altLang="en-US" sz="2000" b="1" dirty="0">
                <a:solidFill>
                  <a:schemeClr val="tx1"/>
                </a:solidFill>
                <a:latin typeface="Times New Roman" panose="02020603050405020304" pitchFamily="18" charset="0"/>
                <a:cs typeface="Times New Roman" panose="02020603050405020304" pitchFamily="18" charset="0"/>
              </a:rPr>
              <a:t>Hard real-time systems</a:t>
            </a:r>
            <a:r>
              <a:rPr lang="en-US" altLang="en-US" sz="2000" dirty="0">
                <a:solidFill>
                  <a:schemeClr val="tx1"/>
                </a:solidFill>
                <a:latin typeface="Times New Roman" panose="02020603050405020304" pitchFamily="18" charset="0"/>
                <a:cs typeface="Times New Roman" panose="02020603050405020304" pitchFamily="18" charset="0"/>
              </a:rPr>
              <a:t> – task must be serviced by its deadline</a:t>
            </a:r>
          </a:p>
          <a:p>
            <a:r>
              <a:rPr lang="en-US" altLang="en-US" sz="2000" dirty="0">
                <a:solidFill>
                  <a:schemeClr val="tx1"/>
                </a:solidFill>
                <a:latin typeface="Times New Roman" panose="02020603050405020304" pitchFamily="18" charset="0"/>
                <a:cs typeface="Times New Roman" panose="02020603050405020304" pitchFamily="18" charset="0"/>
              </a:rPr>
              <a:t>Two types of latencies affect performance</a:t>
            </a:r>
          </a:p>
          <a:p>
            <a:pPr lvl="1">
              <a:buFont typeface="Arial" panose="020B0604020202020204" pitchFamily="34" charset="0"/>
              <a:buAutoNum type="arabicPeriod"/>
            </a:pPr>
            <a:r>
              <a:rPr lang="en-US" altLang="en-US" sz="2000" dirty="0">
                <a:solidFill>
                  <a:schemeClr val="tx1"/>
                </a:solidFill>
                <a:latin typeface="Times New Roman" panose="02020603050405020304" pitchFamily="18" charset="0"/>
                <a:cs typeface="Times New Roman" panose="02020603050405020304" pitchFamily="18" charset="0"/>
              </a:rPr>
              <a:t>Interrupt latency – time from arrival of interrupt to start of routine that services interrupt</a:t>
            </a:r>
          </a:p>
          <a:p>
            <a:pPr lvl="1">
              <a:buFont typeface="Arial" panose="020B0604020202020204" pitchFamily="34" charset="0"/>
              <a:buAutoNum type="arabicPeriod"/>
            </a:pPr>
            <a:r>
              <a:rPr lang="en-US" altLang="en-US" sz="2000" dirty="0">
                <a:solidFill>
                  <a:schemeClr val="tx1"/>
                </a:solidFill>
                <a:latin typeface="Times New Roman" panose="02020603050405020304" pitchFamily="18" charset="0"/>
                <a:cs typeface="Times New Roman" panose="02020603050405020304" pitchFamily="18" charset="0"/>
              </a:rPr>
              <a:t>Dispatch latency – time for schedule to take current process off CPU and switch to another</a:t>
            </a:r>
          </a:p>
          <a:p>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8F7E2CD-BCD7-6704-0038-D232E2212CCD}"/>
              </a:ext>
            </a:extLst>
          </p:cNvPr>
          <p:cNvSpPr>
            <a:spLocks noGrp="1"/>
          </p:cNvSpPr>
          <p:nvPr>
            <p:ph type="ftr" sz="quarter" idx="11"/>
          </p:nvPr>
        </p:nvSpPr>
        <p:spPr/>
        <p:txBody>
          <a:bodyPr/>
          <a:lstStyle/>
          <a:p>
            <a:r>
              <a:rPr lang="en-US"/>
              <a:t>- Prepared by: Rishav Acharya</a:t>
            </a:r>
          </a:p>
        </p:txBody>
      </p:sp>
    </p:spTree>
    <p:extLst>
      <p:ext uri="{BB962C8B-B14F-4D97-AF65-F5344CB8AC3E}">
        <p14:creationId xmlns:p14="http://schemas.microsoft.com/office/powerpoint/2010/main" val="200032505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2434</TotalTime>
  <Words>3923</Words>
  <Application>Microsoft Office PowerPoint</Application>
  <PresentationFormat>Widescreen</PresentationFormat>
  <Paragraphs>529</Paragraphs>
  <Slides>61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61</vt:i4>
      </vt:variant>
    </vt:vector>
  </HeadingPairs>
  <TitlesOfParts>
    <vt:vector size="70" baseType="lpstr">
      <vt:lpstr>Arial</vt:lpstr>
      <vt:lpstr>Calibri</vt:lpstr>
      <vt:lpstr>Century Gothic</vt:lpstr>
      <vt:lpstr>Monotype Sorts</vt:lpstr>
      <vt:lpstr>Times New Roman</vt:lpstr>
      <vt:lpstr>Wingdings</vt:lpstr>
      <vt:lpstr>Wingdings 2</vt:lpstr>
      <vt:lpstr>Wingdings 3</vt:lpstr>
      <vt:lpstr>Wisp</vt:lpstr>
      <vt:lpstr>Unit 2 – Process Management</vt:lpstr>
      <vt:lpstr>PowerPoint Presentation</vt:lpstr>
      <vt:lpstr>Process vs Program</vt:lpstr>
      <vt:lpstr>Process vs Program (contd.)</vt:lpstr>
      <vt:lpstr>Process Models</vt:lpstr>
      <vt:lpstr>Process Models (contd.)</vt:lpstr>
      <vt:lpstr>Uni Programming</vt:lpstr>
      <vt:lpstr>Multi Programming</vt:lpstr>
      <vt:lpstr>Multi Processing</vt:lpstr>
      <vt:lpstr>Process States</vt:lpstr>
      <vt:lpstr>Process Control Block / Process Table</vt:lpstr>
      <vt:lpstr>PCB (contd.)</vt:lpstr>
      <vt:lpstr>Threads</vt:lpstr>
      <vt:lpstr>Thread vs Process</vt:lpstr>
      <vt:lpstr>Types of Thread</vt:lpstr>
      <vt:lpstr>User-Level Thread</vt:lpstr>
      <vt:lpstr>Kernel Level Threads</vt:lpstr>
      <vt:lpstr>Multithreading Model</vt:lpstr>
      <vt:lpstr>One-to-One Model</vt:lpstr>
      <vt:lpstr>Many-to-One Model</vt:lpstr>
      <vt:lpstr>Many-to-Many Model</vt:lpstr>
      <vt:lpstr>Inter-Process Communication</vt:lpstr>
      <vt:lpstr>IPC (contd.)  a. Message Passing      b. Shared Memory</vt:lpstr>
      <vt:lpstr>Independent-Cooperating Process</vt:lpstr>
      <vt:lpstr>IPC-Shared Memory</vt:lpstr>
      <vt:lpstr>IPC-Message Passing</vt:lpstr>
      <vt:lpstr>IPC-Message Passing</vt:lpstr>
      <vt:lpstr>Direct Communication</vt:lpstr>
      <vt:lpstr>Indirect Communication</vt:lpstr>
      <vt:lpstr>Critical Section</vt:lpstr>
      <vt:lpstr>CS-Conditions to have good solution</vt:lpstr>
      <vt:lpstr>Critical Section Solutions</vt:lpstr>
      <vt:lpstr>Race Conditions</vt:lpstr>
      <vt:lpstr>Race Condition (contd.)</vt:lpstr>
      <vt:lpstr>Implementing Mutual Exclusion</vt:lpstr>
      <vt:lpstr>ME with Busy Waiting</vt:lpstr>
      <vt:lpstr>ME with Busy Waiting</vt:lpstr>
      <vt:lpstr>ME with Busy Waiting</vt:lpstr>
      <vt:lpstr>Peterson’s Algorithm</vt:lpstr>
      <vt:lpstr>ME with Busy Waiting</vt:lpstr>
      <vt:lpstr>ME without Busy Waiting</vt:lpstr>
      <vt:lpstr>ME without Busy Waiting (contd.)</vt:lpstr>
      <vt:lpstr>ME without Busy Waiting (contd.)</vt:lpstr>
      <vt:lpstr>Monitors</vt:lpstr>
      <vt:lpstr>Message Passing</vt:lpstr>
      <vt:lpstr>Classical IPC Problem</vt:lpstr>
      <vt:lpstr>Process Scheduling</vt:lpstr>
      <vt:lpstr>Process Behavior</vt:lpstr>
      <vt:lpstr>Preemptive v/s Non-Preemptive</vt:lpstr>
      <vt:lpstr>Scheduling Criteria</vt:lpstr>
      <vt:lpstr>FCFS Scheduling</vt:lpstr>
      <vt:lpstr>FCFS Scheduling (contd.)</vt:lpstr>
      <vt:lpstr>SJF Scheduling </vt:lpstr>
      <vt:lpstr>SRTF Scheduling </vt:lpstr>
      <vt:lpstr>Round Robin (RR) Scheduling</vt:lpstr>
      <vt:lpstr>RR with quantum=4</vt:lpstr>
      <vt:lpstr>Priority ( Event-Driven [ED] )Scheduling</vt:lpstr>
      <vt:lpstr>Priority Scheduling (contd.)</vt:lpstr>
      <vt:lpstr>Multilevel-Feedback-Queues (MFQ)</vt:lpstr>
      <vt:lpstr>MFQ (contd.)</vt:lpstr>
      <vt:lpstr>Real-Time CPU Scheduling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 – Overview of OS</dc:title>
  <dc:creator>Rishav Acharya</dc:creator>
  <cp:lastModifiedBy>Rishav Acharya</cp:lastModifiedBy>
  <cp:revision>175</cp:revision>
  <dcterms:created xsi:type="dcterms:W3CDTF">2023-01-22T03:43:54Z</dcterms:created>
  <dcterms:modified xsi:type="dcterms:W3CDTF">2023-12-01T03:50:08Z</dcterms:modified>
</cp:coreProperties>
</file>